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2351200"/>
            <a:ext cx="5518000" cy="500000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72033"/>
                </a:solidFill>
              </a:rPr>
              <a:t>智能光伏缺陷诊断项目申请技术路线图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841200"/>
            <a:ext cx="5518000" cy="2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9636A"/>
                </a:solidFill>
              </a:rPr>
              <a:t>中文项目申请示例：研究内容、科学问题、关键方法与验证输出</a:t>
            </a:r>
          </a:p>
        </p:txBody>
      </p:sp>
      <p:cxnSp>
        <p:nvCxnSpPr>
          <p:cNvPr id="4" name="Connector 4"/>
          <p:cNvCxnSpPr/>
          <p:nvPr/>
        </p:nvCxnSpPr>
        <p:spPr>
          <a:xfrm>
            <a:off x="825818" y="3324871"/>
            <a:ext cx="1" cy="5986116"/>
          </a:xfrm>
          <a:prstGeom prst="line">
            <a:avLst/>
          </a:prstGeom>
          <a:ln w="19050">
            <a:solidFill>
              <a:srgbClr val="4E7FB0"/>
            </a:solidFill>
          </a:ln>
        </p:spPr>
      </p:cxnSp>
      <p:sp>
        <p:nvSpPr>
          <p:cNvPr id="5" name="Axis 项目目标"/>
          <p:cNvSpPr/>
          <p:nvPr/>
        </p:nvSpPr>
        <p:spPr>
          <a:xfrm>
            <a:off x="477928" y="3576792"/>
            <a:ext cx="491845" cy="395875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E7F0F7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项目目标</a:t>
            </a:r>
          </a:p>
        </p:txBody>
      </p:sp>
      <p:sp>
        <p:nvSpPr>
          <p:cNvPr id="6" name="Axis 研究内容"/>
          <p:cNvSpPr/>
          <p:nvPr/>
        </p:nvSpPr>
        <p:spPr>
          <a:xfrm>
            <a:off x="477928" y="4848392"/>
            <a:ext cx="491845" cy="395875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F5E5E2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研究内容</a:t>
            </a:r>
          </a:p>
        </p:txBody>
      </p:sp>
      <p:sp>
        <p:nvSpPr>
          <p:cNvPr id="7" name="Axis 科学问题"/>
          <p:cNvSpPr/>
          <p:nvPr/>
        </p:nvSpPr>
        <p:spPr>
          <a:xfrm>
            <a:off x="477928" y="6119992"/>
            <a:ext cx="491845" cy="395875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F7F1D8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科学问题</a:t>
            </a:r>
          </a:p>
        </p:txBody>
      </p:sp>
      <p:sp>
        <p:nvSpPr>
          <p:cNvPr id="8" name="Axis 关键方法"/>
          <p:cNvSpPr/>
          <p:nvPr/>
        </p:nvSpPr>
        <p:spPr>
          <a:xfrm>
            <a:off x="477928" y="7391592"/>
            <a:ext cx="491845" cy="395875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E6F2DF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关键方法</a:t>
            </a:r>
          </a:p>
        </p:txBody>
      </p:sp>
      <p:sp>
        <p:nvSpPr>
          <p:cNvPr id="9" name="Axis 验证输出"/>
          <p:cNvSpPr/>
          <p:nvPr/>
        </p:nvSpPr>
        <p:spPr>
          <a:xfrm>
            <a:off x="477928" y="8663192"/>
            <a:ext cx="491845" cy="395875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EAE7F4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验证输出</a:t>
            </a:r>
          </a:p>
        </p:txBody>
      </p:sp>
      <p:sp>
        <p:nvSpPr>
          <p:cNvPr id="10" name="Stage 项目目标"/>
          <p:cNvSpPr/>
          <p:nvPr/>
        </p:nvSpPr>
        <p:spPr>
          <a:xfrm>
            <a:off x="1413633" y="3264890"/>
            <a:ext cx="4738509" cy="1019679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1" name="Header 项目目标"/>
          <p:cNvSpPr/>
          <p:nvPr/>
        </p:nvSpPr>
        <p:spPr>
          <a:xfrm>
            <a:off x="1633633" y="31448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项目目标</a:t>
            </a:r>
          </a:p>
        </p:txBody>
      </p:sp>
      <p:sp>
        <p:nvSpPr>
          <p:cNvPr id="12" name="Stage 研究内容"/>
          <p:cNvSpPr/>
          <p:nvPr/>
        </p:nvSpPr>
        <p:spPr>
          <a:xfrm>
            <a:off x="1413633" y="4536490"/>
            <a:ext cx="4738509" cy="1019679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3" name="Header 研究内容"/>
          <p:cNvSpPr/>
          <p:nvPr/>
        </p:nvSpPr>
        <p:spPr>
          <a:xfrm>
            <a:off x="1633633" y="44164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研究内容</a:t>
            </a:r>
          </a:p>
        </p:txBody>
      </p:sp>
      <p:sp>
        <p:nvSpPr>
          <p:cNvPr id="14" name="Stage 科学问题"/>
          <p:cNvSpPr/>
          <p:nvPr/>
        </p:nvSpPr>
        <p:spPr>
          <a:xfrm>
            <a:off x="1413633" y="5808090"/>
            <a:ext cx="4738509" cy="1019679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5" name="Header 科学问题"/>
          <p:cNvSpPr/>
          <p:nvPr/>
        </p:nvSpPr>
        <p:spPr>
          <a:xfrm>
            <a:off x="1633633" y="56880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科学问题</a:t>
            </a:r>
          </a:p>
        </p:txBody>
      </p:sp>
      <p:sp>
        <p:nvSpPr>
          <p:cNvPr id="16" name="Stage 关键方法"/>
          <p:cNvSpPr/>
          <p:nvPr/>
        </p:nvSpPr>
        <p:spPr>
          <a:xfrm>
            <a:off x="1413633" y="7079690"/>
            <a:ext cx="4738509" cy="1019679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7" name="Header 关键方法"/>
          <p:cNvSpPr/>
          <p:nvPr/>
        </p:nvSpPr>
        <p:spPr>
          <a:xfrm>
            <a:off x="1633633" y="69596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关键方法</a:t>
            </a:r>
          </a:p>
        </p:txBody>
      </p:sp>
      <p:sp>
        <p:nvSpPr>
          <p:cNvPr id="18" name="Stage 验证输出"/>
          <p:cNvSpPr/>
          <p:nvPr/>
        </p:nvSpPr>
        <p:spPr>
          <a:xfrm>
            <a:off x="1413633" y="8351290"/>
            <a:ext cx="4738509" cy="1019679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9" name="Header 验证输出"/>
          <p:cNvSpPr/>
          <p:nvPr/>
        </p:nvSpPr>
        <p:spPr>
          <a:xfrm>
            <a:off x="1633633" y="82312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验证输出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3782888" y="42845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3782888" y="55561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3782888" y="68277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3782888" y="80993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sp>
        <p:nvSpPr>
          <p:cNvPr id="24" name="Node objective_need"/>
          <p:cNvSpPr/>
          <p:nvPr/>
        </p:nvSpPr>
        <p:spPr>
          <a:xfrm>
            <a:off x="1623567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面向运维诊断需求</a:t>
            </a:r>
          </a:p>
        </p:txBody>
      </p:sp>
      <p:sp>
        <p:nvSpPr>
          <p:cNvPr id="25" name="Node objective_goal"/>
          <p:cNvSpPr/>
          <p:nvPr/>
        </p:nvSpPr>
        <p:spPr>
          <a:xfrm>
            <a:off x="3836871" y="36847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建立智能诊断框架</a:t>
            </a:r>
          </a:p>
        </p:txBody>
      </p:sp>
      <p:sp>
        <p:nvSpPr>
          <p:cNvPr id="26" name="Node content_data"/>
          <p:cNvSpPr/>
          <p:nvPr/>
        </p:nvSpPr>
        <p:spPr>
          <a:xfrm>
            <a:off x="1623567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构建多源样本库</a:t>
            </a:r>
          </a:p>
        </p:txBody>
      </p:sp>
      <p:sp>
        <p:nvSpPr>
          <p:cNvPr id="27" name="Node content_model"/>
          <p:cNvSpPr/>
          <p:nvPr/>
        </p:nvSpPr>
        <p:spPr>
          <a:xfrm>
            <a:off x="3099103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研究诊断模型</a:t>
            </a:r>
          </a:p>
        </p:txBody>
      </p:sp>
      <p:sp>
        <p:nvSpPr>
          <p:cNvPr id="28" name="Node content_platform"/>
          <p:cNvSpPr/>
          <p:nvPr/>
        </p:nvSpPr>
        <p:spPr>
          <a:xfrm>
            <a:off x="4574639" y="49563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设计应用流程</a:t>
            </a:r>
          </a:p>
        </p:txBody>
      </p:sp>
      <p:sp>
        <p:nvSpPr>
          <p:cNvPr id="29" name="Node question_feature"/>
          <p:cNvSpPr/>
          <p:nvPr/>
        </p:nvSpPr>
        <p:spPr>
          <a:xfrm>
            <a:off x="1623567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弱纹理缺陷如何表征</a:t>
            </a:r>
          </a:p>
        </p:txBody>
      </p:sp>
      <p:sp>
        <p:nvSpPr>
          <p:cNvPr id="30" name="Node question_general"/>
          <p:cNvSpPr/>
          <p:nvPr/>
        </p:nvSpPr>
        <p:spPr>
          <a:xfrm>
            <a:off x="3099103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跨场景如何泛化</a:t>
            </a:r>
          </a:p>
        </p:txBody>
      </p:sp>
      <p:sp>
        <p:nvSpPr>
          <p:cNvPr id="31" name="Node question_trust"/>
          <p:cNvSpPr/>
          <p:nvPr/>
        </p:nvSpPr>
        <p:spPr>
          <a:xfrm>
            <a:off x="4574639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诊断结果如何可信</a:t>
            </a:r>
          </a:p>
        </p:txBody>
      </p:sp>
      <p:sp>
        <p:nvSpPr>
          <p:cNvPr id="32" name="Node method_fusion"/>
          <p:cNvSpPr/>
          <p:nvPr/>
        </p:nvSpPr>
        <p:spPr>
          <a:xfrm>
            <a:off x="1623567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多模态融合建模</a:t>
            </a:r>
          </a:p>
        </p:txBody>
      </p:sp>
      <p:sp>
        <p:nvSpPr>
          <p:cNvPr id="33" name="Node method_explain"/>
          <p:cNvSpPr/>
          <p:nvPr/>
        </p:nvSpPr>
        <p:spPr>
          <a:xfrm>
            <a:off x="3099103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可解释风险评分</a:t>
            </a:r>
          </a:p>
        </p:txBody>
      </p:sp>
      <p:sp>
        <p:nvSpPr>
          <p:cNvPr id="34" name="Node method_loop"/>
          <p:cNvSpPr/>
          <p:nvPr/>
        </p:nvSpPr>
        <p:spPr>
          <a:xfrm>
            <a:off x="4574639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闭环优化机制</a:t>
            </a:r>
          </a:p>
        </p:txBody>
      </p:sp>
      <p:sp>
        <p:nvSpPr>
          <p:cNvPr id="35" name="Node validation_metrics"/>
          <p:cNvSpPr/>
          <p:nvPr/>
        </p:nvSpPr>
        <p:spPr>
          <a:xfrm>
            <a:off x="1623567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完成指标验证</a:t>
            </a:r>
          </a:p>
        </p:txBody>
      </p:sp>
      <p:sp>
        <p:nvSpPr>
          <p:cNvPr id="36" name="Node validation_demo"/>
          <p:cNvSpPr/>
          <p:nvPr/>
        </p:nvSpPr>
        <p:spPr>
          <a:xfrm>
            <a:off x="3836871" y="87711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形成原型系统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