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6858000" cy="121920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670000" y="2351200"/>
            <a:ext cx="5518000" cy="430000"/>
          </a:xfrm>
          <a:prstGeom prst="roundRect">
            <a:avLst/>
          </a:prstGeom>
          <a:solidFill>
            <a:srgbClr val="E7F0F7"/>
          </a:solidFill>
          <a:ln w="12700">
            <a:solidFill>
              <a:srgbClr val="AEBECC"/>
            </a:solidFill>
          </a:ln>
        </p:spPr>
        <p:txBody>
          <a:bodyPr wrap="square" anchor="ctr"/>
          <a:lstStyle/>
          <a:p>
            <a:pPr algn="ctr"/>
            <a:r>
              <a:rPr lang="zh-CN" sz="2100" b="1">
                <a:solidFill>
                  <a:srgbClr val="172033"/>
                </a:solidFill>
              </a:rPr>
              <a:t>智能光伏缺陷诊断项目申请技术路线图</a:t>
            </a:r>
          </a:p>
        </p:txBody>
      </p:sp>
      <p:sp>
        <p:nvSpPr>
          <p:cNvPr id="3" name="Subtitle"/>
          <p:cNvSpPr/>
          <p:nvPr/>
        </p:nvSpPr>
        <p:spPr>
          <a:xfrm>
            <a:off x="670000" y="2796200"/>
            <a:ext cx="5518000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zh-CN" sz="850">
                <a:solidFill>
                  <a:srgbClr val="59636A"/>
                </a:solidFill>
              </a:rPr>
              <a:t>中文项目申请示例：研究内容、科学问题</a:t>
            </a:r>
          </a:p>
          <a:p>
            <a:pPr algn="ctr"/>
            <a:r>
              <a:rPr lang="zh-CN" sz="850">
                <a:solidFill>
                  <a:srgbClr val="59636A"/>
                </a:solidFill>
              </a:rPr>
              <a:t>、关键方法与验证输出</a:t>
            </a:r>
          </a:p>
        </p:txBody>
      </p:sp>
      <p:cxnSp>
        <p:nvCxnSpPr>
          <p:cNvPr id="4" name="Connector 4"/>
          <p:cNvCxnSpPr/>
          <p:nvPr/>
        </p:nvCxnSpPr>
        <p:spPr>
          <a:xfrm>
            <a:off x="825818" y="3324871"/>
            <a:ext cx="1" cy="5986116"/>
          </a:xfrm>
          <a:prstGeom prst="line">
            <a:avLst/>
          </a:prstGeom>
          <a:ln w="19050">
            <a:solidFill>
              <a:srgbClr val="4E7FB0"/>
            </a:solidFill>
          </a:ln>
        </p:spPr>
      </p:cxnSp>
      <p:sp>
        <p:nvSpPr>
          <p:cNvPr id="5" name="Axis 项目目标"/>
          <p:cNvSpPr/>
          <p:nvPr/>
        </p:nvSpPr>
        <p:spPr>
          <a:xfrm>
            <a:off x="477928" y="3576792"/>
            <a:ext cx="491845" cy="395875"/>
          </a:xfrm>
          <a:prstGeom prst="roundRect">
            <a:avLst/>
          </a:prstGeom>
          <a:solidFill>
            <a:srgbClr val="E7F0F7"/>
          </a:solidFill>
          <a:ln w="12700">
            <a:solidFill>
              <a:srgbClr val="E7F0F7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项目目标</a:t>
            </a:r>
          </a:p>
        </p:txBody>
      </p:sp>
      <p:sp>
        <p:nvSpPr>
          <p:cNvPr id="6" name="Axis 研究内容"/>
          <p:cNvSpPr/>
          <p:nvPr/>
        </p:nvSpPr>
        <p:spPr>
          <a:xfrm>
            <a:off x="477928" y="4848392"/>
            <a:ext cx="491845" cy="395875"/>
          </a:xfrm>
          <a:prstGeom prst="roundRect">
            <a:avLst/>
          </a:prstGeom>
          <a:solidFill>
            <a:srgbClr val="F5E5E2"/>
          </a:solidFill>
          <a:ln w="12700">
            <a:solidFill>
              <a:srgbClr val="F5E5E2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研究内容</a:t>
            </a:r>
          </a:p>
        </p:txBody>
      </p:sp>
      <p:sp>
        <p:nvSpPr>
          <p:cNvPr id="7" name="Axis 科学问题"/>
          <p:cNvSpPr/>
          <p:nvPr/>
        </p:nvSpPr>
        <p:spPr>
          <a:xfrm>
            <a:off x="477928" y="6119992"/>
            <a:ext cx="491845" cy="395875"/>
          </a:xfrm>
          <a:prstGeom prst="roundRect">
            <a:avLst/>
          </a:prstGeom>
          <a:solidFill>
            <a:srgbClr val="F7F1D8"/>
          </a:solidFill>
          <a:ln w="12700">
            <a:solidFill>
              <a:srgbClr val="F7F1D8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科学问题</a:t>
            </a:r>
          </a:p>
        </p:txBody>
      </p:sp>
      <p:sp>
        <p:nvSpPr>
          <p:cNvPr id="8" name="Axis 关键方法"/>
          <p:cNvSpPr/>
          <p:nvPr/>
        </p:nvSpPr>
        <p:spPr>
          <a:xfrm>
            <a:off x="477928" y="7391592"/>
            <a:ext cx="491845" cy="395875"/>
          </a:xfrm>
          <a:prstGeom prst="roundRect">
            <a:avLst/>
          </a:prstGeom>
          <a:solidFill>
            <a:srgbClr val="E6F2DF"/>
          </a:solidFill>
          <a:ln w="12700">
            <a:solidFill>
              <a:srgbClr val="E6F2DF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关键方法</a:t>
            </a:r>
          </a:p>
        </p:txBody>
      </p:sp>
      <p:sp>
        <p:nvSpPr>
          <p:cNvPr id="9" name="Axis 验证输出"/>
          <p:cNvSpPr/>
          <p:nvPr/>
        </p:nvSpPr>
        <p:spPr>
          <a:xfrm>
            <a:off x="477928" y="8663192"/>
            <a:ext cx="491845" cy="395875"/>
          </a:xfrm>
          <a:prstGeom prst="roundRect">
            <a:avLst/>
          </a:prstGeom>
          <a:solidFill>
            <a:srgbClr val="EAE7F4"/>
          </a:solidFill>
          <a:ln w="12700">
            <a:solidFill>
              <a:srgbClr val="EAE7F4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验证输出</a:t>
            </a:r>
          </a:p>
        </p:txBody>
      </p:sp>
      <p:sp>
        <p:nvSpPr>
          <p:cNvPr id="10" name="Stage 项目目标"/>
          <p:cNvSpPr/>
          <p:nvPr/>
        </p:nvSpPr>
        <p:spPr>
          <a:xfrm>
            <a:off x="1413633" y="3264890"/>
            <a:ext cx="4738509" cy="1019679"/>
          </a:xfrm>
          <a:prstGeom prst="roundRect">
            <a:avLst/>
          </a:prstGeom>
          <a:solidFill>
            <a:srgbClr val="E7F0F7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1" name="Header 项目目标"/>
          <p:cNvSpPr/>
          <p:nvPr/>
        </p:nvSpPr>
        <p:spPr>
          <a:xfrm>
            <a:off x="1633633" y="31448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项目目标</a:t>
            </a:r>
          </a:p>
        </p:txBody>
      </p:sp>
      <p:sp>
        <p:nvSpPr>
          <p:cNvPr id="12" name="Stage 研究内容"/>
          <p:cNvSpPr/>
          <p:nvPr/>
        </p:nvSpPr>
        <p:spPr>
          <a:xfrm>
            <a:off x="1413633" y="4536490"/>
            <a:ext cx="4738509" cy="1019679"/>
          </a:xfrm>
          <a:prstGeom prst="roundRect">
            <a:avLst/>
          </a:prstGeom>
          <a:solidFill>
            <a:srgbClr val="F5E5E2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3" name="Header 研究内容"/>
          <p:cNvSpPr/>
          <p:nvPr/>
        </p:nvSpPr>
        <p:spPr>
          <a:xfrm>
            <a:off x="1633633" y="44164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研究内容</a:t>
            </a:r>
          </a:p>
        </p:txBody>
      </p:sp>
      <p:sp>
        <p:nvSpPr>
          <p:cNvPr id="14" name="Stage 科学问题"/>
          <p:cNvSpPr/>
          <p:nvPr/>
        </p:nvSpPr>
        <p:spPr>
          <a:xfrm>
            <a:off x="1413633" y="5808090"/>
            <a:ext cx="4738509" cy="1019679"/>
          </a:xfrm>
          <a:prstGeom prst="roundRect">
            <a:avLst/>
          </a:prstGeom>
          <a:solidFill>
            <a:srgbClr val="F7F1D8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5" name="Header 科学问题"/>
          <p:cNvSpPr/>
          <p:nvPr/>
        </p:nvSpPr>
        <p:spPr>
          <a:xfrm>
            <a:off x="1633633" y="56880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科学问题</a:t>
            </a:r>
          </a:p>
        </p:txBody>
      </p:sp>
      <p:sp>
        <p:nvSpPr>
          <p:cNvPr id="16" name="Stage 关键方法"/>
          <p:cNvSpPr/>
          <p:nvPr/>
        </p:nvSpPr>
        <p:spPr>
          <a:xfrm>
            <a:off x="1413633" y="7079690"/>
            <a:ext cx="4738509" cy="1019679"/>
          </a:xfrm>
          <a:prstGeom prst="roundRect">
            <a:avLst/>
          </a:prstGeom>
          <a:solidFill>
            <a:srgbClr val="E6F2DF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7" name="Header 关键方法"/>
          <p:cNvSpPr/>
          <p:nvPr/>
        </p:nvSpPr>
        <p:spPr>
          <a:xfrm>
            <a:off x="1633633" y="69596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关键方法</a:t>
            </a:r>
          </a:p>
        </p:txBody>
      </p:sp>
      <p:sp>
        <p:nvSpPr>
          <p:cNvPr id="18" name="Stage 验证输出"/>
          <p:cNvSpPr/>
          <p:nvPr/>
        </p:nvSpPr>
        <p:spPr>
          <a:xfrm>
            <a:off x="1413633" y="8351290"/>
            <a:ext cx="4738509" cy="1019679"/>
          </a:xfrm>
          <a:prstGeom prst="roundRect">
            <a:avLst/>
          </a:prstGeom>
          <a:solidFill>
            <a:srgbClr val="EAE7F4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9" name="Header 验证输出"/>
          <p:cNvSpPr/>
          <p:nvPr/>
        </p:nvSpPr>
        <p:spPr>
          <a:xfrm>
            <a:off x="1633633" y="82312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验证输出</a:t>
            </a:r>
          </a:p>
        </p:txBody>
      </p:sp>
      <p:cxnSp>
        <p:nvCxnSpPr>
          <p:cNvPr id="20" name="Connector 20"/>
          <p:cNvCxnSpPr/>
          <p:nvPr/>
        </p:nvCxnSpPr>
        <p:spPr>
          <a:xfrm>
            <a:off x="2676236" y="3876698"/>
            <a:ext cx="2213303" cy="1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 flipH="1">
            <a:off x="2307352" y="3876698"/>
            <a:ext cx="2582187" cy="1271600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2307352" y="5148298"/>
            <a:ext cx="1475535" cy="1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>
            <a:off x="3782888" y="5148298"/>
            <a:ext cx="1475535" cy="1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4" name="Connector 24"/>
          <p:cNvCxnSpPr/>
          <p:nvPr/>
        </p:nvCxnSpPr>
        <p:spPr>
          <a:xfrm flipH="1">
            <a:off x="2307352" y="5148298"/>
            <a:ext cx="2951071" cy="1271600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5" name="Connector 25"/>
          <p:cNvCxnSpPr/>
          <p:nvPr/>
        </p:nvCxnSpPr>
        <p:spPr>
          <a:xfrm>
            <a:off x="2307352" y="6419898"/>
            <a:ext cx="1475535" cy="1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6" name="Connector 26"/>
          <p:cNvCxnSpPr/>
          <p:nvPr/>
        </p:nvCxnSpPr>
        <p:spPr>
          <a:xfrm>
            <a:off x="3782888" y="6419898"/>
            <a:ext cx="1475535" cy="1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7" name="Connector 27"/>
          <p:cNvCxnSpPr/>
          <p:nvPr/>
        </p:nvCxnSpPr>
        <p:spPr>
          <a:xfrm flipH="1">
            <a:off x="2307352" y="6419898"/>
            <a:ext cx="2951071" cy="1271600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8" name="Connector 28"/>
          <p:cNvCxnSpPr/>
          <p:nvPr/>
        </p:nvCxnSpPr>
        <p:spPr>
          <a:xfrm>
            <a:off x="2307352" y="7691498"/>
            <a:ext cx="1475535" cy="1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9" name="Connector 29"/>
          <p:cNvCxnSpPr/>
          <p:nvPr/>
        </p:nvCxnSpPr>
        <p:spPr>
          <a:xfrm>
            <a:off x="3782888" y="7691498"/>
            <a:ext cx="1475535" cy="1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30" name="Connector 30"/>
          <p:cNvCxnSpPr/>
          <p:nvPr/>
        </p:nvCxnSpPr>
        <p:spPr>
          <a:xfrm flipH="1">
            <a:off x="2676236" y="7691498"/>
            <a:ext cx="2582187" cy="1271600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31" name="Connector 31"/>
          <p:cNvCxnSpPr/>
          <p:nvPr/>
        </p:nvCxnSpPr>
        <p:spPr>
          <a:xfrm>
            <a:off x="2676236" y="8963098"/>
            <a:ext cx="2213303" cy="1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sp>
        <p:nvSpPr>
          <p:cNvPr id="32" name="Node objective_need"/>
          <p:cNvSpPr/>
          <p:nvPr/>
        </p:nvSpPr>
        <p:spPr>
          <a:xfrm>
            <a:off x="1623567" y="3684758"/>
            <a:ext cx="2105337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72033"/>
                </a:solidFill>
              </a:rPr>
              <a:t>面向运维诊断需求</a:t>
            </a:r>
          </a:p>
        </p:txBody>
      </p:sp>
      <p:sp>
        <p:nvSpPr>
          <p:cNvPr id="33" name="Node objective_goal"/>
          <p:cNvSpPr/>
          <p:nvPr/>
        </p:nvSpPr>
        <p:spPr>
          <a:xfrm>
            <a:off x="3836871" y="3684758"/>
            <a:ext cx="2105337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72033"/>
                </a:solidFill>
              </a:rPr>
              <a:t>建立智能诊断框架</a:t>
            </a:r>
          </a:p>
        </p:txBody>
      </p:sp>
      <p:sp>
        <p:nvSpPr>
          <p:cNvPr id="34" name="Node content_data"/>
          <p:cNvSpPr/>
          <p:nvPr/>
        </p:nvSpPr>
        <p:spPr>
          <a:xfrm>
            <a:off x="1623567" y="49563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72033"/>
                </a:solidFill>
              </a:rPr>
              <a:t>构建多源样本库</a:t>
            </a:r>
          </a:p>
        </p:txBody>
      </p:sp>
      <p:sp>
        <p:nvSpPr>
          <p:cNvPr id="35" name="Node content_model"/>
          <p:cNvSpPr/>
          <p:nvPr/>
        </p:nvSpPr>
        <p:spPr>
          <a:xfrm>
            <a:off x="3099103" y="49563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72033"/>
                </a:solidFill>
              </a:rPr>
              <a:t>研究诊断模型</a:t>
            </a:r>
          </a:p>
        </p:txBody>
      </p:sp>
      <p:sp>
        <p:nvSpPr>
          <p:cNvPr id="36" name="Node content_platform"/>
          <p:cNvSpPr/>
          <p:nvPr/>
        </p:nvSpPr>
        <p:spPr>
          <a:xfrm>
            <a:off x="4574639" y="49563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72033"/>
                </a:solidFill>
              </a:rPr>
              <a:t>设计应用流程</a:t>
            </a:r>
          </a:p>
        </p:txBody>
      </p:sp>
      <p:sp>
        <p:nvSpPr>
          <p:cNvPr id="37" name="Node question_feature"/>
          <p:cNvSpPr/>
          <p:nvPr/>
        </p:nvSpPr>
        <p:spPr>
          <a:xfrm>
            <a:off x="1623567" y="62279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72033"/>
                </a:solidFill>
              </a:rPr>
              <a:t>弱纹理缺陷如何表征</a:t>
            </a:r>
          </a:p>
        </p:txBody>
      </p:sp>
      <p:sp>
        <p:nvSpPr>
          <p:cNvPr id="38" name="Node question_general"/>
          <p:cNvSpPr/>
          <p:nvPr/>
        </p:nvSpPr>
        <p:spPr>
          <a:xfrm>
            <a:off x="3099103" y="62279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72033"/>
                </a:solidFill>
              </a:rPr>
              <a:t>跨场景如何泛化</a:t>
            </a:r>
          </a:p>
        </p:txBody>
      </p:sp>
      <p:sp>
        <p:nvSpPr>
          <p:cNvPr id="39" name="Node question_trust"/>
          <p:cNvSpPr/>
          <p:nvPr/>
        </p:nvSpPr>
        <p:spPr>
          <a:xfrm>
            <a:off x="4574639" y="62279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72033"/>
                </a:solidFill>
              </a:rPr>
              <a:t>诊断结果如何可信</a:t>
            </a:r>
          </a:p>
        </p:txBody>
      </p:sp>
      <p:sp>
        <p:nvSpPr>
          <p:cNvPr id="40" name="Node method_fusion"/>
          <p:cNvSpPr/>
          <p:nvPr/>
        </p:nvSpPr>
        <p:spPr>
          <a:xfrm>
            <a:off x="1623567" y="74995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72033"/>
                </a:solidFill>
              </a:rPr>
              <a:t>多模态融合建模</a:t>
            </a:r>
          </a:p>
        </p:txBody>
      </p:sp>
      <p:sp>
        <p:nvSpPr>
          <p:cNvPr id="41" name="Node method_explain"/>
          <p:cNvSpPr/>
          <p:nvPr/>
        </p:nvSpPr>
        <p:spPr>
          <a:xfrm>
            <a:off x="3099103" y="74995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72033"/>
                </a:solidFill>
              </a:rPr>
              <a:t>可解释风险评分</a:t>
            </a:r>
          </a:p>
        </p:txBody>
      </p:sp>
      <p:sp>
        <p:nvSpPr>
          <p:cNvPr id="42" name="Node method_loop"/>
          <p:cNvSpPr/>
          <p:nvPr/>
        </p:nvSpPr>
        <p:spPr>
          <a:xfrm>
            <a:off x="4574639" y="74995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72033"/>
                </a:solidFill>
              </a:rPr>
              <a:t>闭环优化机制</a:t>
            </a:r>
          </a:p>
        </p:txBody>
      </p:sp>
      <p:sp>
        <p:nvSpPr>
          <p:cNvPr id="43" name="Node validation_metrics"/>
          <p:cNvSpPr/>
          <p:nvPr/>
        </p:nvSpPr>
        <p:spPr>
          <a:xfrm>
            <a:off x="1623567" y="8771158"/>
            <a:ext cx="2105337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72033"/>
                </a:solidFill>
              </a:rPr>
              <a:t>完成指标验证</a:t>
            </a:r>
          </a:p>
        </p:txBody>
      </p:sp>
      <p:sp>
        <p:nvSpPr>
          <p:cNvPr id="44" name="Node validation_demo"/>
          <p:cNvSpPr/>
          <p:nvPr/>
        </p:nvSpPr>
        <p:spPr>
          <a:xfrm>
            <a:off x="3836871" y="8771158"/>
            <a:ext cx="2105337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72033"/>
                </a:solidFill>
              </a:rPr>
              <a:t>形成原型系统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