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858000" cy="12192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670000" y="2351200"/>
            <a:ext cx="5518000" cy="500000"/>
          </a:xfrm>
          <a:prstGeom prst="roundRect">
            <a:avLst/>
          </a:prstGeom>
          <a:solidFill>
            <a:srgbClr val="E7F0F7"/>
          </a:solidFill>
          <a:ln w="12700">
            <a:solidFill>
              <a:srgbClr val="AEBECC"/>
            </a:solidFill>
          </a:ln>
        </p:spPr>
        <p:txBody>
          <a:bodyPr wrap="square" anchor="ctr"/>
          <a:lstStyle/>
          <a:p>
            <a:pPr algn="ctr"/>
            <a:r>
              <a:rPr lang="zh-CN" sz="2100" b="1">
                <a:solidFill>
                  <a:srgbClr val="172033"/>
                </a:solidFill>
              </a:rPr>
              <a:t>智能光伏缺陷诊断项目申请技术路线图</a:t>
            </a:r>
          </a:p>
        </p:txBody>
      </p:sp>
      <p:sp>
        <p:nvSpPr>
          <p:cNvPr id="3" name="Subtitle"/>
          <p:cNvSpPr/>
          <p:nvPr/>
        </p:nvSpPr>
        <p:spPr>
          <a:xfrm>
            <a:off x="670000" y="2841200"/>
            <a:ext cx="5518000" cy="2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zh-CN" sz="850">
                <a:solidFill>
                  <a:srgbClr val="59636A"/>
                </a:solidFill>
              </a:rPr>
              <a:t>中文项目申请示例：研究内容、科学问题、关键方法与验证输出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825818" y="3324871"/>
            <a:ext cx="1" cy="5986116"/>
          </a:xfrm>
          <a:prstGeom prst="line">
            <a:avLst/>
          </a:prstGeom>
          <a:ln w="19050">
            <a:solidFill>
              <a:srgbClr val="4E7FB0"/>
            </a:solidFill>
          </a:ln>
        </p:spPr>
      </p:cxnSp>
      <p:sp>
        <p:nvSpPr>
          <p:cNvPr id="5" name="Axis 项目目标"/>
          <p:cNvSpPr/>
          <p:nvPr/>
        </p:nvSpPr>
        <p:spPr>
          <a:xfrm>
            <a:off x="477928" y="3576792"/>
            <a:ext cx="491845" cy="395875"/>
          </a:xfrm>
          <a:prstGeom prst="roundRect">
            <a:avLst/>
          </a:prstGeom>
          <a:solidFill>
            <a:srgbClr val="E7F0F7"/>
          </a:solidFill>
          <a:ln w="12700">
            <a:solidFill>
              <a:srgbClr val="E7F0F7"/>
            </a:solidFill>
          </a:ln>
        </p:spPr>
        <p:txBody>
          <a:bodyPr wrap="square" anchor="ctr"/>
          <a:lstStyle/>
          <a:p>
            <a:pPr algn="ctr"/>
            <a:r>
              <a:rPr lang="zh-CN" sz="900" b="1">
                <a:solidFill>
                  <a:srgbClr val="172033"/>
                </a:solidFill>
              </a:rPr>
              <a:t>项目目标</a:t>
            </a:r>
          </a:p>
        </p:txBody>
      </p:sp>
      <p:sp>
        <p:nvSpPr>
          <p:cNvPr id="6" name="Axis 研究内容"/>
          <p:cNvSpPr/>
          <p:nvPr/>
        </p:nvSpPr>
        <p:spPr>
          <a:xfrm>
            <a:off x="477928" y="4848392"/>
            <a:ext cx="491845" cy="395875"/>
          </a:xfrm>
          <a:prstGeom prst="roundRect">
            <a:avLst/>
          </a:prstGeom>
          <a:solidFill>
            <a:srgbClr val="F5E5E2"/>
          </a:solidFill>
          <a:ln w="12700">
            <a:solidFill>
              <a:srgbClr val="F5E5E2"/>
            </a:solidFill>
          </a:ln>
        </p:spPr>
        <p:txBody>
          <a:bodyPr wrap="square" anchor="ctr"/>
          <a:lstStyle/>
          <a:p>
            <a:pPr algn="ctr"/>
            <a:r>
              <a:rPr lang="zh-CN" sz="900" b="1">
                <a:solidFill>
                  <a:srgbClr val="172033"/>
                </a:solidFill>
              </a:rPr>
              <a:t>研究内容</a:t>
            </a:r>
          </a:p>
        </p:txBody>
      </p:sp>
      <p:sp>
        <p:nvSpPr>
          <p:cNvPr id="7" name="Axis 科学问题"/>
          <p:cNvSpPr/>
          <p:nvPr/>
        </p:nvSpPr>
        <p:spPr>
          <a:xfrm>
            <a:off x="477928" y="6119992"/>
            <a:ext cx="491845" cy="395875"/>
          </a:xfrm>
          <a:prstGeom prst="roundRect">
            <a:avLst/>
          </a:prstGeom>
          <a:solidFill>
            <a:srgbClr val="F7F1D8"/>
          </a:solidFill>
          <a:ln w="12700">
            <a:solidFill>
              <a:srgbClr val="F7F1D8"/>
            </a:solidFill>
          </a:ln>
        </p:spPr>
        <p:txBody>
          <a:bodyPr wrap="square" anchor="ctr"/>
          <a:lstStyle/>
          <a:p>
            <a:pPr algn="ctr"/>
            <a:r>
              <a:rPr lang="zh-CN" sz="900" b="1">
                <a:solidFill>
                  <a:srgbClr val="172033"/>
                </a:solidFill>
              </a:rPr>
              <a:t>科学问题</a:t>
            </a:r>
          </a:p>
        </p:txBody>
      </p:sp>
      <p:sp>
        <p:nvSpPr>
          <p:cNvPr id="8" name="Axis 关键方法"/>
          <p:cNvSpPr/>
          <p:nvPr/>
        </p:nvSpPr>
        <p:spPr>
          <a:xfrm>
            <a:off x="477928" y="7391592"/>
            <a:ext cx="491845" cy="395875"/>
          </a:xfrm>
          <a:prstGeom prst="roundRect">
            <a:avLst/>
          </a:prstGeom>
          <a:solidFill>
            <a:srgbClr val="E6F2DF"/>
          </a:solidFill>
          <a:ln w="12700">
            <a:solidFill>
              <a:srgbClr val="E6F2DF"/>
            </a:solidFill>
          </a:ln>
        </p:spPr>
        <p:txBody>
          <a:bodyPr wrap="square" anchor="ctr"/>
          <a:lstStyle/>
          <a:p>
            <a:pPr algn="ctr"/>
            <a:r>
              <a:rPr lang="zh-CN" sz="900" b="1">
                <a:solidFill>
                  <a:srgbClr val="172033"/>
                </a:solidFill>
              </a:rPr>
              <a:t>关键方法</a:t>
            </a:r>
          </a:p>
        </p:txBody>
      </p:sp>
      <p:sp>
        <p:nvSpPr>
          <p:cNvPr id="9" name="Axis 验证输出"/>
          <p:cNvSpPr/>
          <p:nvPr/>
        </p:nvSpPr>
        <p:spPr>
          <a:xfrm>
            <a:off x="477928" y="8663192"/>
            <a:ext cx="491845" cy="395875"/>
          </a:xfrm>
          <a:prstGeom prst="roundRect">
            <a:avLst/>
          </a:prstGeom>
          <a:solidFill>
            <a:srgbClr val="EAE7F4"/>
          </a:solidFill>
          <a:ln w="12700">
            <a:solidFill>
              <a:srgbClr val="EAE7F4"/>
            </a:solidFill>
          </a:ln>
        </p:spPr>
        <p:txBody>
          <a:bodyPr wrap="square" anchor="ctr"/>
          <a:lstStyle/>
          <a:p>
            <a:pPr algn="ctr"/>
            <a:r>
              <a:rPr lang="zh-CN" sz="900" b="1">
                <a:solidFill>
                  <a:srgbClr val="172033"/>
                </a:solidFill>
              </a:rPr>
              <a:t>验证输出</a:t>
            </a:r>
          </a:p>
        </p:txBody>
      </p:sp>
      <p:sp>
        <p:nvSpPr>
          <p:cNvPr id="10" name="Stage 项目目标"/>
          <p:cNvSpPr/>
          <p:nvPr/>
        </p:nvSpPr>
        <p:spPr>
          <a:xfrm>
            <a:off x="1413633" y="3264890"/>
            <a:ext cx="4738509" cy="1019679"/>
          </a:xfrm>
          <a:prstGeom prst="roundRect">
            <a:avLst/>
          </a:prstGeom>
          <a:solidFill>
            <a:srgbClr val="E7F0F7"/>
          </a:solidFill>
          <a:ln w="12700">
            <a:solidFill>
              <a:srgbClr val="AEBECC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72033"/>
                </a:solidFill>
              </a:rPr>
              <a:t/>
            </a:r>
          </a:p>
        </p:txBody>
      </p:sp>
      <p:sp>
        <p:nvSpPr>
          <p:cNvPr id="11" name="Header 项目目标"/>
          <p:cNvSpPr/>
          <p:nvPr/>
        </p:nvSpPr>
        <p:spPr>
          <a:xfrm>
            <a:off x="1633633" y="3144890"/>
            <a:ext cx="1611093" cy="260000"/>
          </a:xfrm>
          <a:prstGeom prst="roundRect">
            <a:avLst/>
          </a:prstGeom>
          <a:solidFill>
            <a:srgbClr val="4E7FB0"/>
          </a:solidFill>
          <a:ln w="12700">
            <a:solidFill>
              <a:srgbClr val="4E7FB0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FFFFFF"/>
                </a:solidFill>
              </a:rPr>
              <a:t>项目目标</a:t>
            </a:r>
          </a:p>
        </p:txBody>
      </p:sp>
      <p:sp>
        <p:nvSpPr>
          <p:cNvPr id="12" name="Stage 研究内容"/>
          <p:cNvSpPr/>
          <p:nvPr/>
        </p:nvSpPr>
        <p:spPr>
          <a:xfrm>
            <a:off x="1413633" y="4536490"/>
            <a:ext cx="4738509" cy="1019679"/>
          </a:xfrm>
          <a:prstGeom prst="roundRect">
            <a:avLst/>
          </a:prstGeom>
          <a:solidFill>
            <a:srgbClr val="F5E5E2"/>
          </a:solidFill>
          <a:ln w="12700">
            <a:solidFill>
              <a:srgbClr val="AEBECC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72033"/>
                </a:solidFill>
              </a:rPr>
              <a:t/>
            </a:r>
          </a:p>
        </p:txBody>
      </p:sp>
      <p:sp>
        <p:nvSpPr>
          <p:cNvPr id="13" name="Header 研究内容"/>
          <p:cNvSpPr/>
          <p:nvPr/>
        </p:nvSpPr>
        <p:spPr>
          <a:xfrm>
            <a:off x="1633633" y="4416490"/>
            <a:ext cx="1611093" cy="260000"/>
          </a:xfrm>
          <a:prstGeom prst="roundRect">
            <a:avLst/>
          </a:prstGeom>
          <a:solidFill>
            <a:srgbClr val="4E7FB0"/>
          </a:solidFill>
          <a:ln w="12700">
            <a:solidFill>
              <a:srgbClr val="4E7FB0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FFFFFF"/>
                </a:solidFill>
              </a:rPr>
              <a:t>研究内容</a:t>
            </a:r>
          </a:p>
        </p:txBody>
      </p:sp>
      <p:sp>
        <p:nvSpPr>
          <p:cNvPr id="14" name="Stage 科学问题"/>
          <p:cNvSpPr/>
          <p:nvPr/>
        </p:nvSpPr>
        <p:spPr>
          <a:xfrm>
            <a:off x="1413633" y="5808090"/>
            <a:ext cx="4738509" cy="1019679"/>
          </a:xfrm>
          <a:prstGeom prst="roundRect">
            <a:avLst/>
          </a:prstGeom>
          <a:solidFill>
            <a:srgbClr val="F7F1D8"/>
          </a:solidFill>
          <a:ln w="12700">
            <a:solidFill>
              <a:srgbClr val="AEBECC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72033"/>
                </a:solidFill>
              </a:rPr>
              <a:t/>
            </a:r>
          </a:p>
        </p:txBody>
      </p:sp>
      <p:sp>
        <p:nvSpPr>
          <p:cNvPr id="15" name="Header 科学问题"/>
          <p:cNvSpPr/>
          <p:nvPr/>
        </p:nvSpPr>
        <p:spPr>
          <a:xfrm>
            <a:off x="1633633" y="5688090"/>
            <a:ext cx="1611093" cy="260000"/>
          </a:xfrm>
          <a:prstGeom prst="roundRect">
            <a:avLst/>
          </a:prstGeom>
          <a:solidFill>
            <a:srgbClr val="4E7FB0"/>
          </a:solidFill>
          <a:ln w="12700">
            <a:solidFill>
              <a:srgbClr val="4E7FB0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FFFFFF"/>
                </a:solidFill>
              </a:rPr>
              <a:t>科学问题</a:t>
            </a:r>
          </a:p>
        </p:txBody>
      </p:sp>
      <p:sp>
        <p:nvSpPr>
          <p:cNvPr id="16" name="Stage 关键方法"/>
          <p:cNvSpPr/>
          <p:nvPr/>
        </p:nvSpPr>
        <p:spPr>
          <a:xfrm>
            <a:off x="1413633" y="7079690"/>
            <a:ext cx="4738509" cy="1019679"/>
          </a:xfrm>
          <a:prstGeom prst="roundRect">
            <a:avLst/>
          </a:prstGeom>
          <a:solidFill>
            <a:srgbClr val="E6F2DF"/>
          </a:solidFill>
          <a:ln w="12700">
            <a:solidFill>
              <a:srgbClr val="AEBECC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72033"/>
                </a:solidFill>
              </a:rPr>
              <a:t/>
            </a:r>
          </a:p>
        </p:txBody>
      </p:sp>
      <p:sp>
        <p:nvSpPr>
          <p:cNvPr id="17" name="Header 关键方法"/>
          <p:cNvSpPr/>
          <p:nvPr/>
        </p:nvSpPr>
        <p:spPr>
          <a:xfrm>
            <a:off x="1633633" y="6959690"/>
            <a:ext cx="1611093" cy="260000"/>
          </a:xfrm>
          <a:prstGeom prst="roundRect">
            <a:avLst/>
          </a:prstGeom>
          <a:solidFill>
            <a:srgbClr val="4E7FB0"/>
          </a:solidFill>
          <a:ln w="12700">
            <a:solidFill>
              <a:srgbClr val="4E7FB0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FFFFFF"/>
                </a:solidFill>
              </a:rPr>
              <a:t>关键方法</a:t>
            </a:r>
          </a:p>
        </p:txBody>
      </p:sp>
      <p:sp>
        <p:nvSpPr>
          <p:cNvPr id="18" name="Stage 验证输出"/>
          <p:cNvSpPr/>
          <p:nvPr/>
        </p:nvSpPr>
        <p:spPr>
          <a:xfrm>
            <a:off x="1413633" y="8351290"/>
            <a:ext cx="4738509" cy="1019679"/>
          </a:xfrm>
          <a:prstGeom prst="roundRect">
            <a:avLst/>
          </a:prstGeom>
          <a:solidFill>
            <a:srgbClr val="EAE7F4"/>
          </a:solidFill>
          <a:ln w="12700">
            <a:solidFill>
              <a:srgbClr val="AEBECC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72033"/>
                </a:solidFill>
              </a:rPr>
              <a:t/>
            </a:r>
          </a:p>
        </p:txBody>
      </p:sp>
      <p:sp>
        <p:nvSpPr>
          <p:cNvPr id="19" name="Header 验证输出"/>
          <p:cNvSpPr/>
          <p:nvPr/>
        </p:nvSpPr>
        <p:spPr>
          <a:xfrm>
            <a:off x="1633633" y="8231290"/>
            <a:ext cx="1611093" cy="260000"/>
          </a:xfrm>
          <a:prstGeom prst="roundRect">
            <a:avLst/>
          </a:prstGeom>
          <a:solidFill>
            <a:srgbClr val="4E7FB0"/>
          </a:solidFill>
          <a:ln w="12700">
            <a:solidFill>
              <a:srgbClr val="4E7FB0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FFFFFF"/>
                </a:solidFill>
              </a:rPr>
              <a:t>验证输出</a:t>
            </a:r>
          </a:p>
        </p:txBody>
      </p:sp>
      <p:cxnSp>
        <p:nvCxnSpPr>
          <p:cNvPr id="20" name="Connector 20"/>
          <p:cNvCxnSpPr/>
          <p:nvPr/>
        </p:nvCxnSpPr>
        <p:spPr>
          <a:xfrm>
            <a:off x="3782888" y="4284569"/>
            <a:ext cx="1" cy="251920"/>
          </a:xfrm>
          <a:prstGeom prst="line">
            <a:avLst/>
          </a:prstGeom>
          <a:ln w="19050">
            <a:solidFill>
              <a:srgbClr val="315C88"/>
            </a:solidFill>
            <a:headEnd type="triangle"/>
          </a:ln>
        </p:spPr>
      </p:cxnSp>
      <p:cxnSp>
        <p:nvCxnSpPr>
          <p:cNvPr id="21" name="Connector 21"/>
          <p:cNvCxnSpPr/>
          <p:nvPr/>
        </p:nvCxnSpPr>
        <p:spPr>
          <a:xfrm>
            <a:off x="3782888" y="5556169"/>
            <a:ext cx="1" cy="251920"/>
          </a:xfrm>
          <a:prstGeom prst="line">
            <a:avLst/>
          </a:prstGeom>
          <a:ln w="19050">
            <a:solidFill>
              <a:srgbClr val="315C88"/>
            </a:solidFill>
            <a:headEnd type="triangle"/>
          </a:ln>
        </p:spPr>
      </p:cxnSp>
      <p:cxnSp>
        <p:nvCxnSpPr>
          <p:cNvPr id="22" name="Connector 22"/>
          <p:cNvCxnSpPr/>
          <p:nvPr/>
        </p:nvCxnSpPr>
        <p:spPr>
          <a:xfrm>
            <a:off x="3782888" y="6827769"/>
            <a:ext cx="1" cy="251920"/>
          </a:xfrm>
          <a:prstGeom prst="line">
            <a:avLst/>
          </a:prstGeom>
          <a:ln w="19050">
            <a:solidFill>
              <a:srgbClr val="315C88"/>
            </a:solidFill>
            <a:headEnd type="triangle"/>
          </a:ln>
        </p:spPr>
      </p:cxnSp>
      <p:cxnSp>
        <p:nvCxnSpPr>
          <p:cNvPr id="23" name="Connector 23"/>
          <p:cNvCxnSpPr/>
          <p:nvPr/>
        </p:nvCxnSpPr>
        <p:spPr>
          <a:xfrm>
            <a:off x="3782888" y="8099369"/>
            <a:ext cx="1" cy="251920"/>
          </a:xfrm>
          <a:prstGeom prst="line">
            <a:avLst/>
          </a:prstGeom>
          <a:ln w="19050">
            <a:solidFill>
              <a:srgbClr val="315C88"/>
            </a:solidFill>
            <a:headEnd type="triangle"/>
          </a:ln>
        </p:spPr>
      </p:cxnSp>
      <p:sp>
        <p:nvSpPr>
          <p:cNvPr id="24" name="Node objective_need"/>
          <p:cNvSpPr/>
          <p:nvPr/>
        </p:nvSpPr>
        <p:spPr>
          <a:xfrm>
            <a:off x="1623567" y="3684758"/>
            <a:ext cx="2105337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面向运维诊断需求</a:t>
            </a:r>
          </a:p>
        </p:txBody>
      </p:sp>
      <p:sp>
        <p:nvSpPr>
          <p:cNvPr id="25" name="Node objective_goal"/>
          <p:cNvSpPr/>
          <p:nvPr/>
        </p:nvSpPr>
        <p:spPr>
          <a:xfrm>
            <a:off x="3836871" y="3684758"/>
            <a:ext cx="2105337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建立智能诊断框架</a:t>
            </a:r>
          </a:p>
        </p:txBody>
      </p:sp>
      <p:sp>
        <p:nvSpPr>
          <p:cNvPr id="26" name="Node content_data"/>
          <p:cNvSpPr/>
          <p:nvPr/>
        </p:nvSpPr>
        <p:spPr>
          <a:xfrm>
            <a:off x="1623567" y="4956358"/>
            <a:ext cx="1367569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构建多源样本库</a:t>
            </a:r>
          </a:p>
        </p:txBody>
      </p:sp>
      <p:sp>
        <p:nvSpPr>
          <p:cNvPr id="27" name="Node content_model"/>
          <p:cNvSpPr/>
          <p:nvPr/>
        </p:nvSpPr>
        <p:spPr>
          <a:xfrm>
            <a:off x="3099103" y="4956358"/>
            <a:ext cx="1367569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研究诊断模型</a:t>
            </a:r>
          </a:p>
        </p:txBody>
      </p:sp>
      <p:sp>
        <p:nvSpPr>
          <p:cNvPr id="28" name="Node content_platform"/>
          <p:cNvSpPr/>
          <p:nvPr/>
        </p:nvSpPr>
        <p:spPr>
          <a:xfrm>
            <a:off x="4574639" y="4956358"/>
            <a:ext cx="1367569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设计应用流程</a:t>
            </a:r>
          </a:p>
        </p:txBody>
      </p:sp>
      <p:sp>
        <p:nvSpPr>
          <p:cNvPr id="29" name="Node question_feature"/>
          <p:cNvSpPr/>
          <p:nvPr/>
        </p:nvSpPr>
        <p:spPr>
          <a:xfrm>
            <a:off x="1623567" y="6227958"/>
            <a:ext cx="1367569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弱纹理缺陷如何表征</a:t>
            </a:r>
          </a:p>
        </p:txBody>
      </p:sp>
      <p:sp>
        <p:nvSpPr>
          <p:cNvPr id="30" name="Node question_general"/>
          <p:cNvSpPr/>
          <p:nvPr/>
        </p:nvSpPr>
        <p:spPr>
          <a:xfrm>
            <a:off x="3099103" y="6227958"/>
            <a:ext cx="1367569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跨场景如何泛化</a:t>
            </a:r>
          </a:p>
        </p:txBody>
      </p:sp>
      <p:sp>
        <p:nvSpPr>
          <p:cNvPr id="31" name="Node question_trust"/>
          <p:cNvSpPr/>
          <p:nvPr/>
        </p:nvSpPr>
        <p:spPr>
          <a:xfrm>
            <a:off x="4574639" y="6227958"/>
            <a:ext cx="1367569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诊断结果如何可信</a:t>
            </a:r>
          </a:p>
        </p:txBody>
      </p:sp>
      <p:sp>
        <p:nvSpPr>
          <p:cNvPr id="32" name="Node method_fusion"/>
          <p:cNvSpPr/>
          <p:nvPr/>
        </p:nvSpPr>
        <p:spPr>
          <a:xfrm>
            <a:off x="1623567" y="7499558"/>
            <a:ext cx="1367569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多模态融合建模</a:t>
            </a:r>
          </a:p>
        </p:txBody>
      </p:sp>
      <p:sp>
        <p:nvSpPr>
          <p:cNvPr id="33" name="Node method_explain"/>
          <p:cNvSpPr/>
          <p:nvPr/>
        </p:nvSpPr>
        <p:spPr>
          <a:xfrm>
            <a:off x="3099103" y="7499558"/>
            <a:ext cx="1367569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可解释风险评分</a:t>
            </a:r>
          </a:p>
        </p:txBody>
      </p:sp>
      <p:sp>
        <p:nvSpPr>
          <p:cNvPr id="34" name="Node method_loop"/>
          <p:cNvSpPr/>
          <p:nvPr/>
        </p:nvSpPr>
        <p:spPr>
          <a:xfrm>
            <a:off x="4574639" y="7499558"/>
            <a:ext cx="1367569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闭环优化机制</a:t>
            </a:r>
          </a:p>
        </p:txBody>
      </p:sp>
      <p:sp>
        <p:nvSpPr>
          <p:cNvPr id="35" name="Node validation_metrics"/>
          <p:cNvSpPr/>
          <p:nvPr/>
        </p:nvSpPr>
        <p:spPr>
          <a:xfrm>
            <a:off x="1623567" y="8771158"/>
            <a:ext cx="2105337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完成指标验证</a:t>
            </a:r>
          </a:p>
        </p:txBody>
      </p:sp>
      <p:sp>
        <p:nvSpPr>
          <p:cNvPr id="36" name="Node validation_demo"/>
          <p:cNvSpPr/>
          <p:nvPr/>
        </p:nvSpPr>
        <p:spPr>
          <a:xfrm>
            <a:off x="3836871" y="8771158"/>
            <a:ext cx="2105337" cy="383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8C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72033"/>
                </a:solidFill>
              </a:rPr>
              <a:t>形成原型系统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RouteMaker">
  <a:themeElements>
    <a:clrScheme name="TechRout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0F766E"/>
      </a:accent2>
      <a:accent3>
        <a:srgbClr val="7C3AED"/>
      </a:accent3>
      <a:accent4>
        <a:srgbClr val="F59E0B"/>
      </a:accent4>
      <a:accent5>
        <a:srgbClr val="EF4444"/>
      </a:accent5>
      <a:accent6>
        <a:srgbClr val="64748B"/>
      </a:accent6>
      <a:hlink>
        <a:srgbClr val="2563EB"/>
      </a:hlink>
      <a:folHlink>
        <a:srgbClr val="7C3AED"/>
      </a:folHlink>
    </a:clrScheme>
    <a:fontScheme name="Arial">
      <a:majorFont>
        <a:latin typeface="Arial"/>
      </a:majorFont>
      <a:minorFont>
        <a:latin typeface="Arial"/>
      </a:minorFont>
    </a:fontScheme>
    <a:fmtScheme name="TechRout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tech-route-maker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>
  <dc:creator>tech-route-maker</dc:creator>
  <cp:lastModifiedBy>tech-route-maker</cp:lastModifiedBy>
</cp:coreProperties>
</file>