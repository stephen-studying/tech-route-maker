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858000" cy="12192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670000" y="1669253"/>
            <a:ext cx="5517999" cy="5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anchor="ctr"/>
          <a:lstStyle/>
          <a:p>
            <a:pPr algn="ctr"/>
            <a:r>
              <a:rPr lang="zh-CN" sz="2500" b="1">
                <a:solidFill>
                  <a:srgbClr val="0F172A"/>
                </a:solidFill>
              </a:rPr>
              <a:t>炎症微环境调控骨修复机制研究技术路线图</a:t>
            </a:r>
          </a:p>
        </p:txBody>
      </p:sp>
      <p:sp>
        <p:nvSpPr>
          <p:cNvPr id="3" name="Subtitle"/>
          <p:cNvSpPr/>
          <p:nvPr/>
        </p:nvSpPr>
        <p:spPr>
          <a:xfrm>
            <a:off x="670000" y="2159253"/>
            <a:ext cx="5517999" cy="21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anchor="ctr"/>
          <a:lstStyle/>
          <a:p>
            <a:pPr algn="ctr"/>
            <a:r>
              <a:rPr lang="zh-CN" sz="1050">
                <a:solidFill>
                  <a:srgbClr val="64748B"/>
                </a:solidFill>
              </a:rPr>
              <a:t>生物医学机制研究示例：样本模型、干预检测、机制验证与转化意义</a:t>
            </a:r>
          </a:p>
        </p:txBody>
      </p:sp>
      <p:sp>
        <p:nvSpPr>
          <p:cNvPr id="4" name="Stage 研究问题"/>
          <p:cNvSpPr/>
          <p:nvPr/>
        </p:nvSpPr>
        <p:spPr>
          <a:xfrm>
            <a:off x="649938" y="2522188"/>
            <a:ext cx="5558122" cy="12305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800">
                <a:solidFill>
                  <a:srgbClr val="0F172A"/>
                </a:solidFill>
              </a:rPr>
              <a:t/>
            </a:r>
          </a:p>
        </p:txBody>
      </p:sp>
      <p:sp>
        <p:nvSpPr>
          <p:cNvPr id="5" name="Header 研究问题"/>
          <p:cNvSpPr/>
          <p:nvPr/>
        </p:nvSpPr>
        <p:spPr>
          <a:xfrm>
            <a:off x="2029000" y="2712188"/>
            <a:ext cx="2800000" cy="43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/>
          <a:lstStyle/>
          <a:p>
            <a:pPr algn="ctr"/>
            <a:r>
              <a:rPr lang="zh-CN" sz="1450" b="1">
                <a:solidFill>
                  <a:srgbClr val="FFFFFF"/>
                </a:solidFill>
              </a:rPr>
              <a:t>01 研究问题</a:t>
            </a:r>
          </a:p>
        </p:txBody>
      </p:sp>
      <p:sp>
        <p:nvSpPr>
          <p:cNvPr id="6" name="Stage 模型构建"/>
          <p:cNvSpPr/>
          <p:nvPr/>
        </p:nvSpPr>
        <p:spPr>
          <a:xfrm>
            <a:off x="649938" y="3998885"/>
            <a:ext cx="5558122" cy="12305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800">
                <a:solidFill>
                  <a:srgbClr val="0F172A"/>
                </a:solidFill>
              </a:rPr>
              <a:t/>
            </a:r>
          </a:p>
        </p:txBody>
      </p:sp>
      <p:sp>
        <p:nvSpPr>
          <p:cNvPr id="7" name="Header 模型构建"/>
          <p:cNvSpPr/>
          <p:nvPr/>
        </p:nvSpPr>
        <p:spPr>
          <a:xfrm>
            <a:off x="2029000" y="4188885"/>
            <a:ext cx="2800000" cy="43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/>
          <a:lstStyle/>
          <a:p>
            <a:pPr algn="ctr"/>
            <a:r>
              <a:rPr lang="zh-CN" sz="1450" b="1">
                <a:solidFill>
                  <a:srgbClr val="FFFFFF"/>
                </a:solidFill>
              </a:rPr>
              <a:t>02 模型构建</a:t>
            </a:r>
          </a:p>
        </p:txBody>
      </p:sp>
      <p:sp>
        <p:nvSpPr>
          <p:cNvPr id="8" name="Stage 分组干预"/>
          <p:cNvSpPr/>
          <p:nvPr/>
        </p:nvSpPr>
        <p:spPr>
          <a:xfrm>
            <a:off x="649938" y="5475582"/>
            <a:ext cx="5558122" cy="123058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800">
                <a:solidFill>
                  <a:srgbClr val="0F172A"/>
                </a:solidFill>
              </a:rPr>
              <a:t/>
            </a:r>
          </a:p>
        </p:txBody>
      </p:sp>
      <p:sp>
        <p:nvSpPr>
          <p:cNvPr id="9" name="Header 分组干预"/>
          <p:cNvSpPr/>
          <p:nvPr/>
        </p:nvSpPr>
        <p:spPr>
          <a:xfrm>
            <a:off x="2029000" y="5665582"/>
            <a:ext cx="2800000" cy="43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/>
          <a:lstStyle/>
          <a:p>
            <a:pPr algn="ctr"/>
            <a:r>
              <a:rPr lang="zh-CN" sz="1450" b="1">
                <a:solidFill>
                  <a:srgbClr val="FFFFFF"/>
                </a:solidFill>
              </a:rPr>
              <a:t>03 分组干预</a:t>
            </a:r>
          </a:p>
        </p:txBody>
      </p:sp>
      <p:sp>
        <p:nvSpPr>
          <p:cNvPr id="10" name="Stage 机制检测"/>
          <p:cNvSpPr/>
          <p:nvPr/>
        </p:nvSpPr>
        <p:spPr>
          <a:xfrm>
            <a:off x="649938" y="6952279"/>
            <a:ext cx="5558122" cy="12305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8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1" name="Header 机制检测"/>
          <p:cNvSpPr/>
          <p:nvPr/>
        </p:nvSpPr>
        <p:spPr>
          <a:xfrm>
            <a:off x="2029000" y="7142279"/>
            <a:ext cx="2800000" cy="43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/>
          <a:lstStyle/>
          <a:p>
            <a:pPr algn="ctr"/>
            <a:r>
              <a:rPr lang="zh-CN" sz="1450" b="1">
                <a:solidFill>
                  <a:srgbClr val="FFFFFF"/>
                </a:solidFill>
              </a:rPr>
              <a:t>04 机制检测</a:t>
            </a:r>
          </a:p>
        </p:txBody>
      </p:sp>
      <p:sp>
        <p:nvSpPr>
          <p:cNvPr id="12" name="Stage 验证输出"/>
          <p:cNvSpPr/>
          <p:nvPr/>
        </p:nvSpPr>
        <p:spPr>
          <a:xfrm>
            <a:off x="649938" y="8428975"/>
            <a:ext cx="5558122" cy="123058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8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3" name="Header 验证输出"/>
          <p:cNvSpPr/>
          <p:nvPr/>
        </p:nvSpPr>
        <p:spPr>
          <a:xfrm>
            <a:off x="2029000" y="8618975"/>
            <a:ext cx="2800000" cy="43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/>
          <a:lstStyle/>
          <a:p>
            <a:pPr algn="ctr"/>
            <a:r>
              <a:rPr lang="zh-CN" sz="1450" b="1">
                <a:solidFill>
                  <a:srgbClr val="FFFFFF"/>
                </a:solidFill>
              </a:rPr>
              <a:t>05 验证输出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3429000" y="3752769"/>
            <a:ext cx="1" cy="246116"/>
          </a:xfrm>
          <a:prstGeom prst="line">
            <a:avLst/>
          </a:prstGeom>
          <a:ln w="19050">
            <a:solidFill>
              <a:srgbClr val="64748B"/>
            </a:solidFill>
            <a:head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3429000" y="5229466"/>
            <a:ext cx="1" cy="246116"/>
          </a:xfrm>
          <a:prstGeom prst="line">
            <a:avLst/>
          </a:prstGeom>
          <a:ln w="19050">
            <a:solidFill>
              <a:srgbClr val="64748B"/>
            </a:solidFill>
            <a:headEnd type="triangle"/>
          </a:ln>
        </p:spPr>
      </p:cxnSp>
      <p:cxnSp>
        <p:nvCxnSpPr>
          <p:cNvPr id="16" name="Connector 16"/>
          <p:cNvCxnSpPr/>
          <p:nvPr/>
        </p:nvCxnSpPr>
        <p:spPr>
          <a:xfrm>
            <a:off x="3429000" y="6706162"/>
            <a:ext cx="1" cy="246116"/>
          </a:xfrm>
          <a:prstGeom prst="line">
            <a:avLst/>
          </a:prstGeom>
          <a:ln w="19050">
            <a:solidFill>
              <a:srgbClr val="64748B"/>
            </a:solidFill>
            <a:headEnd type="triangle"/>
          </a:ln>
        </p:spPr>
      </p:cxnSp>
      <p:cxnSp>
        <p:nvCxnSpPr>
          <p:cNvPr id="17" name="Connector 17"/>
          <p:cNvCxnSpPr/>
          <p:nvPr/>
        </p:nvCxnSpPr>
        <p:spPr>
          <a:xfrm>
            <a:off x="3429000" y="8182859"/>
            <a:ext cx="1" cy="246116"/>
          </a:xfrm>
          <a:prstGeom prst="line">
            <a:avLst/>
          </a:prstGeom>
          <a:ln w="19050">
            <a:solidFill>
              <a:srgbClr val="64748B"/>
            </a:solidFill>
            <a:headEnd type="triangle"/>
          </a:ln>
        </p:spPr>
      </p:cxnSp>
      <p:sp>
        <p:nvSpPr>
          <p:cNvPr id="18" name="Node question_inflammation"/>
          <p:cNvSpPr/>
          <p:nvPr/>
        </p:nvSpPr>
        <p:spPr>
          <a:xfrm>
            <a:off x="834525" y="3106714"/>
            <a:ext cx="2548327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界定炎症表型</a:t>
            </a:r>
          </a:p>
        </p:txBody>
      </p:sp>
      <p:sp>
        <p:nvSpPr>
          <p:cNvPr id="19" name="Node question_mechanism"/>
          <p:cNvSpPr/>
          <p:nvPr/>
        </p:nvSpPr>
        <p:spPr>
          <a:xfrm>
            <a:off x="3475146" y="3106714"/>
            <a:ext cx="2548327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提出机制假设</a:t>
            </a:r>
          </a:p>
        </p:txBody>
      </p:sp>
      <p:sp>
        <p:nvSpPr>
          <p:cNvPr id="20" name="Node model_cell"/>
          <p:cNvSpPr/>
          <p:nvPr/>
        </p:nvSpPr>
        <p:spPr>
          <a:xfrm>
            <a:off x="834525" y="4583411"/>
            <a:ext cx="1668120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建立细胞模型</a:t>
            </a:r>
          </a:p>
        </p:txBody>
      </p:sp>
      <p:sp>
        <p:nvSpPr>
          <p:cNvPr id="21" name="Node model_animal"/>
          <p:cNvSpPr/>
          <p:nvPr/>
        </p:nvSpPr>
        <p:spPr>
          <a:xfrm>
            <a:off x="2594939" y="4583411"/>
            <a:ext cx="1668120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建立缺损模型</a:t>
            </a:r>
          </a:p>
        </p:txBody>
      </p:sp>
      <p:sp>
        <p:nvSpPr>
          <p:cNvPr id="22" name="Node model_control"/>
          <p:cNvSpPr/>
          <p:nvPr/>
        </p:nvSpPr>
        <p:spPr>
          <a:xfrm>
            <a:off x="4355353" y="4583411"/>
            <a:ext cx="1668120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设置对照组</a:t>
            </a:r>
          </a:p>
        </p:txBody>
      </p:sp>
      <p:sp>
        <p:nvSpPr>
          <p:cNvPr id="23" name="Node intervention_factor"/>
          <p:cNvSpPr/>
          <p:nvPr/>
        </p:nvSpPr>
        <p:spPr>
          <a:xfrm>
            <a:off x="834525" y="6060108"/>
            <a:ext cx="2548327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调控炎症因子</a:t>
            </a:r>
          </a:p>
        </p:txBody>
      </p:sp>
      <p:sp>
        <p:nvSpPr>
          <p:cNvPr id="24" name="Node intervention_pathway"/>
          <p:cNvSpPr/>
          <p:nvPr/>
        </p:nvSpPr>
        <p:spPr>
          <a:xfrm>
            <a:off x="3475146" y="6060108"/>
            <a:ext cx="2548327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干预信号通路</a:t>
            </a:r>
          </a:p>
        </p:txBody>
      </p:sp>
      <p:sp>
        <p:nvSpPr>
          <p:cNvPr id="25" name="Node assay_osteogenesis"/>
          <p:cNvSpPr/>
          <p:nvPr/>
        </p:nvSpPr>
        <p:spPr>
          <a:xfrm>
            <a:off x="834525" y="7536804"/>
            <a:ext cx="1668120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检测成骨指标</a:t>
            </a:r>
          </a:p>
        </p:txBody>
      </p:sp>
      <p:sp>
        <p:nvSpPr>
          <p:cNvPr id="26" name="Node assay_inflammation"/>
          <p:cNvSpPr/>
          <p:nvPr/>
        </p:nvSpPr>
        <p:spPr>
          <a:xfrm>
            <a:off x="2594939" y="7536804"/>
            <a:ext cx="1668120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检测炎症表达</a:t>
            </a:r>
          </a:p>
        </p:txBody>
      </p:sp>
      <p:sp>
        <p:nvSpPr>
          <p:cNvPr id="27" name="Node assay_histology"/>
          <p:cNvSpPr/>
          <p:nvPr/>
        </p:nvSpPr>
        <p:spPr>
          <a:xfrm>
            <a:off x="4355353" y="7536804"/>
            <a:ext cx="1668120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开展组织学验证</a:t>
            </a:r>
          </a:p>
        </p:txBody>
      </p:sp>
      <p:sp>
        <p:nvSpPr>
          <p:cNvPr id="28" name="Node output_mechanism"/>
          <p:cNvSpPr/>
          <p:nvPr/>
        </p:nvSpPr>
        <p:spPr>
          <a:xfrm>
            <a:off x="834525" y="9013501"/>
            <a:ext cx="2548327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形成机制链条</a:t>
            </a:r>
          </a:p>
        </p:txBody>
      </p:sp>
      <p:sp>
        <p:nvSpPr>
          <p:cNvPr id="29" name="Node output_target"/>
          <p:cNvSpPr/>
          <p:nvPr/>
        </p:nvSpPr>
        <p:spPr>
          <a:xfrm>
            <a:off x="3475146" y="9013501"/>
            <a:ext cx="2548327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筛选干预靶点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RouteMaker">
  <a:themeElements>
    <a:clrScheme name="TechRout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7C3AED"/>
      </a:accent3>
      <a:accent4>
        <a:srgbClr val="F59E0B"/>
      </a:accent4>
      <a:accent5>
        <a:srgbClr val="EF4444"/>
      </a:accent5>
      <a:accent6>
        <a:srgbClr val="64748B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TechRout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tech-route-maker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creator>tech-route-maker</dc:creator>
  <cp:lastModifiedBy>tech-route-maker</cp:lastModifiedBy>
</cp:coreProperties>
</file>