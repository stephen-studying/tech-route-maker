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869999" y="533014"/>
            <a:ext cx="10452000" cy="430000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FFE4E6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11827"/>
                </a:solidFill>
              </a:rPr>
              <a:t>Research Tool</a:t>
            </a:r>
          </a:p>
          <a:p>
            <a:pPr algn="ctr"/>
            <a:r>
              <a:rPr lang="en-US" sz="2100" b="1">
                <a:solidFill>
                  <a:srgbClr val="111827"/>
                </a:solidFill>
              </a:rPr>
              <a:t>Launch Campaign</a:t>
            </a:r>
          </a:p>
          <a:p>
            <a:pPr algn="ctr"/>
            <a:r>
              <a:rPr lang="en-US" sz="2100" b="1">
                <a:solidFill>
                  <a:srgbClr val="111827"/>
                </a:solidFill>
              </a:rPr>
              <a:t>Strategy Route</a:t>
            </a:r>
          </a:p>
        </p:txBody>
      </p:sp>
      <p:sp>
        <p:nvSpPr>
          <p:cNvPr id="3" name="Subtitle"/>
          <p:cNvSpPr/>
          <p:nvPr/>
        </p:nvSpPr>
        <p:spPr>
          <a:xfrm>
            <a:off x="1699999" y="978014"/>
            <a:ext cx="8792000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850">
                <a:solidFill>
                  <a:srgbClr val="5B6472"/>
                </a:solidFill>
              </a:rPr>
              <a:t>Campaign route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generated by</a:t>
            </a:r>
          </a:p>
          <a:p>
            <a:pPr algn="ctr"/>
            <a:r>
              <a:rPr lang="en-US" sz="850">
                <a:solidFill>
                  <a:srgbClr val="5B6472"/>
                </a:solidFill>
              </a:rPr>
              <a:t>tech-route-maker</a:t>
            </a:r>
          </a:p>
        </p:txBody>
      </p:sp>
      <p:sp>
        <p:nvSpPr>
          <p:cNvPr id="4" name="Stage Audience"/>
          <p:cNvSpPr/>
          <p:nvPr/>
        </p:nvSpPr>
        <p:spPr>
          <a:xfrm>
            <a:off x="765823" y="1976097"/>
            <a:ext cx="1619112" cy="3352852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5" name="Header Audience"/>
          <p:cNvSpPr/>
          <p:nvPr/>
        </p:nvSpPr>
        <p:spPr>
          <a:xfrm>
            <a:off x="765823" y="1976097"/>
            <a:ext cx="161911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Audience</a:t>
            </a:r>
          </a:p>
        </p:txBody>
      </p:sp>
      <p:sp>
        <p:nvSpPr>
          <p:cNvPr id="6" name="Stage Insight"/>
          <p:cNvSpPr/>
          <p:nvPr/>
        </p:nvSpPr>
        <p:spPr>
          <a:xfrm>
            <a:off x="2574071" y="1976097"/>
            <a:ext cx="1619112" cy="335285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7" name="Header Insight"/>
          <p:cNvSpPr/>
          <p:nvPr/>
        </p:nvSpPr>
        <p:spPr>
          <a:xfrm>
            <a:off x="2574071" y="1976097"/>
            <a:ext cx="161911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Insight</a:t>
            </a:r>
          </a:p>
        </p:txBody>
      </p:sp>
      <p:sp>
        <p:nvSpPr>
          <p:cNvPr id="8" name="Stage Message"/>
          <p:cNvSpPr/>
          <p:nvPr/>
        </p:nvSpPr>
        <p:spPr>
          <a:xfrm>
            <a:off x="4382319" y="1976097"/>
            <a:ext cx="1619112" cy="33528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9" name="Header Message"/>
          <p:cNvSpPr/>
          <p:nvPr/>
        </p:nvSpPr>
        <p:spPr>
          <a:xfrm>
            <a:off x="4382319" y="1976097"/>
            <a:ext cx="161911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Message</a:t>
            </a:r>
          </a:p>
        </p:txBody>
      </p:sp>
      <p:sp>
        <p:nvSpPr>
          <p:cNvPr id="10" name="Stage Channels"/>
          <p:cNvSpPr/>
          <p:nvPr/>
        </p:nvSpPr>
        <p:spPr>
          <a:xfrm>
            <a:off x="6190567" y="1976097"/>
            <a:ext cx="1619112" cy="335285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1" name="Header Channels"/>
          <p:cNvSpPr/>
          <p:nvPr/>
        </p:nvSpPr>
        <p:spPr>
          <a:xfrm>
            <a:off x="6190567" y="1976097"/>
            <a:ext cx="161911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Channels</a:t>
            </a:r>
          </a:p>
        </p:txBody>
      </p:sp>
      <p:sp>
        <p:nvSpPr>
          <p:cNvPr id="12" name="Stage Measurement"/>
          <p:cNvSpPr/>
          <p:nvPr/>
        </p:nvSpPr>
        <p:spPr>
          <a:xfrm>
            <a:off x="7998815" y="1976097"/>
            <a:ext cx="1619112" cy="3352852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3" name="Header Measurement"/>
          <p:cNvSpPr/>
          <p:nvPr/>
        </p:nvSpPr>
        <p:spPr>
          <a:xfrm>
            <a:off x="7998815" y="1976097"/>
            <a:ext cx="161911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Measurement</a:t>
            </a:r>
          </a:p>
        </p:txBody>
      </p:sp>
      <p:sp>
        <p:nvSpPr>
          <p:cNvPr id="14" name="Stage Optimization"/>
          <p:cNvSpPr/>
          <p:nvPr/>
        </p:nvSpPr>
        <p:spPr>
          <a:xfrm>
            <a:off x="9807063" y="1976097"/>
            <a:ext cx="1619112" cy="3352852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5" name="Header Optimization"/>
          <p:cNvSpPr/>
          <p:nvPr/>
        </p:nvSpPr>
        <p:spPr>
          <a:xfrm>
            <a:off x="9807063" y="1976097"/>
            <a:ext cx="1619112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Optimization</a:t>
            </a:r>
          </a:p>
        </p:txBody>
      </p:sp>
      <p:cxnSp>
        <p:nvCxnSpPr>
          <p:cNvPr id="16" name="Connector 16"/>
          <p:cNvCxnSpPr/>
          <p:nvPr/>
        </p:nvCxnSpPr>
        <p:spPr>
          <a:xfrm>
            <a:off x="1575379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 flipV="1">
            <a:off x="1575379" y="2827205"/>
            <a:ext cx="1808248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>
            <a:off x="3383627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 flipV="1">
            <a:off x="3383627" y="2827205"/>
            <a:ext cx="1808248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5191875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V="1">
            <a:off x="5191875" y="2827205"/>
            <a:ext cx="1808248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7000124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 flipV="1">
            <a:off x="7000124" y="2827205"/>
            <a:ext cx="1808248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>
            <a:off x="8808372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 flipV="1">
            <a:off x="8808372" y="2827205"/>
            <a:ext cx="1808248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6" name="Connector 26"/>
          <p:cNvCxnSpPr/>
          <p:nvPr/>
        </p:nvCxnSpPr>
        <p:spPr>
          <a:xfrm flipH="1">
            <a:off x="5191875" y="2827205"/>
            <a:ext cx="5424744" cy="1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sp>
        <p:nvSpPr>
          <p:cNvPr id="27" name="Node audience_segments"/>
          <p:cNvSpPr/>
          <p:nvPr/>
        </p:nvSpPr>
        <p:spPr>
          <a:xfrm>
            <a:off x="911973" y="256069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Map user segments</a:t>
            </a:r>
          </a:p>
        </p:txBody>
      </p:sp>
      <p:sp>
        <p:nvSpPr>
          <p:cNvPr id="28" name="Node audience_jobs"/>
          <p:cNvSpPr/>
          <p:nvPr/>
        </p:nvSpPr>
        <p:spPr>
          <a:xfrm>
            <a:off x="911973" y="323126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Clarify workflow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jobs</a:t>
            </a:r>
          </a:p>
        </p:txBody>
      </p:sp>
      <p:sp>
        <p:nvSpPr>
          <p:cNvPr id="29" name="Node insight_editable"/>
          <p:cNvSpPr/>
          <p:nvPr/>
        </p:nvSpPr>
        <p:spPr>
          <a:xfrm>
            <a:off x="2720221" y="256069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Lead with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editability</a:t>
            </a:r>
          </a:p>
        </p:txBody>
      </p:sp>
      <p:sp>
        <p:nvSpPr>
          <p:cNvPr id="30" name="Node insight_friction"/>
          <p:cNvSpPr/>
          <p:nvPr/>
        </p:nvSpPr>
        <p:spPr>
          <a:xfrm>
            <a:off x="2720221" y="323126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Remove drawing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friction</a:t>
            </a:r>
          </a:p>
        </p:txBody>
      </p:sp>
      <p:sp>
        <p:nvSpPr>
          <p:cNvPr id="31" name="Node message_positioning"/>
          <p:cNvSpPr/>
          <p:nvPr/>
        </p:nvSpPr>
        <p:spPr>
          <a:xfrm>
            <a:off x="4528469" y="256069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Position workflow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value</a:t>
            </a:r>
          </a:p>
        </p:txBody>
      </p:sp>
      <p:sp>
        <p:nvSpPr>
          <p:cNvPr id="32" name="Node message_proof"/>
          <p:cNvSpPr/>
          <p:nvPr/>
        </p:nvSpPr>
        <p:spPr>
          <a:xfrm>
            <a:off x="4528469" y="323126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Show before and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after</a:t>
            </a:r>
          </a:p>
        </p:txBody>
      </p:sp>
      <p:sp>
        <p:nvSpPr>
          <p:cNvPr id="33" name="Node channels_github"/>
          <p:cNvSpPr/>
          <p:nvPr/>
        </p:nvSpPr>
        <p:spPr>
          <a:xfrm>
            <a:off x="6336717" y="256069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Use GitHub as hub</a:t>
            </a:r>
          </a:p>
        </p:txBody>
      </p:sp>
      <p:sp>
        <p:nvSpPr>
          <p:cNvPr id="34" name="Node channels_content"/>
          <p:cNvSpPr/>
          <p:nvPr/>
        </p:nvSpPr>
        <p:spPr>
          <a:xfrm>
            <a:off x="6336717" y="323126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Publish demo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content</a:t>
            </a:r>
          </a:p>
        </p:txBody>
      </p:sp>
      <p:sp>
        <p:nvSpPr>
          <p:cNvPr id="35" name="Node measurement_metrics"/>
          <p:cNvSpPr/>
          <p:nvPr/>
        </p:nvSpPr>
        <p:spPr>
          <a:xfrm>
            <a:off x="8144965" y="256069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Track adoption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signals</a:t>
            </a:r>
          </a:p>
        </p:txBody>
      </p:sp>
      <p:sp>
        <p:nvSpPr>
          <p:cNvPr id="36" name="Node measurement_feedback"/>
          <p:cNvSpPr/>
          <p:nvPr/>
        </p:nvSpPr>
        <p:spPr>
          <a:xfrm>
            <a:off x="8144965" y="323126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Collect quality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feedback</a:t>
            </a:r>
          </a:p>
        </p:txBody>
      </p:sp>
      <p:sp>
        <p:nvSpPr>
          <p:cNvPr id="37" name="Node optimization_route"/>
          <p:cNvSpPr/>
          <p:nvPr/>
        </p:nvSpPr>
        <p:spPr>
          <a:xfrm>
            <a:off x="9953213" y="2560697"/>
            <a:ext cx="132681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Optimize message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