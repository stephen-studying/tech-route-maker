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69999" y="533014"/>
            <a:ext cx="10852000" cy="5000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111827"/>
                </a:solidFill>
              </a:rPr>
              <a:t>Legacy Campaign Strategy Route</a:t>
            </a:r>
          </a:p>
        </p:txBody>
      </p:sp>
      <p:sp>
        <p:nvSpPr>
          <p:cNvPr id="3" name="Subtitle"/>
          <p:cNvSpPr/>
          <p:nvPr/>
        </p:nvSpPr>
        <p:spPr>
          <a:xfrm>
            <a:off x="669999" y="1023014"/>
            <a:ext cx="10852000" cy="2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5B6472"/>
                </a:solidFill>
              </a:rPr>
              <a:t>Experimental campaign route retained for</a:t>
            </a:r>
          </a:p>
          <a:p>
            <a:pPr algn="ctr"/>
            <a:r>
              <a:rPr lang="zh-CN" sz="850">
                <a:solidFill>
                  <a:srgbClr val="5B6472"/>
                </a:solidFill>
              </a:rPr>
              <a:t>explicit advertising requests</a:t>
            </a:r>
          </a:p>
        </p:txBody>
      </p:sp>
      <p:sp>
        <p:nvSpPr>
          <p:cNvPr id="4" name="Stage Audience"/>
          <p:cNvSpPr/>
          <p:nvPr/>
        </p:nvSpPr>
        <p:spPr>
          <a:xfrm>
            <a:off x="765823" y="1976097"/>
            <a:ext cx="1980762" cy="3352852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5" name="Header Audience"/>
          <p:cNvSpPr/>
          <p:nvPr/>
        </p:nvSpPr>
        <p:spPr>
          <a:xfrm>
            <a:off x="985823" y="1976097"/>
            <a:ext cx="673459" cy="32668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Audience</a:t>
            </a:r>
          </a:p>
        </p:txBody>
      </p:sp>
      <p:sp>
        <p:nvSpPr>
          <p:cNvPr id="6" name="Stage Insight"/>
          <p:cNvSpPr/>
          <p:nvPr/>
        </p:nvSpPr>
        <p:spPr>
          <a:xfrm>
            <a:off x="2935721" y="1976097"/>
            <a:ext cx="1980762" cy="335285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7" name="Header Insight"/>
          <p:cNvSpPr/>
          <p:nvPr/>
        </p:nvSpPr>
        <p:spPr>
          <a:xfrm>
            <a:off x="3155721" y="1976097"/>
            <a:ext cx="673459" cy="32668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Insight</a:t>
            </a:r>
          </a:p>
        </p:txBody>
      </p:sp>
      <p:sp>
        <p:nvSpPr>
          <p:cNvPr id="8" name="Stage Message"/>
          <p:cNvSpPr/>
          <p:nvPr/>
        </p:nvSpPr>
        <p:spPr>
          <a:xfrm>
            <a:off x="5105618" y="1976097"/>
            <a:ext cx="1980762" cy="335285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9" name="Header Message"/>
          <p:cNvSpPr/>
          <p:nvPr/>
        </p:nvSpPr>
        <p:spPr>
          <a:xfrm>
            <a:off x="5325618" y="1976097"/>
            <a:ext cx="673459" cy="32668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Message</a:t>
            </a:r>
          </a:p>
        </p:txBody>
      </p:sp>
      <p:sp>
        <p:nvSpPr>
          <p:cNvPr id="10" name="Stage Channels"/>
          <p:cNvSpPr/>
          <p:nvPr/>
        </p:nvSpPr>
        <p:spPr>
          <a:xfrm>
            <a:off x="7275516" y="1976097"/>
            <a:ext cx="1980762" cy="335285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1" name="Header Channels"/>
          <p:cNvSpPr/>
          <p:nvPr/>
        </p:nvSpPr>
        <p:spPr>
          <a:xfrm>
            <a:off x="7495516" y="1976097"/>
            <a:ext cx="673459" cy="32668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Channels</a:t>
            </a:r>
          </a:p>
        </p:txBody>
      </p:sp>
      <p:sp>
        <p:nvSpPr>
          <p:cNvPr id="12" name="Stage Measurement"/>
          <p:cNvSpPr/>
          <p:nvPr/>
        </p:nvSpPr>
        <p:spPr>
          <a:xfrm>
            <a:off x="9445414" y="1976097"/>
            <a:ext cx="1980762" cy="3352852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DA4AF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11827"/>
                </a:solidFill>
              </a:rPr>
              <a:t/>
            </a:r>
          </a:p>
        </p:txBody>
      </p:sp>
      <p:sp>
        <p:nvSpPr>
          <p:cNvPr id="13" name="Header Measurement"/>
          <p:cNvSpPr/>
          <p:nvPr/>
        </p:nvSpPr>
        <p:spPr>
          <a:xfrm>
            <a:off x="9665414" y="1976097"/>
            <a:ext cx="673459" cy="326688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Measurement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2746585" y="3652523"/>
            <a:ext cx="189135" cy="1"/>
          </a:xfrm>
          <a:prstGeom prst="line">
            <a:avLst/>
          </a:prstGeom>
          <a:ln w="19050">
            <a:solidFill>
              <a:srgbClr val="E11D48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4916483" y="3652523"/>
            <a:ext cx="189135" cy="1"/>
          </a:xfrm>
          <a:prstGeom prst="line">
            <a:avLst/>
          </a:prstGeom>
          <a:ln w="19050">
            <a:solidFill>
              <a:srgbClr val="E11D48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7086381" y="3652523"/>
            <a:ext cx="189135" cy="1"/>
          </a:xfrm>
          <a:prstGeom prst="line">
            <a:avLst/>
          </a:prstGeom>
          <a:ln w="19050">
            <a:solidFill>
              <a:srgbClr val="E11D48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9256278" y="3652523"/>
            <a:ext cx="189135" cy="1"/>
          </a:xfrm>
          <a:prstGeom prst="line">
            <a:avLst/>
          </a:prstGeom>
          <a:ln w="19050">
            <a:solidFill>
              <a:srgbClr val="E11D48"/>
            </a:solidFill>
            <a:headEnd type="triangle"/>
          </a:ln>
        </p:spPr>
      </p:cxnSp>
      <p:sp>
        <p:nvSpPr>
          <p:cNvPr id="18" name="Node audience_segments"/>
          <p:cNvSpPr/>
          <p:nvPr/>
        </p:nvSpPr>
        <p:spPr>
          <a:xfrm>
            <a:off x="911973" y="256069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Map user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segments</a:t>
            </a:r>
          </a:p>
        </p:txBody>
      </p:sp>
      <p:sp>
        <p:nvSpPr>
          <p:cNvPr id="19" name="Node audience_jobs"/>
          <p:cNvSpPr/>
          <p:nvPr/>
        </p:nvSpPr>
        <p:spPr>
          <a:xfrm>
            <a:off x="911973" y="323126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Clarify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workflow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jobs</a:t>
            </a:r>
          </a:p>
        </p:txBody>
      </p:sp>
      <p:sp>
        <p:nvSpPr>
          <p:cNvPr id="20" name="Node insight_editable"/>
          <p:cNvSpPr/>
          <p:nvPr/>
        </p:nvSpPr>
        <p:spPr>
          <a:xfrm>
            <a:off x="3081871" y="256069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Lead with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editability</a:t>
            </a:r>
          </a:p>
        </p:txBody>
      </p:sp>
      <p:sp>
        <p:nvSpPr>
          <p:cNvPr id="21" name="Node insight_friction"/>
          <p:cNvSpPr/>
          <p:nvPr/>
        </p:nvSpPr>
        <p:spPr>
          <a:xfrm>
            <a:off x="3081871" y="323126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Remove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drawing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friction</a:t>
            </a:r>
          </a:p>
        </p:txBody>
      </p:sp>
      <p:sp>
        <p:nvSpPr>
          <p:cNvPr id="22" name="Node message_position"/>
          <p:cNvSpPr/>
          <p:nvPr/>
        </p:nvSpPr>
        <p:spPr>
          <a:xfrm>
            <a:off x="5251768" y="256069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Position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workflow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value</a:t>
            </a:r>
          </a:p>
        </p:txBody>
      </p:sp>
      <p:sp>
        <p:nvSpPr>
          <p:cNvPr id="23" name="Node message_proof"/>
          <p:cNvSpPr/>
          <p:nvPr/>
        </p:nvSpPr>
        <p:spPr>
          <a:xfrm>
            <a:off x="5251768" y="323126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Show demo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proof</a:t>
            </a:r>
          </a:p>
        </p:txBody>
      </p:sp>
      <p:sp>
        <p:nvSpPr>
          <p:cNvPr id="24" name="Node channels_github"/>
          <p:cNvSpPr/>
          <p:nvPr/>
        </p:nvSpPr>
        <p:spPr>
          <a:xfrm>
            <a:off x="7421666" y="256069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Use GitHub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hub</a:t>
            </a:r>
          </a:p>
        </p:txBody>
      </p:sp>
      <p:sp>
        <p:nvSpPr>
          <p:cNvPr id="25" name="Node channels_content"/>
          <p:cNvSpPr/>
          <p:nvPr/>
        </p:nvSpPr>
        <p:spPr>
          <a:xfrm>
            <a:off x="7421666" y="323126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Publish demo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content</a:t>
            </a:r>
          </a:p>
        </p:txBody>
      </p:sp>
      <p:sp>
        <p:nvSpPr>
          <p:cNvPr id="26" name="Node measure_metrics"/>
          <p:cNvSpPr/>
          <p:nvPr/>
        </p:nvSpPr>
        <p:spPr>
          <a:xfrm>
            <a:off x="9591564" y="256069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Track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adoption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signals</a:t>
            </a:r>
          </a:p>
        </p:txBody>
      </p:sp>
      <p:sp>
        <p:nvSpPr>
          <p:cNvPr id="27" name="Node measure_feedback"/>
          <p:cNvSpPr/>
          <p:nvPr/>
        </p:nvSpPr>
        <p:spPr>
          <a:xfrm>
            <a:off x="9591564" y="3231267"/>
            <a:ext cx="1688462" cy="5330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7185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111827"/>
                </a:solidFill>
              </a:rPr>
              <a:t>Feed back</a:t>
            </a:r>
          </a:p>
          <a:p>
            <a:pPr algn="ctr"/>
            <a:r>
              <a:rPr lang="zh-CN" sz="930">
                <a:solidFill>
                  <a:srgbClr val="111827"/>
                </a:solidFill>
              </a:rPr>
              <a:t>issues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