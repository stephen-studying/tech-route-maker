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869999" y="533014"/>
            <a:ext cx="10452000" cy="430000"/>
          </a:xfrm>
          <a:prstGeom prst="roundRect">
            <a:avLst/>
          </a:prstGeom>
          <a:solidFill>
            <a:srgbClr val="FFE4E6"/>
          </a:solidFill>
          <a:ln w="12700">
            <a:solidFill>
              <a:srgbClr val="FFE4E6"/>
            </a:solidFill>
          </a:ln>
        </p:spPr>
        <p:txBody>
          <a:bodyPr wrap="square" anchor="ctr"/>
          <a:lstStyle/>
          <a:p>
            <a:pPr algn="ctr"/>
            <a:r>
              <a:rPr lang="en-US" sz="2100" b="1">
                <a:solidFill>
                  <a:srgbClr val="111827"/>
                </a:solidFill>
              </a:rPr>
              <a:t>Legacy Campaign</a:t>
            </a:r>
          </a:p>
          <a:p>
            <a:pPr algn="ctr"/>
            <a:r>
              <a:rPr lang="en-US" sz="2100" b="1">
                <a:solidFill>
                  <a:srgbClr val="111827"/>
                </a:solidFill>
              </a:rPr>
              <a:t>Strategy Route</a:t>
            </a:r>
          </a:p>
        </p:txBody>
      </p:sp>
      <p:sp>
        <p:nvSpPr>
          <p:cNvPr id="3" name="Subtitle"/>
          <p:cNvSpPr/>
          <p:nvPr/>
        </p:nvSpPr>
        <p:spPr>
          <a:xfrm>
            <a:off x="1699999" y="978014"/>
            <a:ext cx="8792000" cy="1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850">
                <a:solidFill>
                  <a:srgbClr val="5B6472"/>
                </a:solidFill>
              </a:rPr>
              <a:t>Experimental</a:t>
            </a:r>
          </a:p>
          <a:p>
            <a:pPr algn="ctr"/>
            <a:r>
              <a:rPr lang="en-US" sz="850">
                <a:solidFill>
                  <a:srgbClr val="5B6472"/>
                </a:solidFill>
              </a:rPr>
              <a:t>campaign route</a:t>
            </a:r>
          </a:p>
          <a:p>
            <a:pPr algn="ctr"/>
            <a:r>
              <a:rPr lang="en-US" sz="850">
                <a:solidFill>
                  <a:srgbClr val="5B6472"/>
                </a:solidFill>
              </a:rPr>
              <a:t>retained for</a:t>
            </a:r>
          </a:p>
          <a:p>
            <a:pPr algn="ctr"/>
            <a:r>
              <a:rPr lang="en-US" sz="850">
                <a:solidFill>
                  <a:srgbClr val="5B6472"/>
                </a:solidFill>
              </a:rPr>
              <a:t>explicit...</a:t>
            </a:r>
          </a:p>
        </p:txBody>
      </p:sp>
      <p:sp>
        <p:nvSpPr>
          <p:cNvPr id="4" name="Stage Audience"/>
          <p:cNvSpPr/>
          <p:nvPr/>
        </p:nvSpPr>
        <p:spPr>
          <a:xfrm>
            <a:off x="765823" y="1976097"/>
            <a:ext cx="1980762" cy="3352852"/>
          </a:xfrm>
          <a:prstGeom prst="roundRect">
            <a:avLst/>
          </a:prstGeom>
          <a:solidFill>
            <a:srgbClr val="FFE4E6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5" name="Header Audience"/>
          <p:cNvSpPr/>
          <p:nvPr/>
        </p:nvSpPr>
        <p:spPr>
          <a:xfrm>
            <a:off x="765823" y="1976097"/>
            <a:ext cx="1980762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Audience</a:t>
            </a:r>
          </a:p>
        </p:txBody>
      </p:sp>
      <p:sp>
        <p:nvSpPr>
          <p:cNvPr id="6" name="Stage Insight"/>
          <p:cNvSpPr/>
          <p:nvPr/>
        </p:nvSpPr>
        <p:spPr>
          <a:xfrm>
            <a:off x="2935721" y="1976097"/>
            <a:ext cx="1980762" cy="335285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7" name="Header Insight"/>
          <p:cNvSpPr/>
          <p:nvPr/>
        </p:nvSpPr>
        <p:spPr>
          <a:xfrm>
            <a:off x="2935721" y="1976097"/>
            <a:ext cx="1980762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Insight</a:t>
            </a:r>
          </a:p>
        </p:txBody>
      </p:sp>
      <p:sp>
        <p:nvSpPr>
          <p:cNvPr id="8" name="Stage Message"/>
          <p:cNvSpPr/>
          <p:nvPr/>
        </p:nvSpPr>
        <p:spPr>
          <a:xfrm>
            <a:off x="5105618" y="1976097"/>
            <a:ext cx="1980762" cy="335285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9" name="Header Message"/>
          <p:cNvSpPr/>
          <p:nvPr/>
        </p:nvSpPr>
        <p:spPr>
          <a:xfrm>
            <a:off x="5105618" y="1976097"/>
            <a:ext cx="1980762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Message</a:t>
            </a:r>
          </a:p>
        </p:txBody>
      </p:sp>
      <p:sp>
        <p:nvSpPr>
          <p:cNvPr id="10" name="Stage Channels"/>
          <p:cNvSpPr/>
          <p:nvPr/>
        </p:nvSpPr>
        <p:spPr>
          <a:xfrm>
            <a:off x="7275516" y="1976097"/>
            <a:ext cx="1980762" cy="3352852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11" name="Header Channels"/>
          <p:cNvSpPr/>
          <p:nvPr/>
        </p:nvSpPr>
        <p:spPr>
          <a:xfrm>
            <a:off x="7275516" y="1976097"/>
            <a:ext cx="1980762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Channels</a:t>
            </a:r>
          </a:p>
        </p:txBody>
      </p:sp>
      <p:sp>
        <p:nvSpPr>
          <p:cNvPr id="12" name="Stage Measurement"/>
          <p:cNvSpPr/>
          <p:nvPr/>
        </p:nvSpPr>
        <p:spPr>
          <a:xfrm>
            <a:off x="9445414" y="1976097"/>
            <a:ext cx="1980762" cy="3352852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13" name="Header Measurement"/>
          <p:cNvSpPr/>
          <p:nvPr/>
        </p:nvSpPr>
        <p:spPr>
          <a:xfrm>
            <a:off x="9445414" y="1976097"/>
            <a:ext cx="1980762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Measurement</a:t>
            </a:r>
          </a:p>
        </p:txBody>
      </p:sp>
      <p:cxnSp>
        <p:nvCxnSpPr>
          <p:cNvPr id="14" name="Connector 14"/>
          <p:cNvCxnSpPr/>
          <p:nvPr/>
        </p:nvCxnSpPr>
        <p:spPr>
          <a:xfrm>
            <a:off x="1756204" y="2827205"/>
            <a:ext cx="1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 flipV="1">
            <a:off x="1756204" y="2827205"/>
            <a:ext cx="2169897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3926102" y="2827205"/>
            <a:ext cx="1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 flipV="1">
            <a:off x="3926102" y="2827205"/>
            <a:ext cx="2169897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8" name="Connector 18"/>
          <p:cNvCxnSpPr/>
          <p:nvPr/>
        </p:nvCxnSpPr>
        <p:spPr>
          <a:xfrm>
            <a:off x="6095999" y="2827205"/>
            <a:ext cx="1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9" name="Connector 19"/>
          <p:cNvCxnSpPr/>
          <p:nvPr/>
        </p:nvCxnSpPr>
        <p:spPr>
          <a:xfrm flipV="1">
            <a:off x="6095999" y="2827205"/>
            <a:ext cx="2169897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20" name="Connector 20"/>
          <p:cNvCxnSpPr/>
          <p:nvPr/>
        </p:nvCxnSpPr>
        <p:spPr>
          <a:xfrm>
            <a:off x="8265897" y="2827205"/>
            <a:ext cx="1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 flipV="1">
            <a:off x="8265897" y="2827205"/>
            <a:ext cx="2169897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22" name="Connector 22"/>
          <p:cNvCxnSpPr/>
          <p:nvPr/>
        </p:nvCxnSpPr>
        <p:spPr>
          <a:xfrm>
            <a:off x="10435795" y="2827205"/>
            <a:ext cx="1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23" name="Connector 23"/>
          <p:cNvCxnSpPr/>
          <p:nvPr/>
        </p:nvCxnSpPr>
        <p:spPr>
          <a:xfrm flipH="1" flipV="1">
            <a:off x="6095999" y="2827205"/>
            <a:ext cx="4339795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sp>
        <p:nvSpPr>
          <p:cNvPr id="24" name="Node audience_segments"/>
          <p:cNvSpPr/>
          <p:nvPr/>
        </p:nvSpPr>
        <p:spPr>
          <a:xfrm>
            <a:off x="911973" y="256069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Map user segments</a:t>
            </a:r>
          </a:p>
        </p:txBody>
      </p:sp>
      <p:sp>
        <p:nvSpPr>
          <p:cNvPr id="25" name="Node audience_jobs"/>
          <p:cNvSpPr/>
          <p:nvPr/>
        </p:nvSpPr>
        <p:spPr>
          <a:xfrm>
            <a:off x="911973" y="323126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Clarify workflow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jobs</a:t>
            </a:r>
          </a:p>
        </p:txBody>
      </p:sp>
      <p:sp>
        <p:nvSpPr>
          <p:cNvPr id="26" name="Node insight_editable"/>
          <p:cNvSpPr/>
          <p:nvPr/>
        </p:nvSpPr>
        <p:spPr>
          <a:xfrm>
            <a:off x="3081871" y="256069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Lead with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editability</a:t>
            </a:r>
          </a:p>
        </p:txBody>
      </p:sp>
      <p:sp>
        <p:nvSpPr>
          <p:cNvPr id="27" name="Node insight_friction"/>
          <p:cNvSpPr/>
          <p:nvPr/>
        </p:nvSpPr>
        <p:spPr>
          <a:xfrm>
            <a:off x="3081871" y="323126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Remove drawing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friction</a:t>
            </a:r>
          </a:p>
        </p:txBody>
      </p:sp>
      <p:sp>
        <p:nvSpPr>
          <p:cNvPr id="28" name="Node message_position"/>
          <p:cNvSpPr/>
          <p:nvPr/>
        </p:nvSpPr>
        <p:spPr>
          <a:xfrm>
            <a:off x="5251768" y="256069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Position workflow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value</a:t>
            </a:r>
          </a:p>
        </p:txBody>
      </p:sp>
      <p:sp>
        <p:nvSpPr>
          <p:cNvPr id="29" name="Node message_proof"/>
          <p:cNvSpPr/>
          <p:nvPr/>
        </p:nvSpPr>
        <p:spPr>
          <a:xfrm>
            <a:off x="5251768" y="323126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Show demo proof</a:t>
            </a:r>
          </a:p>
        </p:txBody>
      </p:sp>
      <p:sp>
        <p:nvSpPr>
          <p:cNvPr id="30" name="Node channels_github"/>
          <p:cNvSpPr/>
          <p:nvPr/>
        </p:nvSpPr>
        <p:spPr>
          <a:xfrm>
            <a:off x="7421666" y="256069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Use GitHub hub</a:t>
            </a:r>
          </a:p>
        </p:txBody>
      </p:sp>
      <p:sp>
        <p:nvSpPr>
          <p:cNvPr id="31" name="Node channels_content"/>
          <p:cNvSpPr/>
          <p:nvPr/>
        </p:nvSpPr>
        <p:spPr>
          <a:xfrm>
            <a:off x="7421666" y="323126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Publish demo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content</a:t>
            </a:r>
          </a:p>
        </p:txBody>
      </p:sp>
      <p:sp>
        <p:nvSpPr>
          <p:cNvPr id="32" name="Node measure_metrics"/>
          <p:cNvSpPr/>
          <p:nvPr/>
        </p:nvSpPr>
        <p:spPr>
          <a:xfrm>
            <a:off x="9591564" y="256069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Track adoption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signals</a:t>
            </a:r>
          </a:p>
        </p:txBody>
      </p:sp>
      <p:sp>
        <p:nvSpPr>
          <p:cNvPr id="33" name="Node measure_feedback"/>
          <p:cNvSpPr/>
          <p:nvPr/>
        </p:nvSpPr>
        <p:spPr>
          <a:xfrm>
            <a:off x="9591564" y="323126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Feed back issues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