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1725039" y="270000"/>
            <a:ext cx="8741920" cy="430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F9FAFB"/>
            </a:solidFill>
          </a:ln>
        </p:spPr>
        <p:txBody>
          <a:bodyPr wrap="square" anchor="ctr"/>
          <a:lstStyle/>
          <a:p>
            <a:pPr algn="ctr"/>
            <a:r>
              <a:rPr lang="en-US" sz="2100" b="1">
                <a:solidFill>
                  <a:srgbClr val="111827"/>
                </a:solidFill>
              </a:rPr>
              <a:t>Document</a:t>
            </a:r>
          </a:p>
          <a:p>
            <a:pPr algn="ctr"/>
            <a:r>
              <a:rPr lang="en-US" sz="2100" b="1">
                <a:solidFill>
                  <a:srgbClr val="111827"/>
                </a:solidFill>
              </a:rPr>
              <a:t>Intelligence</a:t>
            </a:r>
          </a:p>
          <a:p>
            <a:pPr algn="ctr"/>
            <a:r>
              <a:rPr lang="en-US" sz="2100" b="1">
                <a:solidFill>
                  <a:srgbClr val="111827"/>
                </a:solidFill>
              </a:rPr>
              <a:t>System Technical</a:t>
            </a:r>
          </a:p>
          <a:p>
            <a:pPr algn="ctr"/>
            <a:r>
              <a:rPr lang="en-US" sz="2100" b="1">
                <a:solidFill>
                  <a:srgbClr val="111827"/>
                </a:solidFill>
              </a:rPr>
              <a:t>Route</a:t>
            </a:r>
          </a:p>
        </p:txBody>
      </p:sp>
      <p:sp>
        <p:nvSpPr>
          <p:cNvPr id="3" name="Subtitle"/>
          <p:cNvSpPr/>
          <p:nvPr/>
        </p:nvSpPr>
        <p:spPr>
          <a:xfrm>
            <a:off x="2555039" y="715000"/>
            <a:ext cx="7081920" cy="1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850">
                <a:solidFill>
                  <a:srgbClr val="4B5563"/>
                </a:solidFill>
              </a:rPr>
              <a:t>Editable system</a:t>
            </a:r>
          </a:p>
          <a:p>
            <a:pPr algn="ctr"/>
            <a:r>
              <a:rPr lang="en-US" sz="850">
                <a:solidFill>
                  <a:srgbClr val="4B5563"/>
                </a:solidFill>
              </a:rPr>
              <a:t>architecture route</a:t>
            </a:r>
          </a:p>
          <a:p>
            <a:pPr algn="ctr"/>
            <a:r>
              <a:rPr lang="en-US" sz="850">
                <a:solidFill>
                  <a:srgbClr val="4B5563"/>
                </a:solidFill>
              </a:rPr>
              <a:t>generated by</a:t>
            </a:r>
          </a:p>
          <a:p>
            <a:pPr algn="ctr"/>
            <a:r>
              <a:rPr lang="en-US" sz="850">
                <a:solidFill>
                  <a:srgbClr val="4B5563"/>
                </a:solidFill>
              </a:rPr>
              <a:t>tech-route-maker</a:t>
            </a:r>
          </a:p>
        </p:txBody>
      </p:sp>
      <p:sp>
        <p:nvSpPr>
          <p:cNvPr id="4" name="Stage User Input"/>
          <p:cNvSpPr/>
          <p:nvPr/>
        </p:nvSpPr>
        <p:spPr>
          <a:xfrm>
            <a:off x="2904810" y="1334309"/>
            <a:ext cx="7622557" cy="862074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9CA3AF"/>
            </a:solidFill>
          </a:ln>
        </p:spPr>
        <p:txBody>
          <a:bodyPr wrap="square" anchor="ctr"/>
          <a:lstStyle/>
          <a:p>
            <a:pPr algn="ctr"/>
            <a:r>
              <a:rPr lang="en-US" sz="1000">
                <a:solidFill>
                  <a:srgbClr val="111827"/>
                </a:solidFill>
              </a:rPr>
              <a:t/>
            </a:r>
          </a:p>
        </p:txBody>
      </p:sp>
      <p:sp>
        <p:nvSpPr>
          <p:cNvPr id="5" name="Label User Input"/>
          <p:cNvSpPr/>
          <p:nvPr/>
        </p:nvSpPr>
        <p:spPr>
          <a:xfrm>
            <a:off x="1543639" y="1334309"/>
            <a:ext cx="1104060" cy="862074"/>
          </a:xfrm>
          <a:prstGeom prst="roundRect">
            <a:avLst/>
          </a:prstGeom>
          <a:solidFill>
            <a:srgbClr val="374151"/>
          </a:solidFill>
          <a:ln w="12700">
            <a:solidFill>
              <a:srgbClr val="374151"/>
            </a:solidFill>
          </a:ln>
        </p:spPr>
        <p:txBody>
          <a:bodyPr wrap="square" anchor="ctr"/>
          <a:lstStyle/>
          <a:p>
            <a:pPr algn="ctr"/>
            <a:r>
              <a:rPr lang="en-US" sz="1050" b="1">
                <a:solidFill>
                  <a:srgbClr val="FFFFFF"/>
                </a:solidFill>
              </a:rPr>
              <a:t>User Input</a:t>
            </a:r>
          </a:p>
        </p:txBody>
      </p:sp>
      <p:sp>
        <p:nvSpPr>
          <p:cNvPr id="6" name="Stage Data Layer"/>
          <p:cNvSpPr/>
          <p:nvPr/>
        </p:nvSpPr>
        <p:spPr>
          <a:xfrm>
            <a:off x="2904810" y="2332501"/>
            <a:ext cx="7622557" cy="862074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anchor="ctr"/>
          <a:lstStyle/>
          <a:p>
            <a:pPr algn="ctr"/>
            <a:r>
              <a:rPr lang="en-US" sz="1000">
                <a:solidFill>
                  <a:srgbClr val="111827"/>
                </a:solidFill>
              </a:rPr>
              <a:t/>
            </a:r>
          </a:p>
        </p:txBody>
      </p:sp>
      <p:sp>
        <p:nvSpPr>
          <p:cNvPr id="7" name="Label Data Layer"/>
          <p:cNvSpPr/>
          <p:nvPr/>
        </p:nvSpPr>
        <p:spPr>
          <a:xfrm>
            <a:off x="1543639" y="2332501"/>
            <a:ext cx="1104060" cy="862074"/>
          </a:xfrm>
          <a:prstGeom prst="roundRect">
            <a:avLst/>
          </a:prstGeom>
          <a:solidFill>
            <a:srgbClr val="374151"/>
          </a:solidFill>
          <a:ln w="12700">
            <a:solidFill>
              <a:srgbClr val="374151"/>
            </a:solidFill>
          </a:ln>
        </p:spPr>
        <p:txBody>
          <a:bodyPr wrap="square" anchor="ctr"/>
          <a:lstStyle/>
          <a:p>
            <a:pPr algn="ctr"/>
            <a:r>
              <a:rPr lang="en-US" sz="1050" b="1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8" name="Stage Service Layer"/>
          <p:cNvSpPr/>
          <p:nvPr/>
        </p:nvSpPr>
        <p:spPr>
          <a:xfrm>
            <a:off x="2904810" y="3330693"/>
            <a:ext cx="7622557" cy="86207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9CA3AF"/>
            </a:solidFill>
          </a:ln>
        </p:spPr>
        <p:txBody>
          <a:bodyPr wrap="square" anchor="ctr"/>
          <a:lstStyle/>
          <a:p>
            <a:pPr algn="ctr"/>
            <a:r>
              <a:rPr lang="en-US" sz="1000">
                <a:solidFill>
                  <a:srgbClr val="111827"/>
                </a:solidFill>
              </a:rPr>
              <a:t/>
            </a:r>
          </a:p>
        </p:txBody>
      </p:sp>
      <p:sp>
        <p:nvSpPr>
          <p:cNvPr id="9" name="Label Service Layer"/>
          <p:cNvSpPr/>
          <p:nvPr/>
        </p:nvSpPr>
        <p:spPr>
          <a:xfrm>
            <a:off x="1543639" y="3330693"/>
            <a:ext cx="1104060" cy="862074"/>
          </a:xfrm>
          <a:prstGeom prst="roundRect">
            <a:avLst/>
          </a:prstGeom>
          <a:solidFill>
            <a:srgbClr val="374151"/>
          </a:solidFill>
          <a:ln w="12700">
            <a:solidFill>
              <a:srgbClr val="374151"/>
            </a:solidFill>
          </a:ln>
        </p:spPr>
        <p:txBody>
          <a:bodyPr wrap="square" anchor="ctr"/>
          <a:lstStyle/>
          <a:p>
            <a:pPr algn="ctr"/>
            <a:r>
              <a:rPr lang="en-US" sz="1050" b="1">
                <a:solidFill>
                  <a:srgbClr val="FFFFFF"/>
                </a:solidFill>
              </a:rPr>
              <a:t>Service Layer</a:t>
            </a:r>
          </a:p>
        </p:txBody>
      </p:sp>
      <p:sp>
        <p:nvSpPr>
          <p:cNvPr id="10" name="Stage Rendering Layer"/>
          <p:cNvSpPr/>
          <p:nvPr/>
        </p:nvSpPr>
        <p:spPr>
          <a:xfrm>
            <a:off x="2904810" y="4328885"/>
            <a:ext cx="7622557" cy="862074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9CA3AF"/>
            </a:solidFill>
          </a:ln>
        </p:spPr>
        <p:txBody>
          <a:bodyPr wrap="square" anchor="ctr"/>
          <a:lstStyle/>
          <a:p>
            <a:pPr algn="ctr"/>
            <a:r>
              <a:rPr lang="en-US" sz="1000">
                <a:solidFill>
                  <a:srgbClr val="111827"/>
                </a:solidFill>
              </a:rPr>
              <a:t/>
            </a:r>
          </a:p>
        </p:txBody>
      </p:sp>
      <p:sp>
        <p:nvSpPr>
          <p:cNvPr id="11" name="Label Rendering Layer"/>
          <p:cNvSpPr/>
          <p:nvPr/>
        </p:nvSpPr>
        <p:spPr>
          <a:xfrm>
            <a:off x="1543639" y="4328885"/>
            <a:ext cx="1104060" cy="862074"/>
          </a:xfrm>
          <a:prstGeom prst="roundRect">
            <a:avLst/>
          </a:prstGeom>
          <a:solidFill>
            <a:srgbClr val="374151"/>
          </a:solidFill>
          <a:ln w="12700">
            <a:solidFill>
              <a:srgbClr val="374151"/>
            </a:solidFill>
          </a:ln>
        </p:spPr>
        <p:txBody>
          <a:bodyPr wrap="square" anchor="ctr"/>
          <a:lstStyle/>
          <a:p>
            <a:pPr algn="ctr"/>
            <a:r>
              <a:rPr lang="en-US" sz="1050" b="1">
                <a:solidFill>
                  <a:srgbClr val="FFFFFF"/>
                </a:solidFill>
              </a:rPr>
              <a:t>Rendering Layer</a:t>
            </a:r>
          </a:p>
        </p:txBody>
      </p:sp>
      <p:sp>
        <p:nvSpPr>
          <p:cNvPr id="12" name="Stage Quality Release"/>
          <p:cNvSpPr/>
          <p:nvPr/>
        </p:nvSpPr>
        <p:spPr>
          <a:xfrm>
            <a:off x="2904810" y="5327077"/>
            <a:ext cx="7622557" cy="862074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9CA3AF"/>
            </a:solidFill>
          </a:ln>
        </p:spPr>
        <p:txBody>
          <a:bodyPr wrap="square" anchor="ctr"/>
          <a:lstStyle/>
          <a:p>
            <a:pPr algn="ctr"/>
            <a:r>
              <a:rPr lang="en-US" sz="1000">
                <a:solidFill>
                  <a:srgbClr val="111827"/>
                </a:solidFill>
              </a:rPr>
              <a:t/>
            </a:r>
          </a:p>
        </p:txBody>
      </p:sp>
      <p:sp>
        <p:nvSpPr>
          <p:cNvPr id="13" name="Label Quality Release"/>
          <p:cNvSpPr/>
          <p:nvPr/>
        </p:nvSpPr>
        <p:spPr>
          <a:xfrm>
            <a:off x="1543639" y="5327077"/>
            <a:ext cx="1104060" cy="862074"/>
          </a:xfrm>
          <a:prstGeom prst="roundRect">
            <a:avLst/>
          </a:prstGeom>
          <a:solidFill>
            <a:srgbClr val="374151"/>
          </a:solidFill>
          <a:ln w="12700">
            <a:solidFill>
              <a:srgbClr val="374151"/>
            </a:solidFill>
          </a:ln>
        </p:spPr>
        <p:txBody>
          <a:bodyPr wrap="square" anchor="ctr"/>
          <a:lstStyle/>
          <a:p>
            <a:pPr algn="ctr"/>
            <a:r>
              <a:rPr lang="en-US" sz="1050" b="1">
                <a:solidFill>
                  <a:srgbClr val="FFFFFF"/>
                </a:solidFill>
              </a:rPr>
              <a:t>Quality Release</a:t>
            </a:r>
          </a:p>
        </p:txBody>
      </p:sp>
      <p:cxnSp>
        <p:nvCxnSpPr>
          <p:cNvPr id="14" name="Connector 14"/>
          <p:cNvCxnSpPr/>
          <p:nvPr/>
        </p:nvCxnSpPr>
        <p:spPr>
          <a:xfrm>
            <a:off x="4908756" y="1765346"/>
            <a:ext cx="3614665" cy="1"/>
          </a:xfrm>
          <a:prstGeom prst="line">
            <a:avLst/>
          </a:prstGeom>
          <a:ln w="19050">
            <a:solidFill>
              <a:srgbClr val="1F2937"/>
            </a:solidFill>
            <a:headEnd type="triangle"/>
          </a:ln>
        </p:spPr>
      </p:cxnSp>
      <p:cxnSp>
        <p:nvCxnSpPr>
          <p:cNvPr id="15" name="Connector 15"/>
          <p:cNvCxnSpPr/>
          <p:nvPr/>
        </p:nvCxnSpPr>
        <p:spPr>
          <a:xfrm flipH="1">
            <a:off x="4306312" y="1765346"/>
            <a:ext cx="4217109" cy="998192"/>
          </a:xfrm>
          <a:prstGeom prst="line">
            <a:avLst/>
          </a:prstGeom>
          <a:ln w="19050">
            <a:solidFill>
              <a:srgbClr val="1F2937"/>
            </a:solidFill>
            <a:headEnd type="triangle"/>
          </a:ln>
        </p:spPr>
      </p:cxnSp>
      <p:cxnSp>
        <p:nvCxnSpPr>
          <p:cNvPr id="16" name="Connector 16"/>
          <p:cNvCxnSpPr/>
          <p:nvPr/>
        </p:nvCxnSpPr>
        <p:spPr>
          <a:xfrm>
            <a:off x="4306312" y="2763538"/>
            <a:ext cx="2409776" cy="1"/>
          </a:xfrm>
          <a:prstGeom prst="line">
            <a:avLst/>
          </a:prstGeom>
          <a:ln w="19050">
            <a:solidFill>
              <a:srgbClr val="1F2937"/>
            </a:solidFill>
            <a:headEnd type="triangle"/>
          </a:ln>
        </p:spPr>
      </p:cxnSp>
      <p:cxnSp>
        <p:nvCxnSpPr>
          <p:cNvPr id="17" name="Connector 17"/>
          <p:cNvCxnSpPr/>
          <p:nvPr/>
        </p:nvCxnSpPr>
        <p:spPr>
          <a:xfrm>
            <a:off x="6716088" y="2763538"/>
            <a:ext cx="2409776" cy="1"/>
          </a:xfrm>
          <a:prstGeom prst="line">
            <a:avLst/>
          </a:prstGeom>
          <a:ln w="19050">
            <a:solidFill>
              <a:srgbClr val="1F2937"/>
            </a:solidFill>
            <a:headEnd type="triangle"/>
          </a:ln>
        </p:spPr>
      </p:cxnSp>
      <p:cxnSp>
        <p:nvCxnSpPr>
          <p:cNvPr id="18" name="Connector 18"/>
          <p:cNvCxnSpPr/>
          <p:nvPr/>
        </p:nvCxnSpPr>
        <p:spPr>
          <a:xfrm flipH="1">
            <a:off x="4306312" y="2763538"/>
            <a:ext cx="4819553" cy="998192"/>
          </a:xfrm>
          <a:prstGeom prst="line">
            <a:avLst/>
          </a:prstGeom>
          <a:ln w="19050">
            <a:solidFill>
              <a:srgbClr val="1F2937"/>
            </a:solidFill>
            <a:headEnd type="triangle"/>
          </a:ln>
        </p:spPr>
      </p:cxnSp>
      <p:cxnSp>
        <p:nvCxnSpPr>
          <p:cNvPr id="19" name="Connector 19"/>
          <p:cNvCxnSpPr/>
          <p:nvPr/>
        </p:nvCxnSpPr>
        <p:spPr>
          <a:xfrm>
            <a:off x="4306312" y="3761730"/>
            <a:ext cx="2409776" cy="1"/>
          </a:xfrm>
          <a:prstGeom prst="line">
            <a:avLst/>
          </a:prstGeom>
          <a:ln w="19050">
            <a:solidFill>
              <a:srgbClr val="1F2937"/>
            </a:solidFill>
            <a:headEnd type="triangle"/>
          </a:ln>
        </p:spPr>
      </p:cxnSp>
      <p:cxnSp>
        <p:nvCxnSpPr>
          <p:cNvPr id="20" name="Connector 20"/>
          <p:cNvCxnSpPr/>
          <p:nvPr/>
        </p:nvCxnSpPr>
        <p:spPr>
          <a:xfrm>
            <a:off x="6716088" y="3761730"/>
            <a:ext cx="2409776" cy="1"/>
          </a:xfrm>
          <a:prstGeom prst="line">
            <a:avLst/>
          </a:prstGeom>
          <a:ln w="19050">
            <a:solidFill>
              <a:srgbClr val="1F2937"/>
            </a:solidFill>
            <a:headEnd type="triangle"/>
          </a:ln>
        </p:spPr>
      </p:cxnSp>
      <p:cxnSp>
        <p:nvCxnSpPr>
          <p:cNvPr id="21" name="Connector 21"/>
          <p:cNvCxnSpPr/>
          <p:nvPr/>
        </p:nvCxnSpPr>
        <p:spPr>
          <a:xfrm flipH="1">
            <a:off x="4306312" y="3761730"/>
            <a:ext cx="4819553" cy="998192"/>
          </a:xfrm>
          <a:prstGeom prst="line">
            <a:avLst/>
          </a:prstGeom>
          <a:ln w="19050">
            <a:solidFill>
              <a:srgbClr val="1F2937"/>
            </a:solidFill>
            <a:headEnd type="triangle"/>
          </a:ln>
        </p:spPr>
      </p:cxnSp>
      <p:cxnSp>
        <p:nvCxnSpPr>
          <p:cNvPr id="22" name="Connector 22"/>
          <p:cNvCxnSpPr/>
          <p:nvPr/>
        </p:nvCxnSpPr>
        <p:spPr>
          <a:xfrm flipH="1">
            <a:off x="6716088" y="3761730"/>
            <a:ext cx="2409776" cy="998192"/>
          </a:xfrm>
          <a:prstGeom prst="line">
            <a:avLst/>
          </a:prstGeom>
          <a:ln w="19050">
            <a:solidFill>
              <a:srgbClr val="1F2937"/>
            </a:solidFill>
            <a:headEnd type="triangle"/>
          </a:ln>
        </p:spPr>
      </p:cxnSp>
      <p:cxnSp>
        <p:nvCxnSpPr>
          <p:cNvPr id="23" name="Connector 23"/>
          <p:cNvCxnSpPr/>
          <p:nvPr/>
        </p:nvCxnSpPr>
        <p:spPr>
          <a:xfrm>
            <a:off x="9125865" y="3761730"/>
            <a:ext cx="1" cy="998192"/>
          </a:xfrm>
          <a:prstGeom prst="line">
            <a:avLst/>
          </a:prstGeom>
          <a:ln w="19050">
            <a:solidFill>
              <a:srgbClr val="1F2937"/>
            </a:solidFill>
            <a:headEnd type="triangle"/>
          </a:ln>
        </p:spPr>
      </p:cxnSp>
      <p:cxnSp>
        <p:nvCxnSpPr>
          <p:cNvPr id="24" name="Connector 24"/>
          <p:cNvCxnSpPr/>
          <p:nvPr/>
        </p:nvCxnSpPr>
        <p:spPr>
          <a:xfrm flipH="1">
            <a:off x="4908756" y="4759922"/>
            <a:ext cx="1807332" cy="998192"/>
          </a:xfrm>
          <a:prstGeom prst="line">
            <a:avLst/>
          </a:prstGeom>
          <a:ln w="19050">
            <a:solidFill>
              <a:srgbClr val="1F2937"/>
            </a:solidFill>
            <a:headEnd type="triangle"/>
          </a:ln>
        </p:spPr>
      </p:cxnSp>
      <p:cxnSp>
        <p:nvCxnSpPr>
          <p:cNvPr id="25" name="Connector 25"/>
          <p:cNvCxnSpPr/>
          <p:nvPr/>
        </p:nvCxnSpPr>
        <p:spPr>
          <a:xfrm>
            <a:off x="4908756" y="5758114"/>
            <a:ext cx="3614665" cy="1"/>
          </a:xfrm>
          <a:prstGeom prst="line">
            <a:avLst/>
          </a:prstGeom>
          <a:ln w="19050">
            <a:solidFill>
              <a:srgbClr val="1F2937"/>
            </a:solidFill>
            <a:headEnd type="triangle"/>
          </a:ln>
        </p:spPr>
      </p:cxnSp>
      <p:sp>
        <p:nvSpPr>
          <p:cNvPr id="26" name="Node input_files"/>
          <p:cNvSpPr/>
          <p:nvPr/>
        </p:nvSpPr>
        <p:spPr>
          <a:xfrm>
            <a:off x="3169482" y="1546046"/>
            <a:ext cx="3478548" cy="4385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 wrap="square" anchor="ctr"/>
          <a:lstStyle/>
          <a:p>
            <a:pPr algn="ctr"/>
            <a:r>
              <a:rPr lang="en-US" sz="1050">
                <a:solidFill>
                  <a:srgbClr val="111827"/>
                </a:solidFill>
              </a:rPr>
              <a:t>Receive files</a:t>
            </a:r>
          </a:p>
        </p:txBody>
      </p:sp>
      <p:sp>
        <p:nvSpPr>
          <p:cNvPr id="27" name="Node input_options"/>
          <p:cNvSpPr/>
          <p:nvPr/>
        </p:nvSpPr>
        <p:spPr>
          <a:xfrm>
            <a:off x="6784147" y="1546046"/>
            <a:ext cx="3478548" cy="4385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 wrap="square" anchor="ctr"/>
          <a:lstStyle/>
          <a:p>
            <a:pPr algn="ctr"/>
            <a:r>
              <a:rPr lang="en-US" sz="1050">
                <a:solidFill>
                  <a:srgbClr val="111827"/>
                </a:solidFill>
              </a:rPr>
              <a:t>Capture output</a:t>
            </a:r>
          </a:p>
          <a:p>
            <a:pPr algn="ctr"/>
            <a:r>
              <a:rPr lang="en-US" sz="1050">
                <a:solidFill>
                  <a:srgbClr val="111827"/>
                </a:solidFill>
              </a:rPr>
              <a:t>choices</a:t>
            </a:r>
          </a:p>
        </p:txBody>
      </p:sp>
      <p:sp>
        <p:nvSpPr>
          <p:cNvPr id="28" name="Node data_ingest"/>
          <p:cNvSpPr/>
          <p:nvPr/>
        </p:nvSpPr>
        <p:spPr>
          <a:xfrm>
            <a:off x="3169482" y="2544238"/>
            <a:ext cx="2273659" cy="4385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 wrap="square" anchor="ctr"/>
          <a:lstStyle/>
          <a:p>
            <a:pPr algn="ctr"/>
            <a:r>
              <a:rPr lang="en-US" sz="1050">
                <a:solidFill>
                  <a:srgbClr val="111827"/>
                </a:solidFill>
              </a:rPr>
              <a:t>Ingest sources</a:t>
            </a:r>
          </a:p>
        </p:txBody>
      </p:sp>
      <p:sp>
        <p:nvSpPr>
          <p:cNvPr id="29" name="Node data_store"/>
          <p:cNvSpPr/>
          <p:nvPr/>
        </p:nvSpPr>
        <p:spPr>
          <a:xfrm>
            <a:off x="5579259" y="2544238"/>
            <a:ext cx="2273659" cy="4385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 wrap="square" anchor="ctr"/>
          <a:lstStyle/>
          <a:p>
            <a:pPr algn="ctr"/>
            <a:r>
              <a:rPr lang="en-US" sz="1050">
                <a:solidFill>
                  <a:srgbClr val="111827"/>
                </a:solidFill>
              </a:rPr>
              <a:t>Build normalized</a:t>
            </a:r>
          </a:p>
          <a:p>
            <a:pPr algn="ctr"/>
            <a:r>
              <a:rPr lang="en-US" sz="1050">
                <a:solidFill>
                  <a:srgbClr val="111827"/>
                </a:solidFill>
              </a:rPr>
              <a:t>store</a:t>
            </a:r>
          </a:p>
        </p:txBody>
      </p:sp>
      <p:sp>
        <p:nvSpPr>
          <p:cNvPr id="30" name="Node data_trace"/>
          <p:cNvSpPr/>
          <p:nvPr/>
        </p:nvSpPr>
        <p:spPr>
          <a:xfrm>
            <a:off x="7989035" y="2544238"/>
            <a:ext cx="2273659" cy="4385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 wrap="square" anchor="ctr"/>
          <a:lstStyle/>
          <a:p>
            <a:pPr algn="ctr"/>
            <a:r>
              <a:rPr lang="en-US" sz="1050">
                <a:solidFill>
                  <a:srgbClr val="111827"/>
                </a:solidFill>
              </a:rPr>
              <a:t>Track provenance</a:t>
            </a:r>
          </a:p>
        </p:txBody>
      </p:sp>
      <p:sp>
        <p:nvSpPr>
          <p:cNvPr id="31" name="Node service_extract"/>
          <p:cNvSpPr/>
          <p:nvPr/>
        </p:nvSpPr>
        <p:spPr>
          <a:xfrm>
            <a:off x="3169482" y="3542430"/>
            <a:ext cx="2273659" cy="4385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 wrap="square" anchor="ctr"/>
          <a:lstStyle/>
          <a:p>
            <a:pPr algn="ctr"/>
            <a:r>
              <a:rPr lang="en-US" sz="1050">
                <a:solidFill>
                  <a:srgbClr val="111827"/>
                </a:solidFill>
              </a:rPr>
              <a:t>Extract route</a:t>
            </a:r>
          </a:p>
          <a:p>
            <a:pPr algn="ctr"/>
            <a:r>
              <a:rPr lang="en-US" sz="1050">
                <a:solidFill>
                  <a:srgbClr val="111827"/>
                </a:solidFill>
              </a:rPr>
              <a:t>model</a:t>
            </a:r>
          </a:p>
        </p:txBody>
      </p:sp>
      <p:sp>
        <p:nvSpPr>
          <p:cNvPr id="32" name="Node service_schema"/>
          <p:cNvSpPr/>
          <p:nvPr/>
        </p:nvSpPr>
        <p:spPr>
          <a:xfrm>
            <a:off x="5579259" y="3542430"/>
            <a:ext cx="2273659" cy="4385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 wrap="square" anchor="ctr"/>
          <a:lstStyle/>
          <a:p>
            <a:pPr algn="ctr"/>
            <a:r>
              <a:rPr lang="en-US" sz="1050">
                <a:solidFill>
                  <a:srgbClr val="111827"/>
                </a:solidFill>
              </a:rPr>
              <a:t>Validate schema</a:t>
            </a:r>
          </a:p>
        </p:txBody>
      </p:sp>
      <p:sp>
        <p:nvSpPr>
          <p:cNvPr id="33" name="Node service_layout"/>
          <p:cNvSpPr/>
          <p:nvPr/>
        </p:nvSpPr>
        <p:spPr>
          <a:xfrm>
            <a:off x="7989035" y="3542430"/>
            <a:ext cx="2273659" cy="4385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 wrap="square" anchor="ctr"/>
          <a:lstStyle/>
          <a:p>
            <a:pPr algn="ctr"/>
            <a:r>
              <a:rPr lang="en-US" sz="1050">
                <a:solidFill>
                  <a:srgbClr val="111827"/>
                </a:solidFill>
              </a:rPr>
              <a:t>Select template</a:t>
            </a:r>
          </a:p>
          <a:p>
            <a:pPr algn="ctr"/>
            <a:r>
              <a:rPr lang="en-US" sz="1050">
                <a:solidFill>
                  <a:srgbClr val="111827"/>
                </a:solidFill>
              </a:rPr>
              <a:t>family</a:t>
            </a:r>
          </a:p>
        </p:txBody>
      </p:sp>
      <p:sp>
        <p:nvSpPr>
          <p:cNvPr id="34" name="Node render_svg"/>
          <p:cNvSpPr/>
          <p:nvPr/>
        </p:nvSpPr>
        <p:spPr>
          <a:xfrm>
            <a:off x="3169482" y="4540622"/>
            <a:ext cx="2273659" cy="4385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 wrap="square" anchor="ctr"/>
          <a:lstStyle/>
          <a:p>
            <a:pPr algn="ctr"/>
            <a:r>
              <a:rPr lang="en-US" sz="1050">
                <a:solidFill>
                  <a:srgbClr val="111827"/>
                </a:solidFill>
              </a:rPr>
              <a:t>Render SVG/HTML</a:t>
            </a:r>
          </a:p>
        </p:txBody>
      </p:sp>
      <p:sp>
        <p:nvSpPr>
          <p:cNvPr id="35" name="Node render_pptx"/>
          <p:cNvSpPr/>
          <p:nvPr/>
        </p:nvSpPr>
        <p:spPr>
          <a:xfrm>
            <a:off x="5579259" y="4540622"/>
            <a:ext cx="2273659" cy="4385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 wrap="square" anchor="ctr"/>
          <a:lstStyle/>
          <a:p>
            <a:pPr algn="ctr"/>
            <a:r>
              <a:rPr lang="en-US" sz="1050">
                <a:solidFill>
                  <a:srgbClr val="111827"/>
                </a:solidFill>
              </a:rPr>
              <a:t>Render PPTX shapes</a:t>
            </a:r>
          </a:p>
        </p:txBody>
      </p:sp>
      <p:sp>
        <p:nvSpPr>
          <p:cNvPr id="36" name="Node render_drawio"/>
          <p:cNvSpPr/>
          <p:nvPr/>
        </p:nvSpPr>
        <p:spPr>
          <a:xfrm>
            <a:off x="7989035" y="4540622"/>
            <a:ext cx="2273659" cy="4385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 wrap="square" anchor="ctr"/>
          <a:lstStyle/>
          <a:p>
            <a:pPr algn="ctr"/>
            <a:r>
              <a:rPr lang="en-US" sz="1050">
                <a:solidFill>
                  <a:srgbClr val="111827"/>
                </a:solidFill>
              </a:rPr>
              <a:t>Render Draw.io</a:t>
            </a:r>
          </a:p>
          <a:p>
            <a:pPr algn="ctr"/>
            <a:r>
              <a:rPr lang="en-US" sz="1050">
                <a:solidFill>
                  <a:srgbClr val="111827"/>
                </a:solidFill>
              </a:rPr>
              <a:t>cells</a:t>
            </a:r>
          </a:p>
        </p:txBody>
      </p:sp>
      <p:sp>
        <p:nvSpPr>
          <p:cNvPr id="37" name="Node quality_visual"/>
          <p:cNvSpPr/>
          <p:nvPr/>
        </p:nvSpPr>
        <p:spPr>
          <a:xfrm>
            <a:off x="3169482" y="5538814"/>
            <a:ext cx="3478548" cy="4385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 wrap="square" anchor="ctr"/>
          <a:lstStyle/>
          <a:p>
            <a:pPr algn="ctr"/>
            <a:r>
              <a:rPr lang="en-US" sz="1050">
                <a:solidFill>
                  <a:srgbClr val="111827"/>
                </a:solidFill>
              </a:rPr>
              <a:t>Run visual QA</a:t>
            </a:r>
          </a:p>
        </p:txBody>
      </p:sp>
      <p:sp>
        <p:nvSpPr>
          <p:cNvPr id="38" name="Node quality_publish"/>
          <p:cNvSpPr/>
          <p:nvPr/>
        </p:nvSpPr>
        <p:spPr>
          <a:xfrm>
            <a:off x="6784147" y="5538814"/>
            <a:ext cx="3478548" cy="4385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1827"/>
            </a:solidFill>
          </a:ln>
        </p:spPr>
        <p:txBody>
          <a:bodyPr wrap="square" anchor="ctr"/>
          <a:lstStyle/>
          <a:p>
            <a:pPr algn="ctr"/>
            <a:r>
              <a:rPr lang="en-US" sz="1050">
                <a:solidFill>
                  <a:srgbClr val="111827"/>
                </a:solidFill>
              </a:rPr>
              <a:t>Publish examples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RouteMaker">
  <a:themeElements>
    <a:clrScheme name="TechRout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0F766E"/>
      </a:accent2>
      <a:accent3>
        <a:srgbClr val="7C3AED"/>
      </a:accent3>
      <a:accent4>
        <a:srgbClr val="F59E0B"/>
      </a:accent4>
      <a:accent5>
        <a:srgbClr val="EF4444"/>
      </a:accent5>
      <a:accent6>
        <a:srgbClr val="64748B"/>
      </a:accent6>
      <a:hlink>
        <a:srgbClr val="2563EB"/>
      </a:hlink>
      <a:folHlink>
        <a:srgbClr val="7C3AED"/>
      </a:folHlink>
    </a:clrScheme>
    <a:fontScheme name="Arial">
      <a:majorFont>
        <a:latin typeface="Arial"/>
      </a:majorFont>
      <a:minorFont>
        <a:latin typeface="Arial"/>
      </a:minorFont>
    </a:fontScheme>
    <a:fmtScheme name="TechRout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tech-route-maker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>
  <dc:creator>tech-route-maker</dc:creator>
  <cp:lastModifiedBy>tech-route-maker</cp:lastModifiedBy>
</cp:coreProperties>
</file>