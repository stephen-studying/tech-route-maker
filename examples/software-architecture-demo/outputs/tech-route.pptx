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870000" y="968641"/>
            <a:ext cx="10452000" cy="4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11111"/>
                </a:solidFill>
              </a:rPr>
              <a:t>Software</a:t>
            </a:r>
          </a:p>
          <a:p>
            <a:pPr algn="ctr"/>
            <a:r>
              <a:rPr lang="en-US" sz="2100" b="1">
                <a:solidFill>
                  <a:srgbClr val="111111"/>
                </a:solidFill>
              </a:rPr>
              <a:t>Architecture</a:t>
            </a:r>
          </a:p>
          <a:p>
            <a:pPr algn="ctr"/>
            <a:r>
              <a:rPr lang="en-US" sz="2100" b="1">
                <a:solidFill>
                  <a:srgbClr val="111111"/>
                </a:solidFill>
              </a:rPr>
              <a:t>Technical Route</a:t>
            </a:r>
          </a:p>
        </p:txBody>
      </p:sp>
      <p:sp>
        <p:nvSpPr>
          <p:cNvPr id="3" name="Subtitle"/>
          <p:cNvSpPr/>
          <p:nvPr/>
        </p:nvSpPr>
        <p:spPr>
          <a:xfrm>
            <a:off x="1700000" y="1413641"/>
            <a:ext cx="8792000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850">
                <a:solidFill>
                  <a:srgbClr val="555555"/>
                </a:solidFill>
              </a:rPr>
              <a:t>Document-to-report</a:t>
            </a:r>
          </a:p>
          <a:p>
            <a:pPr algn="ctr"/>
            <a:r>
              <a:rPr lang="en-US" sz="850">
                <a:solidFill>
                  <a:srgbClr val="555555"/>
                </a:solidFill>
              </a:rPr>
              <a:t>workflow demo</a:t>
            </a:r>
          </a:p>
        </p:txBody>
      </p:sp>
      <p:sp>
        <p:nvSpPr>
          <p:cNvPr id="4" name="Stage Inputs"/>
          <p:cNvSpPr/>
          <p:nvPr/>
        </p:nvSpPr>
        <p:spPr>
          <a:xfrm>
            <a:off x="808423" y="2347053"/>
            <a:ext cx="1905621" cy="312368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2222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111"/>
                </a:solidFill>
              </a:rPr>
              <a:t/>
            </a:r>
          </a:p>
        </p:txBody>
      </p:sp>
      <p:sp>
        <p:nvSpPr>
          <p:cNvPr id="5" name="Header Inputs"/>
          <p:cNvSpPr/>
          <p:nvPr/>
        </p:nvSpPr>
        <p:spPr>
          <a:xfrm>
            <a:off x="808423" y="2347053"/>
            <a:ext cx="1905621" cy="3315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11111"/>
                </a:solidFill>
              </a:rPr>
              <a:t>Inputs</a:t>
            </a:r>
          </a:p>
        </p:txBody>
      </p:sp>
      <p:sp>
        <p:nvSpPr>
          <p:cNvPr id="6" name="Stage Ingestion"/>
          <p:cNvSpPr/>
          <p:nvPr/>
        </p:nvSpPr>
        <p:spPr>
          <a:xfrm>
            <a:off x="2975806" y="2347053"/>
            <a:ext cx="1905621" cy="3123683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222222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111"/>
                </a:solidFill>
              </a:rPr>
              <a:t/>
            </a:r>
          </a:p>
        </p:txBody>
      </p:sp>
      <p:sp>
        <p:nvSpPr>
          <p:cNvPr id="7" name="Header Ingestion"/>
          <p:cNvSpPr/>
          <p:nvPr/>
        </p:nvSpPr>
        <p:spPr>
          <a:xfrm>
            <a:off x="2975806" y="2347053"/>
            <a:ext cx="1905621" cy="3315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11111"/>
                </a:solidFill>
              </a:rPr>
              <a:t>Ingestion</a:t>
            </a:r>
          </a:p>
        </p:txBody>
      </p:sp>
      <p:sp>
        <p:nvSpPr>
          <p:cNvPr id="8" name="Stage Analysis"/>
          <p:cNvSpPr/>
          <p:nvPr/>
        </p:nvSpPr>
        <p:spPr>
          <a:xfrm>
            <a:off x="5143189" y="2347053"/>
            <a:ext cx="1905621" cy="312368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2222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111"/>
                </a:solidFill>
              </a:rPr>
              <a:t/>
            </a:r>
          </a:p>
        </p:txBody>
      </p:sp>
      <p:sp>
        <p:nvSpPr>
          <p:cNvPr id="9" name="Header Analysis"/>
          <p:cNvSpPr/>
          <p:nvPr/>
        </p:nvSpPr>
        <p:spPr>
          <a:xfrm>
            <a:off x="5143189" y="2347053"/>
            <a:ext cx="1905621" cy="3315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11111"/>
                </a:solidFill>
              </a:rPr>
              <a:t>Analysis</a:t>
            </a:r>
          </a:p>
        </p:txBody>
      </p:sp>
      <p:sp>
        <p:nvSpPr>
          <p:cNvPr id="10" name="Stage Rendering"/>
          <p:cNvSpPr/>
          <p:nvPr/>
        </p:nvSpPr>
        <p:spPr>
          <a:xfrm>
            <a:off x="7310571" y="2347053"/>
            <a:ext cx="1905621" cy="3123683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222222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111"/>
                </a:solidFill>
              </a:rPr>
              <a:t/>
            </a:r>
          </a:p>
        </p:txBody>
      </p:sp>
      <p:sp>
        <p:nvSpPr>
          <p:cNvPr id="11" name="Header Rendering"/>
          <p:cNvSpPr/>
          <p:nvPr/>
        </p:nvSpPr>
        <p:spPr>
          <a:xfrm>
            <a:off x="7310571" y="2347053"/>
            <a:ext cx="1905621" cy="3315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11111"/>
                </a:solidFill>
              </a:rPr>
              <a:t>Rendering</a:t>
            </a:r>
          </a:p>
        </p:txBody>
      </p:sp>
      <p:sp>
        <p:nvSpPr>
          <p:cNvPr id="12" name="Stage Quality Gate"/>
          <p:cNvSpPr/>
          <p:nvPr/>
        </p:nvSpPr>
        <p:spPr>
          <a:xfrm>
            <a:off x="9477954" y="2347053"/>
            <a:ext cx="1905621" cy="312368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2222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111"/>
                </a:solidFill>
              </a:rPr>
              <a:t/>
            </a:r>
          </a:p>
        </p:txBody>
      </p:sp>
      <p:sp>
        <p:nvSpPr>
          <p:cNvPr id="13" name="Header Quality Gate"/>
          <p:cNvSpPr/>
          <p:nvPr/>
        </p:nvSpPr>
        <p:spPr>
          <a:xfrm>
            <a:off x="9477954" y="2347053"/>
            <a:ext cx="1905621" cy="3315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11111"/>
                </a:solidFill>
              </a:rPr>
              <a:t>Quality Gate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1761234" y="3141062"/>
            <a:ext cx="2167382" cy="1"/>
          </a:xfrm>
          <a:prstGeom prst="line">
            <a:avLst/>
          </a:prstGeom>
          <a:ln w="19050">
            <a:solidFill>
              <a:srgbClr val="111111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>
            <a:off x="3928617" y="3141062"/>
            <a:ext cx="1" cy="680579"/>
          </a:xfrm>
          <a:prstGeom prst="line">
            <a:avLst/>
          </a:prstGeom>
          <a:ln w="19050">
            <a:solidFill>
              <a:srgbClr val="111111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 flipV="1">
            <a:off x="3928617" y="3141062"/>
            <a:ext cx="2167382" cy="680579"/>
          </a:xfrm>
          <a:prstGeom prst="line">
            <a:avLst/>
          </a:prstGeom>
          <a:ln w="19050">
            <a:solidFill>
              <a:srgbClr val="111111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6096000" y="3141062"/>
            <a:ext cx="1" cy="680579"/>
          </a:xfrm>
          <a:prstGeom prst="line">
            <a:avLst/>
          </a:prstGeom>
          <a:ln w="19050">
            <a:solidFill>
              <a:srgbClr val="111111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 flipV="1">
            <a:off x="6096000" y="3141062"/>
            <a:ext cx="2167382" cy="680579"/>
          </a:xfrm>
          <a:prstGeom prst="line">
            <a:avLst/>
          </a:prstGeom>
          <a:ln w="19050">
            <a:solidFill>
              <a:srgbClr val="111111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>
            <a:off x="8263382" y="3141062"/>
            <a:ext cx="1" cy="680579"/>
          </a:xfrm>
          <a:prstGeom prst="line">
            <a:avLst/>
          </a:prstGeom>
          <a:ln w="19050">
            <a:solidFill>
              <a:srgbClr val="111111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 flipV="1">
            <a:off x="8263382" y="3141062"/>
            <a:ext cx="2167382" cy="680579"/>
          </a:xfrm>
          <a:prstGeom prst="line">
            <a:avLst/>
          </a:prstGeom>
          <a:ln w="19050">
            <a:solidFill>
              <a:srgbClr val="111111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>
            <a:off x="10430765" y="3141062"/>
            <a:ext cx="1" cy="680579"/>
          </a:xfrm>
          <a:prstGeom prst="line">
            <a:avLst/>
          </a:prstGeom>
          <a:ln w="19050">
            <a:solidFill>
              <a:srgbClr val="111111"/>
            </a:solidFill>
            <a:headEnd type="triangle"/>
          </a:ln>
        </p:spPr>
      </p:cxnSp>
      <p:sp>
        <p:nvSpPr>
          <p:cNvPr id="22" name="Node inputs_files"/>
          <p:cNvSpPr/>
          <p:nvPr/>
        </p:nvSpPr>
        <p:spPr>
          <a:xfrm>
            <a:off x="991656" y="2870576"/>
            <a:ext cx="1539155" cy="5409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111"/>
                </a:solidFill>
              </a:rPr>
              <a:t>Receive user files</a:t>
            </a:r>
          </a:p>
        </p:txBody>
      </p:sp>
      <p:sp>
        <p:nvSpPr>
          <p:cNvPr id="23" name="Node ingestion_service"/>
          <p:cNvSpPr/>
          <p:nvPr/>
        </p:nvSpPr>
        <p:spPr>
          <a:xfrm>
            <a:off x="3159039" y="2870576"/>
            <a:ext cx="1539155" cy="5409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111"/>
                </a:solidFill>
              </a:rPr>
              <a:t>Run ingestion</a:t>
            </a:r>
          </a:p>
          <a:p>
            <a:pPr algn="ctr"/>
            <a:r>
              <a:rPr lang="en-US" sz="1050">
                <a:solidFill>
                  <a:srgbClr val="111111"/>
                </a:solidFill>
              </a:rPr>
              <a:t>service</a:t>
            </a:r>
          </a:p>
        </p:txBody>
      </p:sp>
      <p:sp>
        <p:nvSpPr>
          <p:cNvPr id="24" name="Node ingestion_store"/>
          <p:cNvSpPr/>
          <p:nvPr/>
        </p:nvSpPr>
        <p:spPr>
          <a:xfrm>
            <a:off x="3159039" y="3551155"/>
            <a:ext cx="1539155" cy="5409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111"/>
                </a:solidFill>
              </a:rPr>
              <a:t>Normalize data</a:t>
            </a:r>
          </a:p>
          <a:p>
            <a:pPr algn="ctr"/>
            <a:r>
              <a:rPr lang="en-US" sz="1050">
                <a:solidFill>
                  <a:srgbClr val="111111"/>
                </a:solidFill>
              </a:rPr>
              <a:t>store</a:t>
            </a:r>
          </a:p>
        </p:txBody>
      </p:sp>
      <p:sp>
        <p:nvSpPr>
          <p:cNvPr id="25" name="Node analysis_engine"/>
          <p:cNvSpPr/>
          <p:nvPr/>
        </p:nvSpPr>
        <p:spPr>
          <a:xfrm>
            <a:off x="5326422" y="2870576"/>
            <a:ext cx="1539155" cy="5409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111"/>
                </a:solidFill>
              </a:rPr>
              <a:t>Run analysis</a:t>
            </a:r>
          </a:p>
          <a:p>
            <a:pPr algn="ctr"/>
            <a:r>
              <a:rPr lang="en-US" sz="1050">
                <a:solidFill>
                  <a:srgbClr val="111111"/>
                </a:solidFill>
              </a:rPr>
              <a:t>engine</a:t>
            </a:r>
          </a:p>
        </p:txBody>
      </p:sp>
      <p:sp>
        <p:nvSpPr>
          <p:cNvPr id="26" name="Node analysis_provenance"/>
          <p:cNvSpPr/>
          <p:nvPr/>
        </p:nvSpPr>
        <p:spPr>
          <a:xfrm>
            <a:off x="5326422" y="3551155"/>
            <a:ext cx="1539155" cy="5409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111"/>
                </a:solidFill>
              </a:rPr>
              <a:t>Track provenance</a:t>
            </a:r>
          </a:p>
        </p:txBody>
      </p:sp>
      <p:sp>
        <p:nvSpPr>
          <p:cNvPr id="27" name="Node render_reports"/>
          <p:cNvSpPr/>
          <p:nvPr/>
        </p:nvSpPr>
        <p:spPr>
          <a:xfrm>
            <a:off x="7493804" y="2870576"/>
            <a:ext cx="1539155" cy="5409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111"/>
                </a:solidFill>
              </a:rPr>
              <a:t>Render reports</a:t>
            </a:r>
          </a:p>
        </p:txBody>
      </p:sp>
      <p:sp>
        <p:nvSpPr>
          <p:cNvPr id="28" name="Node render_registry"/>
          <p:cNvSpPr/>
          <p:nvPr/>
        </p:nvSpPr>
        <p:spPr>
          <a:xfrm>
            <a:off x="7493804" y="3551155"/>
            <a:ext cx="1539155" cy="5409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111"/>
                </a:solidFill>
              </a:rPr>
              <a:t>Register artifacts</a:t>
            </a:r>
          </a:p>
        </p:txBody>
      </p:sp>
      <p:sp>
        <p:nvSpPr>
          <p:cNvPr id="29" name="Node quality_rules"/>
          <p:cNvSpPr/>
          <p:nvPr/>
        </p:nvSpPr>
        <p:spPr>
          <a:xfrm>
            <a:off x="9661187" y="2870576"/>
            <a:ext cx="1539155" cy="5409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111"/>
                </a:solidFill>
              </a:rPr>
              <a:t>Apply validation</a:t>
            </a:r>
          </a:p>
          <a:p>
            <a:pPr algn="ctr"/>
            <a:r>
              <a:rPr lang="en-US" sz="1050">
                <a:solidFill>
                  <a:srgbClr val="111111"/>
                </a:solidFill>
              </a:rPr>
              <a:t>rules</a:t>
            </a:r>
          </a:p>
        </p:txBody>
      </p:sp>
      <p:sp>
        <p:nvSpPr>
          <p:cNvPr id="30" name="Node quality_ci"/>
          <p:cNvSpPr/>
          <p:nvPr/>
        </p:nvSpPr>
        <p:spPr>
          <a:xfrm>
            <a:off x="9661187" y="3551155"/>
            <a:ext cx="1539155" cy="5409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111"/>
                </a:solidFill>
              </a:rPr>
              <a:t>Publish through CI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