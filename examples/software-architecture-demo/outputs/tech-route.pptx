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150000" y="1942013"/>
            <a:ext cx="9892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11827"/>
                </a:solidFill>
              </a:rPr>
              <a:t>Software</a:t>
            </a:r>
          </a:p>
          <a:p>
            <a:pPr algn="ctr"/>
            <a:r>
              <a:rPr lang="en-US" sz="2100" b="1">
                <a:solidFill>
                  <a:srgbClr val="111827"/>
                </a:solidFill>
              </a:rPr>
              <a:t>Architecture</a:t>
            </a:r>
          </a:p>
          <a:p>
            <a:pPr algn="ctr"/>
            <a:r>
              <a:rPr lang="en-US" sz="2100" b="1">
                <a:solidFill>
                  <a:srgbClr val="111827"/>
                </a:solidFill>
              </a:rPr>
              <a:t>Technical Route</a:t>
            </a:r>
          </a:p>
        </p:txBody>
      </p:sp>
      <p:sp>
        <p:nvSpPr>
          <p:cNvPr id="3" name="Stage Inputs"/>
          <p:cNvSpPr/>
          <p:nvPr/>
        </p:nvSpPr>
        <p:spPr>
          <a:xfrm>
            <a:off x="696016" y="2919267"/>
            <a:ext cx="1815923" cy="1640702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9CA3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4" name="Header Inputs"/>
          <p:cNvSpPr/>
          <p:nvPr/>
        </p:nvSpPr>
        <p:spPr>
          <a:xfrm>
            <a:off x="696016" y="2919267"/>
            <a:ext cx="1815923" cy="302653"/>
          </a:xfrm>
          <a:prstGeom prst="roundRect">
            <a:avLst/>
          </a:prstGeom>
          <a:solidFill>
            <a:srgbClr val="374151"/>
          </a:solidFill>
          <a:ln w="12700">
            <a:solidFill>
              <a:srgbClr val="37415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5" name="Stage Ingestion"/>
          <p:cNvSpPr/>
          <p:nvPr/>
        </p:nvSpPr>
        <p:spPr>
          <a:xfrm>
            <a:off x="2942027" y="2919267"/>
            <a:ext cx="1815923" cy="1640702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9CA3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6" name="Header Ingestion"/>
          <p:cNvSpPr/>
          <p:nvPr/>
        </p:nvSpPr>
        <p:spPr>
          <a:xfrm>
            <a:off x="2942027" y="2919267"/>
            <a:ext cx="1815923" cy="302653"/>
          </a:xfrm>
          <a:prstGeom prst="roundRect">
            <a:avLst/>
          </a:prstGeom>
          <a:solidFill>
            <a:srgbClr val="374151"/>
          </a:solidFill>
          <a:ln w="12700">
            <a:solidFill>
              <a:srgbClr val="37415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Ingestion</a:t>
            </a:r>
          </a:p>
        </p:txBody>
      </p:sp>
      <p:sp>
        <p:nvSpPr>
          <p:cNvPr id="7" name="Stage Analysis"/>
          <p:cNvSpPr/>
          <p:nvPr/>
        </p:nvSpPr>
        <p:spPr>
          <a:xfrm>
            <a:off x="5188038" y="2919267"/>
            <a:ext cx="1815923" cy="1640702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9CA3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8" name="Header Analysis"/>
          <p:cNvSpPr/>
          <p:nvPr/>
        </p:nvSpPr>
        <p:spPr>
          <a:xfrm>
            <a:off x="5188038" y="2919267"/>
            <a:ext cx="1815923" cy="302653"/>
          </a:xfrm>
          <a:prstGeom prst="roundRect">
            <a:avLst/>
          </a:prstGeom>
          <a:solidFill>
            <a:srgbClr val="374151"/>
          </a:solidFill>
          <a:ln w="12700">
            <a:solidFill>
              <a:srgbClr val="37415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Analysis</a:t>
            </a:r>
          </a:p>
        </p:txBody>
      </p:sp>
      <p:sp>
        <p:nvSpPr>
          <p:cNvPr id="9" name="Stage Rendering"/>
          <p:cNvSpPr/>
          <p:nvPr/>
        </p:nvSpPr>
        <p:spPr>
          <a:xfrm>
            <a:off x="7434049" y="2919267"/>
            <a:ext cx="1815923" cy="1640702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9CA3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0" name="Header Rendering"/>
          <p:cNvSpPr/>
          <p:nvPr/>
        </p:nvSpPr>
        <p:spPr>
          <a:xfrm>
            <a:off x="7434049" y="2919267"/>
            <a:ext cx="1815923" cy="302653"/>
          </a:xfrm>
          <a:prstGeom prst="roundRect">
            <a:avLst/>
          </a:prstGeom>
          <a:solidFill>
            <a:srgbClr val="374151"/>
          </a:solidFill>
          <a:ln w="12700">
            <a:solidFill>
              <a:srgbClr val="37415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Rendering</a:t>
            </a:r>
          </a:p>
        </p:txBody>
      </p:sp>
      <p:sp>
        <p:nvSpPr>
          <p:cNvPr id="11" name="Stage Quality Gate"/>
          <p:cNvSpPr/>
          <p:nvPr/>
        </p:nvSpPr>
        <p:spPr>
          <a:xfrm>
            <a:off x="9680059" y="2919267"/>
            <a:ext cx="1815923" cy="1640702"/>
          </a:xfrm>
          <a:prstGeom prst="roundRect">
            <a:avLst/>
          </a:prstGeom>
          <a:solidFill>
            <a:srgbClr val="F9FAFB"/>
          </a:solidFill>
          <a:ln w="12700">
            <a:solidFill>
              <a:srgbClr val="9CA3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2" name="Header Quality Gate"/>
          <p:cNvSpPr/>
          <p:nvPr/>
        </p:nvSpPr>
        <p:spPr>
          <a:xfrm>
            <a:off x="9680059" y="2919267"/>
            <a:ext cx="1815923" cy="302653"/>
          </a:xfrm>
          <a:prstGeom prst="roundRect">
            <a:avLst/>
          </a:prstGeom>
          <a:solidFill>
            <a:srgbClr val="374151"/>
          </a:solidFill>
          <a:ln w="12700">
            <a:solidFill>
              <a:srgbClr val="374151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Quality Gate</a:t>
            </a:r>
          </a:p>
        </p:txBody>
      </p:sp>
      <p:cxnSp>
        <p:nvCxnSpPr>
          <p:cNvPr id="13" name="Connector 13"/>
          <p:cNvCxnSpPr/>
          <p:nvPr/>
        </p:nvCxnSpPr>
        <p:spPr>
          <a:xfrm>
            <a:off x="1603978" y="3596256"/>
            <a:ext cx="2246010" cy="1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14" name="Connector 14"/>
          <p:cNvCxnSpPr/>
          <p:nvPr/>
        </p:nvCxnSpPr>
        <p:spPr>
          <a:xfrm>
            <a:off x="3849989" y="3596256"/>
            <a:ext cx="1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V="1">
            <a:off x="3849989" y="3596256"/>
            <a:ext cx="2246010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6096000" y="3596256"/>
            <a:ext cx="1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6096000" y="3596256"/>
            <a:ext cx="2246010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>
            <a:off x="8342010" y="3596256"/>
            <a:ext cx="1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 flipV="1">
            <a:off x="8342010" y="3596256"/>
            <a:ext cx="2246010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10588021" y="3596256"/>
            <a:ext cx="1" cy="589378"/>
          </a:xfrm>
          <a:prstGeom prst="line">
            <a:avLst/>
          </a:prstGeom>
          <a:ln w="19050">
            <a:solidFill>
              <a:srgbClr val="1F2937"/>
            </a:solidFill>
            <a:headEnd type="triangle"/>
          </a:ln>
        </p:spPr>
      </p:cxnSp>
      <p:sp>
        <p:nvSpPr>
          <p:cNvPr id="21" name="Node inputs_files"/>
          <p:cNvSpPr/>
          <p:nvPr/>
        </p:nvSpPr>
        <p:spPr>
          <a:xfrm>
            <a:off x="895130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Receive user files</a:t>
            </a:r>
          </a:p>
        </p:txBody>
      </p:sp>
      <p:sp>
        <p:nvSpPr>
          <p:cNvPr id="22" name="Node ingestion_service"/>
          <p:cNvSpPr/>
          <p:nvPr/>
        </p:nvSpPr>
        <p:spPr>
          <a:xfrm>
            <a:off x="3141141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Run ingestion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service</a:t>
            </a:r>
          </a:p>
        </p:txBody>
      </p:sp>
      <p:sp>
        <p:nvSpPr>
          <p:cNvPr id="23" name="Node ingestion_store"/>
          <p:cNvSpPr/>
          <p:nvPr/>
        </p:nvSpPr>
        <p:spPr>
          <a:xfrm>
            <a:off x="3141141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Normalize data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store</a:t>
            </a:r>
          </a:p>
        </p:txBody>
      </p:sp>
      <p:sp>
        <p:nvSpPr>
          <p:cNvPr id="24" name="Node analysis_engine"/>
          <p:cNvSpPr/>
          <p:nvPr/>
        </p:nvSpPr>
        <p:spPr>
          <a:xfrm>
            <a:off x="5387152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Run analysis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engine</a:t>
            </a:r>
          </a:p>
        </p:txBody>
      </p:sp>
      <p:sp>
        <p:nvSpPr>
          <p:cNvPr id="25" name="Node analysis_provenance"/>
          <p:cNvSpPr/>
          <p:nvPr/>
        </p:nvSpPr>
        <p:spPr>
          <a:xfrm>
            <a:off x="5387152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Track provenance</a:t>
            </a:r>
          </a:p>
        </p:txBody>
      </p:sp>
      <p:sp>
        <p:nvSpPr>
          <p:cNvPr id="26" name="Node render_reports"/>
          <p:cNvSpPr/>
          <p:nvPr/>
        </p:nvSpPr>
        <p:spPr>
          <a:xfrm>
            <a:off x="7633163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Render reports</a:t>
            </a:r>
          </a:p>
        </p:txBody>
      </p:sp>
      <p:sp>
        <p:nvSpPr>
          <p:cNvPr id="27" name="Node render_registry"/>
          <p:cNvSpPr/>
          <p:nvPr/>
        </p:nvSpPr>
        <p:spPr>
          <a:xfrm>
            <a:off x="7633163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Register artifacts</a:t>
            </a:r>
          </a:p>
        </p:txBody>
      </p:sp>
      <p:sp>
        <p:nvSpPr>
          <p:cNvPr id="28" name="Node quality_rules"/>
          <p:cNvSpPr/>
          <p:nvPr/>
        </p:nvSpPr>
        <p:spPr>
          <a:xfrm>
            <a:off x="9879174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Apply validation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rules</a:t>
            </a:r>
          </a:p>
        </p:txBody>
      </p:sp>
      <p:sp>
        <p:nvSpPr>
          <p:cNvPr id="29" name="Node quality_ci"/>
          <p:cNvSpPr/>
          <p:nvPr/>
        </p:nvSpPr>
        <p:spPr>
          <a:xfrm>
            <a:off x="9879174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Publish through CI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