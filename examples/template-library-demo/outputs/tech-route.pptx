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06619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mplate Header logic"/>
          <p:cNvSpPr/>
          <p:nvPr/>
        </p:nvSpPr>
        <p:spPr>
          <a:xfrm>
            <a:off x="289912" y="364796"/>
            <a:ext cx="1288180" cy="515272"/>
          </a:xfrm>
          <a:prstGeom prst="rect">
            <a:avLst/>
          </a:prstGeom>
          <a:solidFill>
            <a:srgbClr val="DCEBFA"/>
          </a:solidFill>
          <a:ln w="15240">
            <a:solidFill>
              <a:srgbClr val="4A7FC1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827"/>
                </a:solidFill>
                <a:latin typeface="Microsoft YaHei"/>
                <a:ea typeface="Microsoft YaHei"/>
              </a:rPr>
              <a:t>研究框架</a:t>
            </a:r>
          </a:p>
        </p:txBody>
      </p:sp>
      <p:sp>
        <p:nvSpPr>
          <p:cNvPr id="3" name="Template Header content"/>
          <p:cNvSpPr/>
          <p:nvPr/>
        </p:nvSpPr>
        <p:spPr>
          <a:xfrm>
            <a:off x="1906800" y="364796"/>
            <a:ext cx="5330400" cy="515272"/>
          </a:xfrm>
          <a:prstGeom prst="rect">
            <a:avLst/>
          </a:prstGeom>
          <a:solidFill>
            <a:srgbClr val="FFF0C6"/>
          </a:solidFill>
          <a:ln w="15240">
            <a:solidFill>
              <a:srgbClr val="D6A33D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827"/>
                </a:solidFill>
                <a:latin typeface="Microsoft YaHei"/>
                <a:ea typeface="Microsoft YaHei"/>
              </a:rPr>
              <a:t>研究内容</a:t>
            </a:r>
          </a:p>
        </p:txBody>
      </p:sp>
      <p:sp>
        <p:nvSpPr>
          <p:cNvPr id="4" name="Template Header method"/>
          <p:cNvSpPr/>
          <p:nvPr/>
        </p:nvSpPr>
        <p:spPr>
          <a:xfrm>
            <a:off x="7565908" y="364796"/>
            <a:ext cx="1288180" cy="515272"/>
          </a:xfrm>
          <a:prstGeom prst="rect">
            <a:avLst/>
          </a:prstGeom>
          <a:solidFill>
            <a:srgbClr val="DCEBFA"/>
          </a:solidFill>
          <a:ln w="15240">
            <a:solidFill>
              <a:srgbClr val="4A7FC1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827"/>
                </a:solidFill>
                <a:latin typeface="Microsoft YaHei"/>
                <a:ea typeface="Microsoft YaHei"/>
              </a:rPr>
              <a:t>研究方法</a:t>
            </a:r>
          </a:p>
        </p:txBody>
      </p:sp>
      <p:sp>
        <p:nvSpPr>
          <p:cNvPr id="5" name="Content Group 系统建模"/>
          <p:cNvSpPr/>
          <p:nvPr/>
        </p:nvSpPr>
        <p:spPr>
          <a:xfrm>
            <a:off x="1906800" y="1182124"/>
            <a:ext cx="5330400" cy="1652424"/>
          </a:xfrm>
          <a:prstGeom prst="rect">
            <a:avLst/>
          </a:prstGeom>
          <a:solidFill>
            <a:srgbClr val="FFF7DD"/>
          </a:solidFill>
          <a:ln w="15240">
            <a:solidFill>
              <a:srgbClr val="D6A33D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Content Label 系统建模"/>
          <p:cNvSpPr/>
          <p:nvPr/>
        </p:nvSpPr>
        <p:spPr>
          <a:xfrm>
            <a:off x="2057828" y="1306500"/>
            <a:ext cx="479736" cy="140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系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模</a:t>
            </a:r>
          </a:p>
        </p:txBody>
      </p:sp>
      <p:sp>
        <p:nvSpPr>
          <p:cNvPr id="7" name="Logic 提出问题"/>
          <p:cNvSpPr/>
          <p:nvPr/>
        </p:nvSpPr>
        <p:spPr>
          <a:xfrm>
            <a:off x="289912" y="1688512"/>
            <a:ext cx="1288180" cy="639648"/>
          </a:xfrm>
          <a:prstGeom prst="ellipse">
            <a:avLst/>
          </a:prstGeom>
          <a:solidFill>
            <a:srgbClr val="FFF1CF"/>
          </a:solidFill>
          <a:ln w="15240">
            <a:solidFill>
              <a:srgbClr val="E5A12D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提出问题</a:t>
            </a:r>
          </a:p>
        </p:txBody>
      </p:sp>
      <p:sp>
        <p:nvSpPr>
          <p:cNvPr id="8" name="Method 文献调研与&#10;理论分析法"/>
          <p:cNvSpPr/>
          <p:nvPr/>
        </p:nvSpPr>
        <p:spPr>
          <a:xfrm>
            <a:off x="7565908" y="1670744"/>
            <a:ext cx="1288180" cy="675184"/>
          </a:xfrm>
          <a:prstGeom prst="ellipse">
            <a:avLst/>
          </a:prstGeom>
          <a:solidFill>
            <a:srgbClr val="FBE0DB"/>
          </a:solidFill>
          <a:ln w="15240">
            <a:solidFill>
              <a:srgbClr val="D66C5E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文献调研与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理论分析法</a:t>
            </a:r>
          </a:p>
        </p:txBody>
      </p:sp>
      <p:sp>
        <p:nvSpPr>
          <p:cNvPr id="9" name="Content Group 状态预测"/>
          <p:cNvSpPr/>
          <p:nvPr/>
        </p:nvSpPr>
        <p:spPr>
          <a:xfrm>
            <a:off x="1906800" y="3047764"/>
            <a:ext cx="5330400" cy="1652424"/>
          </a:xfrm>
          <a:prstGeom prst="rect">
            <a:avLst/>
          </a:prstGeom>
          <a:solidFill>
            <a:srgbClr val="EFF6FF"/>
          </a:solidFill>
          <a:ln w="15240">
            <a:solidFill>
              <a:srgbClr val="7297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Content Label 状态预测"/>
          <p:cNvSpPr/>
          <p:nvPr/>
        </p:nvSpPr>
        <p:spPr>
          <a:xfrm>
            <a:off x="2057828" y="3172140"/>
            <a:ext cx="479736" cy="140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状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测</a:t>
            </a:r>
          </a:p>
        </p:txBody>
      </p:sp>
      <p:sp>
        <p:nvSpPr>
          <p:cNvPr id="11" name="Logic 分析问题&#10;（状态感知）"/>
          <p:cNvSpPr/>
          <p:nvPr/>
        </p:nvSpPr>
        <p:spPr>
          <a:xfrm>
            <a:off x="289912" y="3554152"/>
            <a:ext cx="1288180" cy="639648"/>
          </a:xfrm>
          <a:prstGeom prst="ellipse">
            <a:avLst/>
          </a:prstGeom>
          <a:solidFill>
            <a:srgbClr val="FFF1CF"/>
          </a:solidFill>
          <a:ln w="15240">
            <a:solidFill>
              <a:srgbClr val="E5A12D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分析问题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（状态感知）</a:t>
            </a:r>
          </a:p>
        </p:txBody>
      </p:sp>
      <p:sp>
        <p:nvSpPr>
          <p:cNvPr id="12" name="Method 数据驱动&#10;预测方法"/>
          <p:cNvSpPr/>
          <p:nvPr/>
        </p:nvSpPr>
        <p:spPr>
          <a:xfrm>
            <a:off x="7565908" y="3536384"/>
            <a:ext cx="1288180" cy="675184"/>
          </a:xfrm>
          <a:prstGeom prst="ellipse">
            <a:avLst/>
          </a:prstGeom>
          <a:solidFill>
            <a:srgbClr val="FBE0DB"/>
          </a:solidFill>
          <a:ln w="15240">
            <a:solidFill>
              <a:srgbClr val="D66C5E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数据驱动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预测方法</a:t>
            </a:r>
          </a:p>
        </p:txBody>
      </p:sp>
      <p:sp>
        <p:nvSpPr>
          <p:cNvPr id="13" name="Content Group 优化决策"/>
          <p:cNvSpPr/>
          <p:nvPr/>
        </p:nvSpPr>
        <p:spPr>
          <a:xfrm>
            <a:off x="1906800" y="4913404"/>
            <a:ext cx="5330400" cy="1652424"/>
          </a:xfrm>
          <a:prstGeom prst="rect">
            <a:avLst/>
          </a:prstGeom>
          <a:solidFill>
            <a:srgbClr val="FFF1F0"/>
          </a:solidFill>
          <a:ln w="15240">
            <a:solidFill>
              <a:srgbClr val="D9786D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4" name="Content Label 优化决策"/>
          <p:cNvSpPr/>
          <p:nvPr/>
        </p:nvSpPr>
        <p:spPr>
          <a:xfrm>
            <a:off x="2057828" y="5037780"/>
            <a:ext cx="479736" cy="140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决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策</a:t>
            </a:r>
          </a:p>
        </p:txBody>
      </p:sp>
      <p:sp>
        <p:nvSpPr>
          <p:cNvPr id="15" name="Logic 分析问题&#10;（优化决策）"/>
          <p:cNvSpPr/>
          <p:nvPr/>
        </p:nvSpPr>
        <p:spPr>
          <a:xfrm>
            <a:off x="289912" y="5419792"/>
            <a:ext cx="1288180" cy="639648"/>
          </a:xfrm>
          <a:prstGeom prst="ellipse">
            <a:avLst/>
          </a:prstGeom>
          <a:solidFill>
            <a:srgbClr val="FFF1CF"/>
          </a:solidFill>
          <a:ln w="15240">
            <a:solidFill>
              <a:srgbClr val="E5A12D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分析问题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（优化决策）</a:t>
            </a:r>
          </a:p>
        </p:txBody>
      </p:sp>
      <p:sp>
        <p:nvSpPr>
          <p:cNvPr id="16" name="Method 多目标优化与&#10;约束求解"/>
          <p:cNvSpPr/>
          <p:nvPr/>
        </p:nvSpPr>
        <p:spPr>
          <a:xfrm>
            <a:off x="7565908" y="5402024"/>
            <a:ext cx="1288180" cy="675184"/>
          </a:xfrm>
          <a:prstGeom prst="ellipse">
            <a:avLst/>
          </a:prstGeom>
          <a:solidFill>
            <a:srgbClr val="FBE0DB"/>
          </a:solidFill>
          <a:ln w="15240">
            <a:solidFill>
              <a:srgbClr val="D66C5E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多目标优化与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约束求解</a:t>
            </a:r>
          </a:p>
        </p:txBody>
      </p:sp>
      <p:sp>
        <p:nvSpPr>
          <p:cNvPr id="17" name="Content Group 仿真验证"/>
          <p:cNvSpPr/>
          <p:nvPr/>
        </p:nvSpPr>
        <p:spPr>
          <a:xfrm>
            <a:off x="1906800" y="6779044"/>
            <a:ext cx="5330400" cy="1652424"/>
          </a:xfrm>
          <a:prstGeom prst="rect">
            <a:avLst/>
          </a:prstGeom>
          <a:solidFill>
            <a:srgbClr val="F2FAE8"/>
          </a:solidFill>
          <a:ln w="15240">
            <a:solidFill>
              <a:srgbClr val="76A85B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8" name="Content Label 仿真验证"/>
          <p:cNvSpPr/>
          <p:nvPr/>
        </p:nvSpPr>
        <p:spPr>
          <a:xfrm>
            <a:off x="2057828" y="6903420"/>
            <a:ext cx="479736" cy="140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仿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证</a:t>
            </a:r>
          </a:p>
        </p:txBody>
      </p:sp>
      <p:sp>
        <p:nvSpPr>
          <p:cNvPr id="19" name="Logic 分析问题&#10;（运行验证）"/>
          <p:cNvSpPr/>
          <p:nvPr/>
        </p:nvSpPr>
        <p:spPr>
          <a:xfrm>
            <a:off x="289912" y="7285432"/>
            <a:ext cx="1288180" cy="639648"/>
          </a:xfrm>
          <a:prstGeom prst="ellipse">
            <a:avLst/>
          </a:prstGeom>
          <a:solidFill>
            <a:srgbClr val="FFF1CF"/>
          </a:solidFill>
          <a:ln w="15240">
            <a:solidFill>
              <a:srgbClr val="E5A12D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分析问题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（运行验证）</a:t>
            </a:r>
          </a:p>
        </p:txBody>
      </p:sp>
      <p:sp>
        <p:nvSpPr>
          <p:cNvPr id="20" name="Method 场景仿真与&#10;对比实验"/>
          <p:cNvSpPr/>
          <p:nvPr/>
        </p:nvSpPr>
        <p:spPr>
          <a:xfrm>
            <a:off x="7565908" y="7267664"/>
            <a:ext cx="1288180" cy="675184"/>
          </a:xfrm>
          <a:prstGeom prst="ellipse">
            <a:avLst/>
          </a:prstGeom>
          <a:solidFill>
            <a:srgbClr val="FBE0DB"/>
          </a:solidFill>
          <a:ln w="15240">
            <a:solidFill>
              <a:srgbClr val="D66C5E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场景仿真与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对比实验</a:t>
            </a:r>
          </a:p>
        </p:txBody>
      </p:sp>
      <p:sp>
        <p:nvSpPr>
          <p:cNvPr id="21" name="Content Group 评价应用"/>
          <p:cNvSpPr/>
          <p:nvPr/>
        </p:nvSpPr>
        <p:spPr>
          <a:xfrm>
            <a:off x="1906800" y="8644684"/>
            <a:ext cx="5330400" cy="1652424"/>
          </a:xfrm>
          <a:prstGeom prst="rect">
            <a:avLst/>
          </a:prstGeom>
          <a:solidFill>
            <a:srgbClr val="FFF6E8"/>
          </a:solidFill>
          <a:ln w="15240">
            <a:solidFill>
              <a:srgbClr val="D6A33D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Content Label 评价应用"/>
          <p:cNvSpPr/>
          <p:nvPr/>
        </p:nvSpPr>
        <p:spPr>
          <a:xfrm>
            <a:off x="2057828" y="8769060"/>
            <a:ext cx="479736" cy="140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价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</a:rPr>
              <a:t>用</a:t>
            </a:r>
          </a:p>
        </p:txBody>
      </p:sp>
      <p:sp>
        <p:nvSpPr>
          <p:cNvPr id="23" name="Logic 解决问题&#10;（评价输出）"/>
          <p:cNvSpPr/>
          <p:nvPr/>
        </p:nvSpPr>
        <p:spPr>
          <a:xfrm>
            <a:off x="289912" y="9151072"/>
            <a:ext cx="1288180" cy="639648"/>
          </a:xfrm>
          <a:prstGeom prst="ellipse">
            <a:avLst/>
          </a:prstGeom>
          <a:solidFill>
            <a:srgbClr val="FFF1CF"/>
          </a:solidFill>
          <a:ln w="15240">
            <a:solidFill>
              <a:srgbClr val="E5A12D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解决问题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Microsoft YaHei"/>
                <a:ea typeface="Microsoft YaHei"/>
              </a:rPr>
              <a:t>（评价输出）</a:t>
            </a:r>
          </a:p>
        </p:txBody>
      </p:sp>
      <p:sp>
        <p:nvSpPr>
          <p:cNvPr id="24" name="Method 综合评价法"/>
          <p:cNvSpPr/>
          <p:nvPr/>
        </p:nvSpPr>
        <p:spPr>
          <a:xfrm>
            <a:off x="7565908" y="9133304"/>
            <a:ext cx="1288180" cy="675184"/>
          </a:xfrm>
          <a:prstGeom prst="ellipse">
            <a:avLst/>
          </a:prstGeom>
          <a:solidFill>
            <a:srgbClr val="FBE0DB"/>
          </a:solidFill>
          <a:ln w="15240">
            <a:solidFill>
              <a:srgbClr val="D66C5E"/>
            </a:solidFill>
          </a:ln>
        </p:spPr>
        <p:txBody>
          <a:bodyPr rtlCol="0" anchor="ctr" wrap="non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icrosoft YaHei"/>
                <a:ea typeface="Microsoft YaHei"/>
              </a:rPr>
              <a:t>综合评价法</a:t>
            </a:r>
          </a:p>
        </p:txBody>
      </p:sp>
      <p:sp>
        <p:nvSpPr>
          <p:cNvPr id="25" name="Template Side Arrow 1"/>
          <p:cNvSpPr/>
          <p:nvPr/>
        </p:nvSpPr>
        <p:spPr>
          <a:xfrm>
            <a:off x="1640280" y="498056"/>
            <a:ext cx="204332" cy="248752"/>
          </a:xfrm>
          <a:prstGeom prst="righ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mplate Side Arrow 2"/>
          <p:cNvSpPr/>
          <p:nvPr/>
        </p:nvSpPr>
        <p:spPr>
          <a:xfrm>
            <a:off x="7299388" y="498056"/>
            <a:ext cx="204332" cy="248752"/>
          </a:xfrm>
          <a:prstGeom prst="lef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mplate Side Arrow 3"/>
          <p:cNvSpPr/>
          <p:nvPr/>
        </p:nvSpPr>
        <p:spPr>
          <a:xfrm>
            <a:off x="1640280" y="1883960"/>
            <a:ext cx="204332" cy="248752"/>
          </a:xfrm>
          <a:prstGeom prst="righ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Template Side Arrow 4"/>
          <p:cNvSpPr/>
          <p:nvPr/>
        </p:nvSpPr>
        <p:spPr>
          <a:xfrm>
            <a:off x="7299388" y="1883960"/>
            <a:ext cx="204332" cy="248752"/>
          </a:xfrm>
          <a:prstGeom prst="lef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9" name="Template Side Arrow 5"/>
          <p:cNvSpPr/>
          <p:nvPr/>
        </p:nvSpPr>
        <p:spPr>
          <a:xfrm>
            <a:off x="1640280" y="3749600"/>
            <a:ext cx="204332" cy="248752"/>
          </a:xfrm>
          <a:prstGeom prst="righ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mplate Side Arrow 6"/>
          <p:cNvSpPr/>
          <p:nvPr/>
        </p:nvSpPr>
        <p:spPr>
          <a:xfrm>
            <a:off x="7299388" y="3749600"/>
            <a:ext cx="204332" cy="248752"/>
          </a:xfrm>
          <a:prstGeom prst="lef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mplate Side Arrow 7"/>
          <p:cNvSpPr/>
          <p:nvPr/>
        </p:nvSpPr>
        <p:spPr>
          <a:xfrm>
            <a:off x="1640280" y="5615240"/>
            <a:ext cx="204332" cy="248752"/>
          </a:xfrm>
          <a:prstGeom prst="righ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Template Side Arrow 8"/>
          <p:cNvSpPr/>
          <p:nvPr/>
        </p:nvSpPr>
        <p:spPr>
          <a:xfrm>
            <a:off x="7299388" y="5615240"/>
            <a:ext cx="204332" cy="248752"/>
          </a:xfrm>
          <a:prstGeom prst="lef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3" name="Template Side Arrow 9"/>
          <p:cNvSpPr/>
          <p:nvPr/>
        </p:nvSpPr>
        <p:spPr>
          <a:xfrm>
            <a:off x="1640280" y="7480880"/>
            <a:ext cx="204332" cy="248752"/>
          </a:xfrm>
          <a:prstGeom prst="righ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4" name="Template Side Arrow 10"/>
          <p:cNvSpPr/>
          <p:nvPr/>
        </p:nvSpPr>
        <p:spPr>
          <a:xfrm>
            <a:off x="7299388" y="7480880"/>
            <a:ext cx="204332" cy="248752"/>
          </a:xfrm>
          <a:prstGeom prst="lef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5" name="Template Side Arrow 11"/>
          <p:cNvSpPr/>
          <p:nvPr/>
        </p:nvSpPr>
        <p:spPr>
          <a:xfrm>
            <a:off x="1640280" y="9346520"/>
            <a:ext cx="204332" cy="248752"/>
          </a:xfrm>
          <a:prstGeom prst="righ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6" name="Template Side Arrow 12"/>
          <p:cNvSpPr/>
          <p:nvPr/>
        </p:nvSpPr>
        <p:spPr>
          <a:xfrm>
            <a:off x="7299388" y="9346520"/>
            <a:ext cx="204332" cy="248752"/>
          </a:xfrm>
          <a:prstGeom prst="leftArrow">
            <a:avLst/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cxnSp>
        <p:nvCxnSpPr>
          <p:cNvPr id="37" name="Logic Spine 1"/>
          <p:cNvCxnSpPr/>
          <p:nvPr/>
        </p:nvCxnSpPr>
        <p:spPr>
          <a:xfrm>
            <a:off x="934002" y="2345928"/>
            <a:ext cx="0" cy="1172688"/>
          </a:xfrm>
          <a:prstGeom prst="line">
            <a:avLst/>
          </a:prstGeom>
          <a:ln w="50800">
            <a:solidFill>
              <a:srgbClr val="111111"/>
            </a:solidFill>
            <a:tailEnd type="triangle"/>
          </a:ln>
        </p:spPr>
      </p:cxnSp>
      <p:cxnSp>
        <p:nvCxnSpPr>
          <p:cNvPr id="38" name="Logic Spine 2"/>
          <p:cNvCxnSpPr/>
          <p:nvPr/>
        </p:nvCxnSpPr>
        <p:spPr>
          <a:xfrm>
            <a:off x="934002" y="4211568"/>
            <a:ext cx="0" cy="1172688"/>
          </a:xfrm>
          <a:prstGeom prst="line">
            <a:avLst/>
          </a:prstGeom>
          <a:ln w="50800">
            <a:solidFill>
              <a:srgbClr val="111111"/>
            </a:solidFill>
            <a:tailEnd type="triangle"/>
          </a:ln>
        </p:spPr>
      </p:cxnSp>
      <p:cxnSp>
        <p:nvCxnSpPr>
          <p:cNvPr id="39" name="Logic Spine 3"/>
          <p:cNvCxnSpPr/>
          <p:nvPr/>
        </p:nvCxnSpPr>
        <p:spPr>
          <a:xfrm>
            <a:off x="934002" y="6077208"/>
            <a:ext cx="0" cy="1172688"/>
          </a:xfrm>
          <a:prstGeom prst="line">
            <a:avLst/>
          </a:prstGeom>
          <a:ln w="50800">
            <a:solidFill>
              <a:srgbClr val="111111"/>
            </a:solidFill>
            <a:tailEnd type="triangle"/>
          </a:ln>
        </p:spPr>
      </p:cxnSp>
      <p:cxnSp>
        <p:nvCxnSpPr>
          <p:cNvPr id="40" name="Logic Spine 4"/>
          <p:cNvCxnSpPr/>
          <p:nvPr/>
        </p:nvCxnSpPr>
        <p:spPr>
          <a:xfrm>
            <a:off x="934002" y="7942848"/>
            <a:ext cx="0" cy="1172688"/>
          </a:xfrm>
          <a:prstGeom prst="line">
            <a:avLst/>
          </a:prstGeom>
          <a:ln w="50800">
            <a:solidFill>
              <a:srgbClr val="111111"/>
            </a:solidFill>
            <a:tailEnd type="triangle"/>
          </a:ln>
        </p:spPr>
      </p:cxnSp>
      <p:sp>
        <p:nvSpPr>
          <p:cNvPr id="41" name="Content Row system_model_1"/>
          <p:cNvSpPr/>
          <p:nvPr/>
        </p:nvSpPr>
        <p:spPr>
          <a:xfrm>
            <a:off x="2688592" y="137757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校园负荷与光伏资源</a:t>
            </a:r>
          </a:p>
        </p:txBody>
      </p:sp>
      <p:sp>
        <p:nvSpPr>
          <p:cNvPr id="42" name="Content Row system_model_2"/>
          <p:cNvSpPr/>
          <p:nvPr/>
        </p:nvSpPr>
        <p:spPr>
          <a:xfrm>
            <a:off x="2688592" y="182177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源网荷储系统边界</a:t>
            </a:r>
          </a:p>
        </p:txBody>
      </p:sp>
      <p:sp>
        <p:nvSpPr>
          <p:cNvPr id="43" name="Content Row system_model_3"/>
          <p:cNvSpPr/>
          <p:nvPr/>
        </p:nvSpPr>
        <p:spPr>
          <a:xfrm>
            <a:off x="2688592" y="226597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协同优化目标定义</a:t>
            </a:r>
          </a:p>
        </p:txBody>
      </p:sp>
      <p:sp>
        <p:nvSpPr>
          <p:cNvPr id="44" name="Content Row state_forecast_1"/>
          <p:cNvSpPr/>
          <p:nvPr/>
        </p:nvSpPr>
        <p:spPr>
          <a:xfrm>
            <a:off x="2688592" y="324321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光伏出力短期预测</a:t>
            </a:r>
          </a:p>
        </p:txBody>
      </p:sp>
      <p:sp>
        <p:nvSpPr>
          <p:cNvPr id="45" name="Content Row state_forecast_2"/>
          <p:cNvSpPr/>
          <p:nvPr/>
        </p:nvSpPr>
        <p:spPr>
          <a:xfrm>
            <a:off x="2688592" y="368741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校园负荷短期预测</a:t>
            </a:r>
          </a:p>
        </p:txBody>
      </p:sp>
      <p:sp>
        <p:nvSpPr>
          <p:cNvPr id="46" name="Content Row state_forecast_3"/>
          <p:cNvSpPr/>
          <p:nvPr/>
        </p:nvSpPr>
        <p:spPr>
          <a:xfrm>
            <a:off x="2688592" y="413161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储能 SOC 状态估计</a:t>
            </a:r>
          </a:p>
        </p:txBody>
      </p:sp>
      <p:sp>
        <p:nvSpPr>
          <p:cNvPr id="47" name="Content Row optimization_1"/>
          <p:cNvSpPr/>
          <p:nvPr/>
        </p:nvSpPr>
        <p:spPr>
          <a:xfrm>
            <a:off x="2688592" y="510885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经济、低碳与可靠性目标</a:t>
            </a:r>
          </a:p>
        </p:txBody>
      </p:sp>
      <p:sp>
        <p:nvSpPr>
          <p:cNvPr id="48" name="Content Row optimization_2"/>
          <p:cNvSpPr/>
          <p:nvPr/>
        </p:nvSpPr>
        <p:spPr>
          <a:xfrm>
            <a:off x="2688592" y="555305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源储荷协同调度</a:t>
            </a:r>
          </a:p>
        </p:txBody>
      </p:sp>
      <p:sp>
        <p:nvSpPr>
          <p:cNvPr id="49" name="Content Row optimization_3"/>
          <p:cNvSpPr/>
          <p:nvPr/>
        </p:nvSpPr>
        <p:spPr>
          <a:xfrm>
            <a:off x="2688592" y="599725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并网功率与设备约束</a:t>
            </a:r>
          </a:p>
        </p:txBody>
      </p:sp>
      <p:sp>
        <p:nvSpPr>
          <p:cNvPr id="50" name="Content Row simulation_1"/>
          <p:cNvSpPr/>
          <p:nvPr/>
        </p:nvSpPr>
        <p:spPr>
          <a:xfrm>
            <a:off x="2688592" y="697449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典型日运行仿真</a:t>
            </a:r>
          </a:p>
        </p:txBody>
      </p:sp>
      <p:sp>
        <p:nvSpPr>
          <p:cNvPr id="51" name="Content Row simulation_2"/>
          <p:cNvSpPr/>
          <p:nvPr/>
        </p:nvSpPr>
        <p:spPr>
          <a:xfrm>
            <a:off x="2688592" y="741869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极端天气压力测试</a:t>
            </a:r>
          </a:p>
        </p:txBody>
      </p:sp>
      <p:sp>
        <p:nvSpPr>
          <p:cNvPr id="52" name="Content Row simulation_3"/>
          <p:cNvSpPr/>
          <p:nvPr/>
        </p:nvSpPr>
        <p:spPr>
          <a:xfrm>
            <a:off x="2688592" y="786289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基线策略对比验证</a:t>
            </a:r>
          </a:p>
        </p:txBody>
      </p:sp>
      <p:sp>
        <p:nvSpPr>
          <p:cNvPr id="53" name="Content Row evaluation_1"/>
          <p:cNvSpPr/>
          <p:nvPr/>
        </p:nvSpPr>
        <p:spPr>
          <a:xfrm>
            <a:off x="2688592" y="884013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经济性与减排评价</a:t>
            </a:r>
          </a:p>
        </p:txBody>
      </p:sp>
      <p:sp>
        <p:nvSpPr>
          <p:cNvPr id="54" name="Content Row evaluation_2"/>
          <p:cNvSpPr/>
          <p:nvPr/>
        </p:nvSpPr>
        <p:spPr>
          <a:xfrm>
            <a:off x="2688592" y="928433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供能可靠性评价</a:t>
            </a:r>
          </a:p>
        </p:txBody>
      </p:sp>
      <p:sp>
        <p:nvSpPr>
          <p:cNvPr id="55" name="Content Row evaluation_3"/>
          <p:cNvSpPr/>
          <p:nvPr/>
        </p:nvSpPr>
        <p:spPr>
          <a:xfrm>
            <a:off x="2688592" y="9728532"/>
            <a:ext cx="4388696" cy="37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398D0"/>
            </a:solidFill>
            <a:prstDash val="dash"/>
          </a:ln>
        </p:spPr>
        <p:txBody>
          <a:bodyPr rtlCol="0" anchor="ctr" wrap="square" lIns="38100" rIns="38100" tIns="25400" bIns="2540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Microsoft YaHei"/>
                <a:ea typeface="Microsoft YaHei"/>
              </a:rPr>
              <a:t>运行策略与实施建议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tech-route-maker</dc:creator>
  <cp:keywords/>
  <dc:description>generated using python-pptx</dc:description>
  <cp:lastModifiedBy>tech-route-maker</cp:lastModifiedBy>
  <cp:revision>1</cp:revision>
  <dcterms:created xsi:type="dcterms:W3CDTF">2026-01-01T00:00:00Z</dcterms:created>
  <dcterms:modified xsi:type="dcterms:W3CDTF">2026-01-01T00:00:00Z</dcterms:modified>
  <cp:category/>
</cp:coreProperties>
</file>