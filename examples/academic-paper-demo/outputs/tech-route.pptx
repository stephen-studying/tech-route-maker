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nd"/>
          <p:cNvSpPr/>
          <p:nvPr/>
        </p:nvSpPr>
        <p:spPr>
          <a:xfrm>
            <a:off x="2270155" y="330000"/>
            <a:ext cx="7651689" cy="500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txBody>
          <a:bodyPr wrap="square" anchor="ctr"/>
          <a:lstStyle/>
          <a:p>
            <a:pPr algn="ctr"/>
            <a:r>
              <a:rPr lang="zh-CN" sz="2100" b="1">
                <a:solidFill>
                  <a:srgbClr val="0F172A"/>
                </a:solidFill>
              </a:rPr>
              <a:t>多模态光伏缺陷检测方法技术路线图</a:t>
            </a:r>
          </a:p>
        </p:txBody>
      </p:sp>
      <p:sp>
        <p:nvSpPr>
          <p:cNvPr id="3" name="Subtitle"/>
          <p:cNvSpPr/>
          <p:nvPr/>
        </p:nvSpPr>
        <p:spPr>
          <a:xfrm>
            <a:off x="2270155" y="820000"/>
            <a:ext cx="7651689" cy="21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txBody>
          <a:bodyPr wrap="square" anchor="ctr"/>
          <a:lstStyle/>
          <a:p>
            <a:pPr algn="ctr"/>
            <a:r>
              <a:rPr lang="zh-CN" sz="850">
                <a:solidFill>
                  <a:srgbClr val="64748B"/>
                </a:solidFill>
              </a:rPr>
              <a:t>中文论文方法框架示例：从图像证据到可验证检测结果</a:t>
            </a:r>
          </a:p>
        </p:txBody>
      </p:sp>
      <p:sp>
        <p:nvSpPr>
          <p:cNvPr id="4" name="Stage 研究目标"/>
          <p:cNvSpPr/>
          <p:nvPr/>
        </p:nvSpPr>
        <p:spPr>
          <a:xfrm>
            <a:off x="3388504" y="1244543"/>
            <a:ext cx="6436454" cy="83686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txBody>
          <a:bodyPr wrap="square" anchor="ctr"/>
          <a:lstStyle/>
          <a:p>
            <a:pPr algn="ctr"/>
            <a:r>
              <a:rPr lang="zh-CN" sz="1000">
                <a:solidFill>
                  <a:srgbClr val="0F172A"/>
                </a:solidFill>
              </a:rPr>
              <a:t/>
            </a:r>
          </a:p>
        </p:txBody>
      </p:sp>
      <p:sp>
        <p:nvSpPr>
          <p:cNvPr id="5" name="Label 研究目标"/>
          <p:cNvSpPr/>
          <p:nvPr/>
        </p:nvSpPr>
        <p:spPr>
          <a:xfrm>
            <a:off x="2207052" y="1490679"/>
            <a:ext cx="910702" cy="34459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anchor="ctr"/>
          <a:lstStyle/>
          <a:p>
            <a:pPr algn="ctr"/>
            <a:r>
              <a:rPr lang="zh-CN" sz="1050" b="1">
                <a:solidFill>
                  <a:srgbClr val="FFFFFF"/>
                </a:solidFill>
              </a:rPr>
              <a:t>研究目标</a:t>
            </a:r>
          </a:p>
        </p:txBody>
      </p:sp>
      <p:sp>
        <p:nvSpPr>
          <p:cNvPr id="6" name="Stage 数据证据"/>
          <p:cNvSpPr/>
          <p:nvPr/>
        </p:nvSpPr>
        <p:spPr>
          <a:xfrm>
            <a:off x="3388504" y="2266007"/>
            <a:ext cx="6436454" cy="836862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E2E8F0"/>
            </a:solidFill>
          </a:ln>
        </p:spPr>
        <p:txBody>
          <a:bodyPr wrap="square" anchor="ctr"/>
          <a:lstStyle/>
          <a:p>
            <a:pPr algn="ctr"/>
            <a:r>
              <a:rPr lang="zh-CN" sz="1000">
                <a:solidFill>
                  <a:srgbClr val="0F172A"/>
                </a:solidFill>
              </a:rPr>
              <a:t/>
            </a:r>
          </a:p>
        </p:txBody>
      </p:sp>
      <p:sp>
        <p:nvSpPr>
          <p:cNvPr id="7" name="Label 数据证据"/>
          <p:cNvSpPr/>
          <p:nvPr/>
        </p:nvSpPr>
        <p:spPr>
          <a:xfrm>
            <a:off x="2207052" y="2512143"/>
            <a:ext cx="910702" cy="34459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anchor="ctr"/>
          <a:lstStyle/>
          <a:p>
            <a:pPr algn="ctr"/>
            <a:r>
              <a:rPr lang="zh-CN" sz="1050" b="1">
                <a:solidFill>
                  <a:srgbClr val="FFFFFF"/>
                </a:solidFill>
              </a:rPr>
              <a:t>数据证据</a:t>
            </a:r>
          </a:p>
        </p:txBody>
      </p:sp>
      <p:sp>
        <p:nvSpPr>
          <p:cNvPr id="8" name="Stage 方法设计"/>
          <p:cNvSpPr/>
          <p:nvPr/>
        </p:nvSpPr>
        <p:spPr>
          <a:xfrm>
            <a:off x="3388504" y="3287471"/>
            <a:ext cx="6436454" cy="836862"/>
          </a:xfrm>
          <a:prstGeom prst="roundRect">
            <a:avLst/>
          </a:prstGeom>
          <a:solidFill>
            <a:srgbClr val="FEFCE8"/>
          </a:solidFill>
          <a:ln w="12700">
            <a:solidFill>
              <a:srgbClr val="E2E8F0"/>
            </a:solidFill>
          </a:ln>
        </p:spPr>
        <p:txBody>
          <a:bodyPr wrap="square" anchor="ctr"/>
          <a:lstStyle/>
          <a:p>
            <a:pPr algn="ctr"/>
            <a:r>
              <a:rPr lang="zh-CN" sz="1000">
                <a:solidFill>
                  <a:srgbClr val="0F172A"/>
                </a:solidFill>
              </a:rPr>
              <a:t/>
            </a:r>
          </a:p>
        </p:txBody>
      </p:sp>
      <p:sp>
        <p:nvSpPr>
          <p:cNvPr id="9" name="Label 方法设计"/>
          <p:cNvSpPr/>
          <p:nvPr/>
        </p:nvSpPr>
        <p:spPr>
          <a:xfrm>
            <a:off x="2207052" y="3533607"/>
            <a:ext cx="910702" cy="34459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anchor="ctr"/>
          <a:lstStyle/>
          <a:p>
            <a:pPr algn="ctr"/>
            <a:r>
              <a:rPr lang="zh-CN" sz="1050" b="1">
                <a:solidFill>
                  <a:srgbClr val="FFFFFF"/>
                </a:solidFill>
              </a:rPr>
              <a:t>方法设计</a:t>
            </a:r>
          </a:p>
        </p:txBody>
      </p:sp>
      <p:sp>
        <p:nvSpPr>
          <p:cNvPr id="10" name="Stage 训练验证"/>
          <p:cNvSpPr/>
          <p:nvPr/>
        </p:nvSpPr>
        <p:spPr>
          <a:xfrm>
            <a:off x="3388504" y="4308935"/>
            <a:ext cx="6436454" cy="836862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2E8F0"/>
            </a:solidFill>
          </a:ln>
        </p:spPr>
        <p:txBody>
          <a:bodyPr wrap="square" anchor="ctr"/>
          <a:lstStyle/>
          <a:p>
            <a:pPr algn="ctr"/>
            <a:r>
              <a:rPr lang="zh-CN" sz="1000">
                <a:solidFill>
                  <a:srgbClr val="0F172A"/>
                </a:solidFill>
              </a:rPr>
              <a:t/>
            </a:r>
          </a:p>
        </p:txBody>
      </p:sp>
      <p:sp>
        <p:nvSpPr>
          <p:cNvPr id="11" name="Label 训练验证"/>
          <p:cNvSpPr/>
          <p:nvPr/>
        </p:nvSpPr>
        <p:spPr>
          <a:xfrm>
            <a:off x="2207052" y="4555071"/>
            <a:ext cx="910702" cy="34459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anchor="ctr"/>
          <a:lstStyle/>
          <a:p>
            <a:pPr algn="ctr"/>
            <a:r>
              <a:rPr lang="zh-CN" sz="1050" b="1">
                <a:solidFill>
                  <a:srgbClr val="FFFFFF"/>
                </a:solidFill>
              </a:rPr>
              <a:t>训练验证</a:t>
            </a:r>
          </a:p>
        </p:txBody>
      </p:sp>
      <p:sp>
        <p:nvSpPr>
          <p:cNvPr id="12" name="Stage 结果输出"/>
          <p:cNvSpPr/>
          <p:nvPr/>
        </p:nvSpPr>
        <p:spPr>
          <a:xfrm>
            <a:off x="3388504" y="5330400"/>
            <a:ext cx="6436454" cy="836862"/>
          </a:xfrm>
          <a:prstGeom prst="roundRect">
            <a:avLst/>
          </a:prstGeom>
          <a:solidFill>
            <a:srgbClr val="FDF2F8"/>
          </a:solidFill>
          <a:ln w="12700">
            <a:solidFill>
              <a:srgbClr val="E2E8F0"/>
            </a:solidFill>
          </a:ln>
        </p:spPr>
        <p:txBody>
          <a:bodyPr wrap="square" anchor="ctr"/>
          <a:lstStyle/>
          <a:p>
            <a:pPr algn="ctr"/>
            <a:r>
              <a:rPr lang="zh-CN" sz="1000">
                <a:solidFill>
                  <a:srgbClr val="0F172A"/>
                </a:solidFill>
              </a:rPr>
              <a:t/>
            </a:r>
          </a:p>
        </p:txBody>
      </p:sp>
      <p:sp>
        <p:nvSpPr>
          <p:cNvPr id="13" name="Label 结果输出"/>
          <p:cNvSpPr/>
          <p:nvPr/>
        </p:nvSpPr>
        <p:spPr>
          <a:xfrm>
            <a:off x="2207052" y="5576535"/>
            <a:ext cx="910702" cy="34459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anchor="ctr"/>
          <a:lstStyle/>
          <a:p>
            <a:pPr algn="ctr"/>
            <a:r>
              <a:rPr lang="zh-CN" sz="1050" b="1">
                <a:solidFill>
                  <a:srgbClr val="FFFFFF"/>
                </a:solidFill>
              </a:rPr>
              <a:t>结果输出</a:t>
            </a:r>
          </a:p>
        </p:txBody>
      </p:sp>
      <p:cxnSp>
        <p:nvCxnSpPr>
          <p:cNvPr id="14" name="Connector 14"/>
          <p:cNvCxnSpPr/>
          <p:nvPr/>
        </p:nvCxnSpPr>
        <p:spPr>
          <a:xfrm>
            <a:off x="6606732" y="2081405"/>
            <a:ext cx="1" cy="184601"/>
          </a:xfrm>
          <a:prstGeom prst="line">
            <a:avLst/>
          </a:prstGeom>
          <a:ln w="19050">
            <a:solidFill>
              <a:srgbClr val="64748B"/>
            </a:solidFill>
            <a:headEnd type="triangle"/>
          </a:ln>
        </p:spPr>
      </p:cxnSp>
      <p:cxnSp>
        <p:nvCxnSpPr>
          <p:cNvPr id="15" name="Connector 15"/>
          <p:cNvCxnSpPr/>
          <p:nvPr/>
        </p:nvCxnSpPr>
        <p:spPr>
          <a:xfrm>
            <a:off x="6606732" y="3102869"/>
            <a:ext cx="1" cy="184601"/>
          </a:xfrm>
          <a:prstGeom prst="line">
            <a:avLst/>
          </a:prstGeom>
          <a:ln w="19050">
            <a:solidFill>
              <a:srgbClr val="64748B"/>
            </a:solidFill>
            <a:headEnd type="triangle"/>
          </a:ln>
        </p:spPr>
      </p:cxnSp>
      <p:cxnSp>
        <p:nvCxnSpPr>
          <p:cNvPr id="16" name="Connector 16"/>
          <p:cNvCxnSpPr/>
          <p:nvPr/>
        </p:nvCxnSpPr>
        <p:spPr>
          <a:xfrm>
            <a:off x="6606732" y="4124333"/>
            <a:ext cx="1" cy="184601"/>
          </a:xfrm>
          <a:prstGeom prst="line">
            <a:avLst/>
          </a:prstGeom>
          <a:ln w="19050">
            <a:solidFill>
              <a:srgbClr val="64748B"/>
            </a:solidFill>
            <a:headEnd type="triangle"/>
          </a:ln>
        </p:spPr>
      </p:cxnSp>
      <p:cxnSp>
        <p:nvCxnSpPr>
          <p:cNvPr id="17" name="Connector 17"/>
          <p:cNvCxnSpPr/>
          <p:nvPr/>
        </p:nvCxnSpPr>
        <p:spPr>
          <a:xfrm>
            <a:off x="6606732" y="5145798"/>
            <a:ext cx="1" cy="184601"/>
          </a:xfrm>
          <a:prstGeom prst="line">
            <a:avLst/>
          </a:prstGeom>
          <a:ln w="19050">
            <a:solidFill>
              <a:srgbClr val="64748B"/>
            </a:solidFill>
            <a:headEnd type="triangle"/>
          </a:ln>
        </p:spPr>
      </p:cxnSp>
      <p:sp>
        <p:nvSpPr>
          <p:cNvPr id="18" name="Node goal_task"/>
          <p:cNvSpPr/>
          <p:nvPr/>
        </p:nvSpPr>
        <p:spPr>
          <a:xfrm>
            <a:off x="3610027" y="1441452"/>
            <a:ext cx="2941324" cy="39381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0F172A"/>
                </a:solidFill>
              </a:rPr>
              <a:t>明确缺陷检测任务</a:t>
            </a:r>
          </a:p>
        </p:txBody>
      </p:sp>
      <p:sp>
        <p:nvSpPr>
          <p:cNvPr id="19" name="Node goal_metric"/>
          <p:cNvSpPr/>
          <p:nvPr/>
        </p:nvSpPr>
        <p:spPr>
          <a:xfrm>
            <a:off x="6662112" y="1441452"/>
            <a:ext cx="2941324" cy="39381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0F172A"/>
                </a:solidFill>
              </a:rPr>
              <a:t>设定评价指标</a:t>
            </a:r>
          </a:p>
        </p:txBody>
      </p:sp>
      <p:sp>
        <p:nvSpPr>
          <p:cNvPr id="20" name="Node data_collect"/>
          <p:cNvSpPr/>
          <p:nvPr/>
        </p:nvSpPr>
        <p:spPr>
          <a:xfrm>
            <a:off x="3610027" y="2462916"/>
            <a:ext cx="1923962" cy="39381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0F172A"/>
                </a:solidFill>
              </a:rPr>
              <a:t>采集多模态图像</a:t>
            </a:r>
          </a:p>
        </p:txBody>
      </p:sp>
      <p:sp>
        <p:nvSpPr>
          <p:cNvPr id="21" name="Node data_align"/>
          <p:cNvSpPr/>
          <p:nvPr/>
        </p:nvSpPr>
        <p:spPr>
          <a:xfrm>
            <a:off x="5644750" y="2462916"/>
            <a:ext cx="1923962" cy="39381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0F172A"/>
                </a:solidFill>
              </a:rPr>
              <a:t>配准并标注缺陷</a:t>
            </a:r>
          </a:p>
        </p:txBody>
      </p:sp>
      <p:sp>
        <p:nvSpPr>
          <p:cNvPr id="22" name="Node data_split"/>
          <p:cNvSpPr/>
          <p:nvPr/>
        </p:nvSpPr>
        <p:spPr>
          <a:xfrm>
            <a:off x="7679474" y="2462916"/>
            <a:ext cx="1923962" cy="39381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0F172A"/>
                </a:solidFill>
              </a:rPr>
              <a:t>划分训练样本</a:t>
            </a:r>
          </a:p>
        </p:txBody>
      </p:sp>
      <p:sp>
        <p:nvSpPr>
          <p:cNvPr id="23" name="Node method_baseline"/>
          <p:cNvSpPr/>
          <p:nvPr/>
        </p:nvSpPr>
        <p:spPr>
          <a:xfrm>
            <a:off x="3610027" y="3484380"/>
            <a:ext cx="1923962" cy="39381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0F172A"/>
                </a:solidFill>
              </a:rPr>
              <a:t>建立基线检测器</a:t>
            </a:r>
          </a:p>
        </p:txBody>
      </p:sp>
      <p:sp>
        <p:nvSpPr>
          <p:cNvPr id="24" name="Node method_fusion"/>
          <p:cNvSpPr/>
          <p:nvPr/>
        </p:nvSpPr>
        <p:spPr>
          <a:xfrm>
            <a:off x="5644750" y="3484380"/>
            <a:ext cx="1923962" cy="39381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0F172A"/>
                </a:solidFill>
              </a:rPr>
              <a:t>构建跨模态融合</a:t>
            </a:r>
          </a:p>
        </p:txBody>
      </p:sp>
      <p:sp>
        <p:nvSpPr>
          <p:cNvPr id="25" name="Node method_attention"/>
          <p:cNvSpPr/>
          <p:nvPr/>
        </p:nvSpPr>
        <p:spPr>
          <a:xfrm>
            <a:off x="7679474" y="3484380"/>
            <a:ext cx="1923962" cy="39381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0F172A"/>
                </a:solidFill>
              </a:rPr>
              <a:t>增强关键区域感知</a:t>
            </a:r>
          </a:p>
        </p:txBody>
      </p:sp>
      <p:sp>
        <p:nvSpPr>
          <p:cNvPr id="26" name="Node training_loss"/>
          <p:cNvSpPr/>
          <p:nvPr/>
        </p:nvSpPr>
        <p:spPr>
          <a:xfrm>
            <a:off x="3610027" y="4505844"/>
            <a:ext cx="1923962" cy="39381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0F172A"/>
                </a:solidFill>
              </a:rPr>
              <a:t>优化检测损失</a:t>
            </a:r>
          </a:p>
        </p:txBody>
      </p:sp>
      <p:sp>
        <p:nvSpPr>
          <p:cNvPr id="27" name="Node training_ablation"/>
          <p:cNvSpPr/>
          <p:nvPr/>
        </p:nvSpPr>
        <p:spPr>
          <a:xfrm>
            <a:off x="5644750" y="4505844"/>
            <a:ext cx="1923962" cy="39381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0F172A"/>
                </a:solidFill>
              </a:rPr>
              <a:t>开展消融实验</a:t>
            </a:r>
          </a:p>
        </p:txBody>
      </p:sp>
      <p:sp>
        <p:nvSpPr>
          <p:cNvPr id="28" name="Node training_infer"/>
          <p:cNvSpPr/>
          <p:nvPr/>
        </p:nvSpPr>
        <p:spPr>
          <a:xfrm>
            <a:off x="7679474" y="4505844"/>
            <a:ext cx="1923962" cy="39381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0F172A"/>
                </a:solidFill>
              </a:rPr>
              <a:t>推理并筛选结果</a:t>
            </a:r>
          </a:p>
        </p:txBody>
      </p:sp>
      <p:sp>
        <p:nvSpPr>
          <p:cNvPr id="29" name="Node output_metrics"/>
          <p:cNvSpPr/>
          <p:nvPr/>
        </p:nvSpPr>
        <p:spPr>
          <a:xfrm>
            <a:off x="3610027" y="5527308"/>
            <a:ext cx="1923962" cy="39381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0F172A"/>
                </a:solidFill>
              </a:rPr>
              <a:t>完成指标评估</a:t>
            </a:r>
          </a:p>
        </p:txBody>
      </p:sp>
      <p:sp>
        <p:nvSpPr>
          <p:cNvPr id="30" name="Node output_visual"/>
          <p:cNvSpPr/>
          <p:nvPr/>
        </p:nvSpPr>
        <p:spPr>
          <a:xfrm>
            <a:off x="5644750" y="5527308"/>
            <a:ext cx="1923962" cy="39381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0F172A"/>
                </a:solidFill>
              </a:rPr>
              <a:t>生成可视化解释</a:t>
            </a:r>
          </a:p>
        </p:txBody>
      </p:sp>
      <p:sp>
        <p:nvSpPr>
          <p:cNvPr id="31" name="Node output_report"/>
          <p:cNvSpPr/>
          <p:nvPr/>
        </p:nvSpPr>
        <p:spPr>
          <a:xfrm>
            <a:off x="7679474" y="5527308"/>
            <a:ext cx="1923962" cy="39381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0F172A"/>
                </a:solidFill>
              </a:rPr>
              <a:t>输出缺陷报告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RouteMaker">
  <a:themeElements>
    <a:clrScheme name="TechRoute">
      <a:dk1>
        <a:srgbClr val="000000"/>
      </a:dk1>
      <a:lt1>
        <a:srgbClr val="FFFFFF"/>
      </a:lt1>
      <a:dk2>
        <a:srgbClr val="1F2937"/>
      </a:dk2>
      <a:lt2>
        <a:srgbClr val="F8FAFC"/>
      </a:lt2>
      <a:accent1>
        <a:srgbClr val="2563EB"/>
      </a:accent1>
      <a:accent2>
        <a:srgbClr val="0F766E"/>
      </a:accent2>
      <a:accent3>
        <a:srgbClr val="7C3AED"/>
      </a:accent3>
      <a:accent4>
        <a:srgbClr val="F59E0B"/>
      </a:accent4>
      <a:accent5>
        <a:srgbClr val="EF4444"/>
      </a:accent5>
      <a:accent6>
        <a:srgbClr val="64748B"/>
      </a:accent6>
      <a:hlink>
        <a:srgbClr val="2563EB"/>
      </a:hlink>
      <a:folHlink>
        <a:srgbClr val="7C3AED"/>
      </a:folHlink>
    </a:clrScheme>
    <a:fontScheme name="Arial">
      <a:majorFont>
        <a:latin typeface="Arial"/>
      </a:majorFont>
      <a:minorFont>
        <a:latin typeface="Arial"/>
      </a:minorFont>
    </a:fontScheme>
    <a:fmtScheme name="TechRout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tech-route-maker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>
  <dc:creator>tech-route-maker</dc:creator>
  <cp:lastModifiedBy>tech-route-maker</cp:lastModifiedBy>
</cp:coreProperties>
</file>