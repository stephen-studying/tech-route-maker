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150000" y="2196133"/>
            <a:ext cx="9892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7201D"/>
                </a:solidFill>
              </a:rPr>
              <a:t>多模态光伏缺陷检测技术路线图</a:t>
            </a:r>
          </a:p>
        </p:txBody>
      </p:sp>
      <p:sp>
        <p:nvSpPr>
          <p:cNvPr id="3" name="Stage 研究目标"/>
          <p:cNvSpPr/>
          <p:nvPr/>
        </p:nvSpPr>
        <p:spPr>
          <a:xfrm>
            <a:off x="624144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4" name="Header 研究目标"/>
          <p:cNvSpPr/>
          <p:nvPr/>
        </p:nvSpPr>
        <p:spPr>
          <a:xfrm>
            <a:off x="624144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研究目标</a:t>
            </a:r>
          </a:p>
        </p:txBody>
      </p:sp>
      <p:sp>
        <p:nvSpPr>
          <p:cNvPr id="5" name="Stage 数据构建"/>
          <p:cNvSpPr/>
          <p:nvPr/>
        </p:nvSpPr>
        <p:spPr>
          <a:xfrm>
            <a:off x="2508226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6" name="Header 数据构建"/>
          <p:cNvSpPr/>
          <p:nvPr/>
        </p:nvSpPr>
        <p:spPr>
          <a:xfrm>
            <a:off x="2508226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数据构建</a:t>
            </a:r>
          </a:p>
        </p:txBody>
      </p:sp>
      <p:sp>
        <p:nvSpPr>
          <p:cNvPr id="7" name="Stage 预处理"/>
          <p:cNvSpPr/>
          <p:nvPr/>
        </p:nvSpPr>
        <p:spPr>
          <a:xfrm>
            <a:off x="4392308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8" name="Header 预处理"/>
          <p:cNvSpPr/>
          <p:nvPr/>
        </p:nvSpPr>
        <p:spPr>
          <a:xfrm>
            <a:off x="4392308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预处理</a:t>
            </a:r>
          </a:p>
        </p:txBody>
      </p:sp>
      <p:sp>
        <p:nvSpPr>
          <p:cNvPr id="9" name="Stage 核心方法"/>
          <p:cNvSpPr/>
          <p:nvPr/>
        </p:nvSpPr>
        <p:spPr>
          <a:xfrm>
            <a:off x="6276390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10" name="Header 核心方法"/>
          <p:cNvSpPr/>
          <p:nvPr/>
        </p:nvSpPr>
        <p:spPr>
          <a:xfrm>
            <a:off x="6276390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核心方法</a:t>
            </a:r>
          </a:p>
        </p:txBody>
      </p:sp>
      <p:sp>
        <p:nvSpPr>
          <p:cNvPr id="11" name="Stage 训练推理"/>
          <p:cNvSpPr/>
          <p:nvPr/>
        </p:nvSpPr>
        <p:spPr>
          <a:xfrm>
            <a:off x="8160473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12" name="Header 训练推理"/>
          <p:cNvSpPr/>
          <p:nvPr/>
        </p:nvSpPr>
        <p:spPr>
          <a:xfrm>
            <a:off x="8160473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训练推理</a:t>
            </a:r>
          </a:p>
        </p:txBody>
      </p:sp>
      <p:sp>
        <p:nvSpPr>
          <p:cNvPr id="13" name="Stage 验证输出"/>
          <p:cNvSpPr/>
          <p:nvPr/>
        </p:nvSpPr>
        <p:spPr>
          <a:xfrm>
            <a:off x="10044555" y="3001406"/>
            <a:ext cx="1523300" cy="1376315"/>
          </a:xfrm>
          <a:prstGeom prst="roundRect">
            <a:avLst/>
          </a:prstGeom>
          <a:solidFill>
            <a:srgbClr val="F8FAF9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14" name="Header 验证输出"/>
          <p:cNvSpPr/>
          <p:nvPr/>
        </p:nvSpPr>
        <p:spPr>
          <a:xfrm>
            <a:off x="10044555" y="3001406"/>
            <a:ext cx="1523300" cy="260000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验证输出</a:t>
            </a:r>
          </a:p>
        </p:txBody>
      </p:sp>
      <p:cxnSp>
        <p:nvCxnSpPr>
          <p:cNvPr id="15" name="Connector 15"/>
          <p:cNvCxnSpPr/>
          <p:nvPr/>
        </p:nvCxnSpPr>
        <p:spPr>
          <a:xfrm>
            <a:off x="1385794" y="3569304"/>
            <a:ext cx="1884082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269876" y="3569304"/>
            <a:ext cx="1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3269876" y="3569304"/>
            <a:ext cx="1884082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5153958" y="3569304"/>
            <a:ext cx="1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5153958" y="3569304"/>
            <a:ext cx="1884082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7038041" y="3569304"/>
            <a:ext cx="1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7038041" y="3569304"/>
            <a:ext cx="1884082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8922123" y="3569304"/>
            <a:ext cx="1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V="1">
            <a:off x="8922123" y="3569304"/>
            <a:ext cx="1884082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10806205" y="3569304"/>
            <a:ext cx="1" cy="494404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sp>
        <p:nvSpPr>
          <p:cNvPr id="25" name="Node objective_goal"/>
          <p:cNvSpPr/>
          <p:nvPr/>
        </p:nvSpPr>
        <p:spPr>
          <a:xfrm>
            <a:off x="791172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明确检测目标</a:t>
            </a:r>
          </a:p>
        </p:txBody>
      </p:sp>
      <p:sp>
        <p:nvSpPr>
          <p:cNvPr id="26" name="Node data_capture"/>
          <p:cNvSpPr/>
          <p:nvPr/>
        </p:nvSpPr>
        <p:spPr>
          <a:xfrm>
            <a:off x="2675254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采集多模态图像</a:t>
            </a:r>
          </a:p>
        </p:txBody>
      </p:sp>
      <p:sp>
        <p:nvSpPr>
          <p:cNvPr id="27" name="Node data_screen"/>
          <p:cNvSpPr/>
          <p:nvPr/>
        </p:nvSpPr>
        <p:spPr>
          <a:xfrm>
            <a:off x="2675254" y="3869955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图像质量筛选</a:t>
            </a:r>
          </a:p>
        </p:txBody>
      </p:sp>
      <p:sp>
        <p:nvSpPr>
          <p:cNvPr id="28" name="Node preprocess_align"/>
          <p:cNvSpPr/>
          <p:nvPr/>
        </p:nvSpPr>
        <p:spPr>
          <a:xfrm>
            <a:off x="4559337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图像配准与标注</a:t>
            </a:r>
          </a:p>
        </p:txBody>
      </p:sp>
      <p:sp>
        <p:nvSpPr>
          <p:cNvPr id="29" name="Node preprocess_split"/>
          <p:cNvSpPr/>
          <p:nvPr/>
        </p:nvSpPr>
        <p:spPr>
          <a:xfrm>
            <a:off x="4559337" y="3869955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增强并划分数据</a:t>
            </a:r>
          </a:p>
        </p:txBody>
      </p:sp>
      <p:sp>
        <p:nvSpPr>
          <p:cNvPr id="30" name="Node method_baseline"/>
          <p:cNvSpPr/>
          <p:nvPr/>
        </p:nvSpPr>
        <p:spPr>
          <a:xfrm>
            <a:off x="6443419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建立基线检测器</a:t>
            </a:r>
          </a:p>
        </p:txBody>
      </p:sp>
      <p:sp>
        <p:nvSpPr>
          <p:cNvPr id="31" name="Node method_fusion"/>
          <p:cNvSpPr/>
          <p:nvPr/>
        </p:nvSpPr>
        <p:spPr>
          <a:xfrm>
            <a:off x="6443419" y="3869955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构建特征融合检测器</a:t>
            </a:r>
          </a:p>
        </p:txBody>
      </p:sp>
      <p:sp>
        <p:nvSpPr>
          <p:cNvPr id="32" name="Node train_supervised"/>
          <p:cNvSpPr/>
          <p:nvPr/>
        </p:nvSpPr>
        <p:spPr>
          <a:xfrm>
            <a:off x="8327501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训练与指标优化</a:t>
            </a:r>
          </a:p>
        </p:txBody>
      </p:sp>
      <p:sp>
        <p:nvSpPr>
          <p:cNvPr id="33" name="Node infer_filter"/>
          <p:cNvSpPr/>
          <p:nvPr/>
        </p:nvSpPr>
        <p:spPr>
          <a:xfrm>
            <a:off x="8327501" y="3869955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推理并筛选结果</a:t>
            </a:r>
          </a:p>
        </p:txBody>
      </p:sp>
      <p:sp>
        <p:nvSpPr>
          <p:cNvPr id="34" name="Node eval_compare"/>
          <p:cNvSpPr/>
          <p:nvPr/>
        </p:nvSpPr>
        <p:spPr>
          <a:xfrm>
            <a:off x="10211584" y="3375550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对比与消融验证</a:t>
            </a:r>
          </a:p>
        </p:txBody>
      </p:sp>
      <p:sp>
        <p:nvSpPr>
          <p:cNvPr id="35" name="Node output_report"/>
          <p:cNvSpPr/>
          <p:nvPr/>
        </p:nvSpPr>
        <p:spPr>
          <a:xfrm>
            <a:off x="10211584" y="3869955"/>
            <a:ext cx="1189243" cy="3875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输出缺陷报告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