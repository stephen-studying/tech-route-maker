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2300273" y="270000"/>
            <a:ext cx="7591452" cy="4300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E8F3F1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7201D"/>
                </a:solidFill>
              </a:rPr>
              <a:t>多模态光伏缺陷检测技术路线图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3130273" y="715000"/>
            <a:ext cx="5931452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59636A"/>
                </a:solidFill>
              </a:rPr>
              <a:t>Academic method</a:t>
            </a:r>
          </a:p>
          <a:p>
            <a:pPr algn="ctr"/>
            <a:r>
              <a:rPr lang="en-US" sz="850">
                <a:solidFill>
                  <a:srgbClr val="59636A"/>
                </a:solidFill>
              </a:rPr>
              <a:t>framework demo</a:t>
            </a:r>
          </a:p>
          <a:p>
            <a:pPr algn="ctr"/>
            <a:r>
              <a:rPr lang="en-US" sz="850">
                <a:solidFill>
                  <a:srgbClr val="59636A"/>
                </a:solidFill>
              </a:rPr>
              <a:t>generated by</a:t>
            </a:r>
          </a:p>
          <a:p>
            <a:pPr algn="ctr"/>
            <a:r>
              <a:rPr lang="en-US" sz="850">
                <a:solidFill>
                  <a:srgbClr val="59636A"/>
                </a:solidFill>
              </a:rPr>
              <a:t>tech-route-maker</a:t>
            </a:r>
          </a:p>
        </p:txBody>
      </p:sp>
      <p:sp>
        <p:nvSpPr>
          <p:cNvPr id="4" name="Stage 研究目标"/>
          <p:cNvSpPr/>
          <p:nvPr/>
        </p:nvSpPr>
        <p:spPr>
          <a:xfrm>
            <a:off x="3253376" y="1207337"/>
            <a:ext cx="6761581" cy="869346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5" name="Label 研究目标"/>
          <p:cNvSpPr/>
          <p:nvPr/>
        </p:nvSpPr>
        <p:spPr>
          <a:xfrm>
            <a:off x="2108047" y="1448822"/>
            <a:ext cx="883145" cy="386376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研究目标</a:t>
            </a:r>
          </a:p>
        </p:txBody>
      </p:sp>
      <p:sp>
        <p:nvSpPr>
          <p:cNvPr id="6" name="Stage 数据与样本"/>
          <p:cNvSpPr/>
          <p:nvPr/>
        </p:nvSpPr>
        <p:spPr>
          <a:xfrm>
            <a:off x="3253376" y="2242273"/>
            <a:ext cx="6761581" cy="869346"/>
          </a:xfrm>
          <a:prstGeom prst="roundRect">
            <a:avLst/>
          </a:prstGeom>
          <a:solidFill>
            <a:srgbClr val="F2EFE6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7" name="Label 数据与样本"/>
          <p:cNvSpPr/>
          <p:nvPr/>
        </p:nvSpPr>
        <p:spPr>
          <a:xfrm>
            <a:off x="2108047" y="2483758"/>
            <a:ext cx="883145" cy="386376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数据与样本</a:t>
            </a:r>
          </a:p>
        </p:txBody>
      </p:sp>
      <p:sp>
        <p:nvSpPr>
          <p:cNvPr id="8" name="Stage 方法设计"/>
          <p:cNvSpPr/>
          <p:nvPr/>
        </p:nvSpPr>
        <p:spPr>
          <a:xfrm>
            <a:off x="3253376" y="3277209"/>
            <a:ext cx="6761581" cy="869346"/>
          </a:xfrm>
          <a:prstGeom prst="roundRect">
            <a:avLst/>
          </a:prstGeom>
          <a:solidFill>
            <a:srgbClr val="EAF0F6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9" name="Label 方法设计"/>
          <p:cNvSpPr/>
          <p:nvPr/>
        </p:nvSpPr>
        <p:spPr>
          <a:xfrm>
            <a:off x="2108047" y="3518694"/>
            <a:ext cx="883145" cy="386376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方法设计</a:t>
            </a:r>
          </a:p>
        </p:txBody>
      </p:sp>
      <p:sp>
        <p:nvSpPr>
          <p:cNvPr id="10" name="Stage 训练优化"/>
          <p:cNvSpPr/>
          <p:nvPr/>
        </p:nvSpPr>
        <p:spPr>
          <a:xfrm>
            <a:off x="3253376" y="4312145"/>
            <a:ext cx="6761581" cy="869346"/>
          </a:xfrm>
          <a:prstGeom prst="roundRect">
            <a:avLst/>
          </a:prstGeom>
          <a:solidFill>
            <a:srgbClr val="F6F1E8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11" name="Label 训练优化"/>
          <p:cNvSpPr/>
          <p:nvPr/>
        </p:nvSpPr>
        <p:spPr>
          <a:xfrm>
            <a:off x="2108047" y="4553630"/>
            <a:ext cx="883145" cy="386376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训练优化</a:t>
            </a:r>
          </a:p>
        </p:txBody>
      </p:sp>
      <p:sp>
        <p:nvSpPr>
          <p:cNvPr id="12" name="Stage 验证输出"/>
          <p:cNvSpPr/>
          <p:nvPr/>
        </p:nvSpPr>
        <p:spPr>
          <a:xfrm>
            <a:off x="3253376" y="5347081"/>
            <a:ext cx="6761581" cy="869346"/>
          </a:xfrm>
          <a:prstGeom prst="roundRect">
            <a:avLst/>
          </a:prstGeom>
          <a:solidFill>
            <a:srgbClr val="EDF4EA"/>
          </a:solidFill>
          <a:ln w="12700">
            <a:solidFill>
              <a:srgbClr val="B8C7C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7201D"/>
                </a:solidFill>
              </a:rPr>
              <a:t/>
            </a:r>
          </a:p>
        </p:txBody>
      </p:sp>
      <p:sp>
        <p:nvSpPr>
          <p:cNvPr id="13" name="Label 验证输出"/>
          <p:cNvSpPr/>
          <p:nvPr/>
        </p:nvSpPr>
        <p:spPr>
          <a:xfrm>
            <a:off x="2108047" y="5588566"/>
            <a:ext cx="883145" cy="386376"/>
          </a:xfrm>
          <a:prstGeom prst="roundRect">
            <a:avLst/>
          </a:prstGeom>
          <a:solidFill>
            <a:srgbClr val="315C61"/>
          </a:solidFill>
          <a:ln w="12700">
            <a:solidFill>
              <a:srgbClr val="315C61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FFFFFF"/>
                </a:solidFill>
              </a:rPr>
              <a:t>验证输出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5040365" y="1635111"/>
            <a:ext cx="3187602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H="1">
            <a:off x="4509098" y="1635111"/>
            <a:ext cx="3718869" cy="1034935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4509098" y="2670047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634166" y="2670047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4509098" y="2670047"/>
            <a:ext cx="4250136" cy="1034935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4509098" y="3704982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6634166" y="3704982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4509098" y="3704982"/>
            <a:ext cx="4250136" cy="1034935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4509098" y="4739918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6634166" y="4739918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4509098" y="4739918"/>
            <a:ext cx="4250136" cy="1034935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4509098" y="5774854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cxnSp>
        <p:nvCxnSpPr>
          <p:cNvPr id="26" name="Connector 26"/>
          <p:cNvCxnSpPr/>
          <p:nvPr/>
        </p:nvCxnSpPr>
        <p:spPr>
          <a:xfrm>
            <a:off x="6634166" y="5774854"/>
            <a:ext cx="2125068" cy="1"/>
          </a:xfrm>
          <a:prstGeom prst="line">
            <a:avLst/>
          </a:prstGeom>
          <a:ln w="19050">
            <a:solidFill>
              <a:srgbClr val="315C61"/>
            </a:solidFill>
            <a:headEnd type="triangle"/>
          </a:ln>
        </p:spPr>
      </p:cxnSp>
      <p:sp>
        <p:nvSpPr>
          <p:cNvPr id="27" name="Node objective_task"/>
          <p:cNvSpPr/>
          <p:nvPr/>
        </p:nvSpPr>
        <p:spPr>
          <a:xfrm>
            <a:off x="3501760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明确缺陷检测任务</a:t>
            </a:r>
          </a:p>
        </p:txBody>
      </p:sp>
      <p:sp>
        <p:nvSpPr>
          <p:cNvPr id="28" name="Node objective_metrics"/>
          <p:cNvSpPr/>
          <p:nvPr/>
        </p:nvSpPr>
        <p:spPr>
          <a:xfrm>
            <a:off x="6689363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设定评价指标</a:t>
            </a:r>
          </a:p>
        </p:txBody>
      </p:sp>
      <p:sp>
        <p:nvSpPr>
          <p:cNvPr id="29" name="Node data_capture"/>
          <p:cNvSpPr/>
          <p:nvPr/>
        </p:nvSpPr>
        <p:spPr>
          <a:xfrm>
            <a:off x="3501760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采集多模态图像</a:t>
            </a:r>
          </a:p>
        </p:txBody>
      </p:sp>
      <p:sp>
        <p:nvSpPr>
          <p:cNvPr id="30" name="Node data_align"/>
          <p:cNvSpPr/>
          <p:nvPr/>
        </p:nvSpPr>
        <p:spPr>
          <a:xfrm>
            <a:off x="5626829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配准与标注缺陷</a:t>
            </a:r>
          </a:p>
        </p:txBody>
      </p:sp>
      <p:sp>
        <p:nvSpPr>
          <p:cNvPr id="31" name="Node data_split"/>
          <p:cNvSpPr/>
          <p:nvPr/>
        </p:nvSpPr>
        <p:spPr>
          <a:xfrm>
            <a:off x="7751897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划分训练样本</a:t>
            </a:r>
          </a:p>
        </p:txBody>
      </p:sp>
      <p:sp>
        <p:nvSpPr>
          <p:cNvPr id="32" name="Node method_baseline"/>
          <p:cNvSpPr/>
          <p:nvPr/>
        </p:nvSpPr>
        <p:spPr>
          <a:xfrm>
            <a:off x="3501760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建立基线检测器</a:t>
            </a:r>
          </a:p>
        </p:txBody>
      </p:sp>
      <p:sp>
        <p:nvSpPr>
          <p:cNvPr id="33" name="Node method_fusion"/>
          <p:cNvSpPr/>
          <p:nvPr/>
        </p:nvSpPr>
        <p:spPr>
          <a:xfrm>
            <a:off x="5626829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构建跨模态融合</a:t>
            </a:r>
          </a:p>
        </p:txBody>
      </p:sp>
      <p:sp>
        <p:nvSpPr>
          <p:cNvPr id="34" name="Node method_attention"/>
          <p:cNvSpPr/>
          <p:nvPr/>
        </p:nvSpPr>
        <p:spPr>
          <a:xfrm>
            <a:off x="7751897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增强关键区域感知</a:t>
            </a:r>
          </a:p>
        </p:txBody>
      </p:sp>
      <p:sp>
        <p:nvSpPr>
          <p:cNvPr id="35" name="Node training_loss"/>
          <p:cNvSpPr/>
          <p:nvPr/>
        </p:nvSpPr>
        <p:spPr>
          <a:xfrm>
            <a:off x="3501760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设计损失函数</a:t>
            </a:r>
          </a:p>
        </p:txBody>
      </p:sp>
      <p:sp>
        <p:nvSpPr>
          <p:cNvPr id="36" name="Node training_ablation"/>
          <p:cNvSpPr/>
          <p:nvPr/>
        </p:nvSpPr>
        <p:spPr>
          <a:xfrm>
            <a:off x="5626829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训练与消融实验</a:t>
            </a:r>
          </a:p>
        </p:txBody>
      </p:sp>
      <p:sp>
        <p:nvSpPr>
          <p:cNvPr id="37" name="Node training_infer"/>
          <p:cNvSpPr/>
          <p:nvPr/>
        </p:nvSpPr>
        <p:spPr>
          <a:xfrm>
            <a:off x="7751897" y="4532931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推理并筛选结果</a:t>
            </a:r>
          </a:p>
        </p:txBody>
      </p:sp>
      <p:sp>
        <p:nvSpPr>
          <p:cNvPr id="38" name="Node output_metrics"/>
          <p:cNvSpPr/>
          <p:nvPr/>
        </p:nvSpPr>
        <p:spPr>
          <a:xfrm>
            <a:off x="3501760" y="5567867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完成指标评估</a:t>
            </a:r>
          </a:p>
        </p:txBody>
      </p:sp>
      <p:sp>
        <p:nvSpPr>
          <p:cNvPr id="39" name="Node output_visual"/>
          <p:cNvSpPr/>
          <p:nvPr/>
        </p:nvSpPr>
        <p:spPr>
          <a:xfrm>
            <a:off x="5626829" y="5567867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生成可视化解释</a:t>
            </a:r>
          </a:p>
        </p:txBody>
      </p:sp>
      <p:sp>
        <p:nvSpPr>
          <p:cNvPr id="40" name="Node output_report"/>
          <p:cNvSpPr/>
          <p:nvPr/>
        </p:nvSpPr>
        <p:spPr>
          <a:xfrm>
            <a:off x="7751897" y="5567867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AAA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7201D"/>
                </a:solidFill>
              </a:rPr>
              <a:t>输出缺陷报告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