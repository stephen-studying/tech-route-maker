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2300273" y="270000"/>
            <a:ext cx="7591452" cy="4300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anchor="ctr"/>
          <a:lstStyle/>
          <a:p>
            <a:pPr algn="ctr"/>
            <a:r>
              <a:rPr lang="en-US" sz="2100" b="1">
                <a:solidFill>
                  <a:srgbClr val="1F2937"/>
                </a:solidFill>
              </a:rPr>
              <a:t>PV Surface Defect</a:t>
            </a:r>
          </a:p>
          <a:p>
            <a:pPr algn="ctr"/>
            <a:r>
              <a:rPr lang="en-US" sz="2100" b="1">
                <a:solidFill>
                  <a:srgbClr val="1F2937"/>
                </a:solidFill>
              </a:rPr>
              <a:t>Detection Method</a:t>
            </a:r>
          </a:p>
          <a:p>
            <a:pPr algn="ctr"/>
            <a:r>
              <a:rPr lang="en-US" sz="2100" b="1">
                <a:solidFill>
                  <a:srgbClr val="1F2937"/>
                </a:solidFill>
              </a:rPr>
              <a:t>Route</a:t>
            </a:r>
          </a:p>
        </p:txBody>
      </p:sp>
      <p:sp>
        <p:nvSpPr>
          <p:cNvPr id="3" name="Subtitle"/>
          <p:cNvSpPr/>
          <p:nvPr/>
        </p:nvSpPr>
        <p:spPr>
          <a:xfrm>
            <a:off x="3130273" y="715000"/>
            <a:ext cx="5931452" cy="1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850">
                <a:solidFill>
                  <a:srgbClr val="64748B"/>
                </a:solidFill>
              </a:rPr>
              <a:t>Academic method</a:t>
            </a:r>
          </a:p>
          <a:p>
            <a:pPr algn="ctr"/>
            <a:r>
              <a:rPr lang="en-US" sz="850">
                <a:solidFill>
                  <a:srgbClr val="64748B"/>
                </a:solidFill>
              </a:rPr>
              <a:t>framework demo</a:t>
            </a:r>
          </a:p>
          <a:p>
            <a:pPr algn="ctr"/>
            <a:r>
              <a:rPr lang="en-US" sz="850">
                <a:solidFill>
                  <a:srgbClr val="64748B"/>
                </a:solidFill>
              </a:rPr>
              <a:t>generated by</a:t>
            </a:r>
          </a:p>
          <a:p>
            <a:pPr algn="ctr"/>
            <a:r>
              <a:rPr lang="en-US" sz="850">
                <a:solidFill>
                  <a:srgbClr val="64748B"/>
                </a:solidFill>
              </a:rPr>
              <a:t>tech-route-maker</a:t>
            </a:r>
          </a:p>
        </p:txBody>
      </p:sp>
      <p:sp>
        <p:nvSpPr>
          <p:cNvPr id="4" name="Stage Research Goal"/>
          <p:cNvSpPr/>
          <p:nvPr/>
        </p:nvSpPr>
        <p:spPr>
          <a:xfrm>
            <a:off x="3253376" y="1207337"/>
            <a:ext cx="6761581" cy="86934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F2937"/>
                </a:solidFill>
              </a:rPr>
              <a:t/>
            </a:r>
          </a:p>
        </p:txBody>
      </p:sp>
      <p:sp>
        <p:nvSpPr>
          <p:cNvPr id="5" name="Label Research Goal"/>
          <p:cNvSpPr/>
          <p:nvPr/>
        </p:nvSpPr>
        <p:spPr>
          <a:xfrm>
            <a:off x="2108047" y="1448822"/>
            <a:ext cx="883145" cy="386376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Research Goal</a:t>
            </a:r>
          </a:p>
        </p:txBody>
      </p:sp>
      <p:sp>
        <p:nvSpPr>
          <p:cNvPr id="6" name="Stage Data Evidence"/>
          <p:cNvSpPr/>
          <p:nvPr/>
        </p:nvSpPr>
        <p:spPr>
          <a:xfrm>
            <a:off x="3253376" y="2242273"/>
            <a:ext cx="6761581" cy="86934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93C5FD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F2937"/>
                </a:solidFill>
              </a:rPr>
              <a:t/>
            </a:r>
          </a:p>
        </p:txBody>
      </p:sp>
      <p:sp>
        <p:nvSpPr>
          <p:cNvPr id="7" name="Label Data Evidence"/>
          <p:cNvSpPr/>
          <p:nvPr/>
        </p:nvSpPr>
        <p:spPr>
          <a:xfrm>
            <a:off x="2108047" y="2483758"/>
            <a:ext cx="883145" cy="386376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Data Evidence</a:t>
            </a:r>
          </a:p>
        </p:txBody>
      </p:sp>
      <p:sp>
        <p:nvSpPr>
          <p:cNvPr id="8" name="Stage Method Design"/>
          <p:cNvSpPr/>
          <p:nvPr/>
        </p:nvSpPr>
        <p:spPr>
          <a:xfrm>
            <a:off x="3253376" y="3277209"/>
            <a:ext cx="6761581" cy="86934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93C5FD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F2937"/>
                </a:solidFill>
              </a:rPr>
              <a:t/>
            </a:r>
          </a:p>
        </p:txBody>
      </p:sp>
      <p:sp>
        <p:nvSpPr>
          <p:cNvPr id="9" name="Label Method Design"/>
          <p:cNvSpPr/>
          <p:nvPr/>
        </p:nvSpPr>
        <p:spPr>
          <a:xfrm>
            <a:off x="2108047" y="3518694"/>
            <a:ext cx="883145" cy="386376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Method Design</a:t>
            </a:r>
          </a:p>
        </p:txBody>
      </p:sp>
      <p:sp>
        <p:nvSpPr>
          <p:cNvPr id="10" name="Stage Training Validation"/>
          <p:cNvSpPr/>
          <p:nvPr/>
        </p:nvSpPr>
        <p:spPr>
          <a:xfrm>
            <a:off x="3253376" y="4312145"/>
            <a:ext cx="6761581" cy="869346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93C5FD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F2937"/>
                </a:solidFill>
              </a:rPr>
              <a:t/>
            </a:r>
          </a:p>
        </p:txBody>
      </p:sp>
      <p:sp>
        <p:nvSpPr>
          <p:cNvPr id="11" name="Label Training Validation"/>
          <p:cNvSpPr/>
          <p:nvPr/>
        </p:nvSpPr>
        <p:spPr>
          <a:xfrm>
            <a:off x="2108047" y="4553630"/>
            <a:ext cx="883145" cy="386376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Training</a:t>
            </a:r>
          </a:p>
          <a:p>
            <a:pPr algn="ctr"/>
            <a:r>
              <a:rPr lang="en-US" sz="1050" b="1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12" name="Stage Validation Output"/>
          <p:cNvSpPr/>
          <p:nvPr/>
        </p:nvSpPr>
        <p:spPr>
          <a:xfrm>
            <a:off x="3253376" y="5347081"/>
            <a:ext cx="6761581" cy="869346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93C5FD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F2937"/>
                </a:solidFill>
              </a:rPr>
              <a:t/>
            </a:r>
          </a:p>
        </p:txBody>
      </p:sp>
      <p:sp>
        <p:nvSpPr>
          <p:cNvPr id="13" name="Label Validation Output"/>
          <p:cNvSpPr/>
          <p:nvPr/>
        </p:nvSpPr>
        <p:spPr>
          <a:xfrm>
            <a:off x="2108047" y="5588566"/>
            <a:ext cx="883145" cy="386376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Validation Output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5040365" y="1635111"/>
            <a:ext cx="3187602" cy="1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 flipH="1">
            <a:off x="4509098" y="1635111"/>
            <a:ext cx="3718869" cy="1034935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4509098" y="2670047"/>
            <a:ext cx="2125068" cy="1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6634166" y="2670047"/>
            <a:ext cx="2125068" cy="1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18" name="Connector 18"/>
          <p:cNvCxnSpPr/>
          <p:nvPr/>
        </p:nvCxnSpPr>
        <p:spPr>
          <a:xfrm flipH="1">
            <a:off x="4509098" y="2670047"/>
            <a:ext cx="4250136" cy="1034935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19" name="Connector 19"/>
          <p:cNvCxnSpPr/>
          <p:nvPr/>
        </p:nvCxnSpPr>
        <p:spPr>
          <a:xfrm>
            <a:off x="4509098" y="3704982"/>
            <a:ext cx="2125068" cy="1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20" name="Connector 20"/>
          <p:cNvCxnSpPr/>
          <p:nvPr/>
        </p:nvCxnSpPr>
        <p:spPr>
          <a:xfrm>
            <a:off x="6634166" y="3704982"/>
            <a:ext cx="2125068" cy="1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 flipH="1">
            <a:off x="4509098" y="3704982"/>
            <a:ext cx="4250136" cy="1034935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>
            <a:off x="4509098" y="4739918"/>
            <a:ext cx="2125068" cy="1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>
            <a:off x="6634166" y="4739918"/>
            <a:ext cx="2125068" cy="1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24" name="Connector 24"/>
          <p:cNvCxnSpPr/>
          <p:nvPr/>
        </p:nvCxnSpPr>
        <p:spPr>
          <a:xfrm flipH="1">
            <a:off x="4509098" y="4739918"/>
            <a:ext cx="4250136" cy="1034935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25" name="Connector 25"/>
          <p:cNvCxnSpPr/>
          <p:nvPr/>
        </p:nvCxnSpPr>
        <p:spPr>
          <a:xfrm>
            <a:off x="4509098" y="5774854"/>
            <a:ext cx="2125068" cy="1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26" name="Connector 26"/>
          <p:cNvCxnSpPr/>
          <p:nvPr/>
        </p:nvCxnSpPr>
        <p:spPr>
          <a:xfrm>
            <a:off x="6634166" y="5774854"/>
            <a:ext cx="2125068" cy="1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sp>
        <p:nvSpPr>
          <p:cNvPr id="27" name="Node goal_task"/>
          <p:cNvSpPr/>
          <p:nvPr/>
        </p:nvSpPr>
        <p:spPr>
          <a:xfrm>
            <a:off x="3501760" y="1428123"/>
            <a:ext cx="3077209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Define defect task</a:t>
            </a:r>
          </a:p>
        </p:txBody>
      </p:sp>
      <p:sp>
        <p:nvSpPr>
          <p:cNvPr id="28" name="Node goal_metric"/>
          <p:cNvSpPr/>
          <p:nvPr/>
        </p:nvSpPr>
        <p:spPr>
          <a:xfrm>
            <a:off x="6689363" y="1428123"/>
            <a:ext cx="3077209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Set evaluation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metrics</a:t>
            </a:r>
          </a:p>
        </p:txBody>
      </p:sp>
      <p:sp>
        <p:nvSpPr>
          <p:cNvPr id="29" name="Node data_collect"/>
          <p:cNvSpPr/>
          <p:nvPr/>
        </p:nvSpPr>
        <p:spPr>
          <a:xfrm>
            <a:off x="3501760" y="2463059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Collect RGB and IR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images</a:t>
            </a:r>
          </a:p>
        </p:txBody>
      </p:sp>
      <p:sp>
        <p:nvSpPr>
          <p:cNvPr id="30" name="Node data_align"/>
          <p:cNvSpPr/>
          <p:nvPr/>
        </p:nvSpPr>
        <p:spPr>
          <a:xfrm>
            <a:off x="5626829" y="2463059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Align and annotate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defects</a:t>
            </a:r>
          </a:p>
        </p:txBody>
      </p:sp>
      <p:sp>
        <p:nvSpPr>
          <p:cNvPr id="31" name="Node data_split"/>
          <p:cNvSpPr/>
          <p:nvPr/>
        </p:nvSpPr>
        <p:spPr>
          <a:xfrm>
            <a:off x="7751897" y="2463059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Prepare train test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sets</a:t>
            </a:r>
          </a:p>
        </p:txBody>
      </p:sp>
      <p:sp>
        <p:nvSpPr>
          <p:cNvPr id="32" name="Node method_baseline"/>
          <p:cNvSpPr/>
          <p:nvPr/>
        </p:nvSpPr>
        <p:spPr>
          <a:xfrm>
            <a:off x="3501760" y="3497995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Build baseline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detector</a:t>
            </a:r>
          </a:p>
        </p:txBody>
      </p:sp>
      <p:sp>
        <p:nvSpPr>
          <p:cNvPr id="33" name="Node method_fusion"/>
          <p:cNvSpPr/>
          <p:nvPr/>
        </p:nvSpPr>
        <p:spPr>
          <a:xfrm>
            <a:off x="5626829" y="3497995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Fuse multimodal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features</a:t>
            </a:r>
          </a:p>
        </p:txBody>
      </p:sp>
      <p:sp>
        <p:nvSpPr>
          <p:cNvPr id="34" name="Node method_attention"/>
          <p:cNvSpPr/>
          <p:nvPr/>
        </p:nvSpPr>
        <p:spPr>
          <a:xfrm>
            <a:off x="7751897" y="3497995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Enhance weak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regions</a:t>
            </a:r>
          </a:p>
        </p:txBody>
      </p:sp>
      <p:sp>
        <p:nvSpPr>
          <p:cNvPr id="35" name="Node training_loss"/>
          <p:cNvSpPr/>
          <p:nvPr/>
        </p:nvSpPr>
        <p:spPr>
          <a:xfrm>
            <a:off x="3501760" y="4532931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Optimize detection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losses</a:t>
            </a:r>
          </a:p>
        </p:txBody>
      </p:sp>
      <p:sp>
        <p:nvSpPr>
          <p:cNvPr id="36" name="Node training_ablation"/>
          <p:cNvSpPr/>
          <p:nvPr/>
        </p:nvSpPr>
        <p:spPr>
          <a:xfrm>
            <a:off x="5626829" y="4532931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Run ablation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studies</a:t>
            </a:r>
          </a:p>
        </p:txBody>
      </p:sp>
      <p:sp>
        <p:nvSpPr>
          <p:cNvPr id="37" name="Node training_infer"/>
          <p:cNvSpPr/>
          <p:nvPr/>
        </p:nvSpPr>
        <p:spPr>
          <a:xfrm>
            <a:off x="7751897" y="4532931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Infer defect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candidates</a:t>
            </a:r>
          </a:p>
        </p:txBody>
      </p:sp>
      <p:sp>
        <p:nvSpPr>
          <p:cNvPr id="38" name="Node output_metrics"/>
          <p:cNvSpPr/>
          <p:nvPr/>
        </p:nvSpPr>
        <p:spPr>
          <a:xfrm>
            <a:off x="3501760" y="5567867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Report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quantitative gains</a:t>
            </a:r>
          </a:p>
        </p:txBody>
      </p:sp>
      <p:sp>
        <p:nvSpPr>
          <p:cNvPr id="39" name="Node output_visual"/>
          <p:cNvSpPr/>
          <p:nvPr/>
        </p:nvSpPr>
        <p:spPr>
          <a:xfrm>
            <a:off x="5626829" y="5567867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Explain visual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results</a:t>
            </a:r>
          </a:p>
        </p:txBody>
      </p:sp>
      <p:sp>
        <p:nvSpPr>
          <p:cNvPr id="40" name="Node output_report"/>
          <p:cNvSpPr/>
          <p:nvPr/>
        </p:nvSpPr>
        <p:spPr>
          <a:xfrm>
            <a:off x="7751897" y="5567867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Generate defect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