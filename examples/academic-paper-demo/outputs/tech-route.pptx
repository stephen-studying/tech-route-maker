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3912527" y="269999"/>
            <a:ext cx="4366945" cy="430000"/>
          </a:xfrm>
          <a:prstGeom prst="roundRect">
            <a:avLst/>
          </a:prstGeom>
          <a:solidFill>
            <a:srgbClr val="D9F2F2"/>
          </a:solidFill>
          <a:ln w="12700">
            <a:solidFill>
              <a:srgbClr val="D9F2F2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62033"/>
                </a:solidFill>
              </a:rPr>
              <a:t>多模态光伏缺陷检测技术路线图</a:t>
            </a:r>
          </a:p>
        </p:txBody>
      </p:sp>
      <p:sp>
        <p:nvSpPr>
          <p:cNvPr id="3" name="Subtitle"/>
          <p:cNvSpPr/>
          <p:nvPr/>
        </p:nvSpPr>
        <p:spPr>
          <a:xfrm>
            <a:off x="4742527" y="714999"/>
            <a:ext cx="2706945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850">
                <a:solidFill>
                  <a:srgbClr val="5B6472"/>
                </a:solidFill>
              </a:rPr>
              <a:t>Academic method</a:t>
            </a:r>
          </a:p>
          <a:p>
            <a:pPr algn="ctr"/>
            <a:r>
              <a:rPr lang="en-US" sz="850">
                <a:solidFill>
                  <a:srgbClr val="5B6472"/>
                </a:solidFill>
              </a:rPr>
              <a:t>framework demo</a:t>
            </a:r>
          </a:p>
          <a:p>
            <a:pPr algn="ctr"/>
            <a:r>
              <a:rPr lang="en-US" sz="850">
                <a:solidFill>
                  <a:srgbClr val="5B6472"/>
                </a:solidFill>
              </a:rPr>
              <a:t>generated by</a:t>
            </a:r>
          </a:p>
          <a:p>
            <a:pPr algn="ctr"/>
            <a:r>
              <a:rPr lang="en-US" sz="850">
                <a:solidFill>
                  <a:srgbClr val="5B6472"/>
                </a:solidFill>
              </a:rPr>
              <a:t>tech-route-maker</a:t>
            </a:r>
          </a:p>
        </p:txBody>
      </p:sp>
      <p:sp>
        <p:nvSpPr>
          <p:cNvPr id="4" name="Stage 研究目标"/>
          <p:cNvSpPr/>
          <p:nvPr/>
        </p:nvSpPr>
        <p:spPr>
          <a:xfrm>
            <a:off x="4303779" y="890855"/>
            <a:ext cx="4215221" cy="730905"/>
          </a:xfrm>
          <a:prstGeom prst="roundRect">
            <a:avLst/>
          </a:prstGeom>
          <a:solidFill>
            <a:srgbClr val="D9F2F2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5" name="Header 研究目标"/>
          <p:cNvSpPr/>
          <p:nvPr/>
        </p:nvSpPr>
        <p:spPr>
          <a:xfrm>
            <a:off x="4303779" y="890855"/>
            <a:ext cx="4215221" cy="260000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22033"/>
                </a:solidFill>
              </a:rPr>
              <a:t>研究目标</a:t>
            </a:r>
          </a:p>
        </p:txBody>
      </p:sp>
      <p:sp>
        <p:nvSpPr>
          <p:cNvPr id="6" name="Stage 数据构建"/>
          <p:cNvSpPr/>
          <p:nvPr/>
        </p:nvSpPr>
        <p:spPr>
          <a:xfrm>
            <a:off x="4303779" y="1811996"/>
            <a:ext cx="4215221" cy="730905"/>
          </a:xfrm>
          <a:prstGeom prst="roundRect">
            <a:avLst/>
          </a:prstGeom>
          <a:solidFill>
            <a:srgbClr val="F7E0E8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7" name="Header 数据构建"/>
          <p:cNvSpPr/>
          <p:nvPr/>
        </p:nvSpPr>
        <p:spPr>
          <a:xfrm>
            <a:off x="4303779" y="1811996"/>
            <a:ext cx="4215221" cy="260000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22033"/>
                </a:solidFill>
              </a:rPr>
              <a:t>数据构建</a:t>
            </a:r>
          </a:p>
        </p:txBody>
      </p:sp>
      <p:sp>
        <p:nvSpPr>
          <p:cNvPr id="8" name="Stage 预处理"/>
          <p:cNvSpPr/>
          <p:nvPr/>
        </p:nvSpPr>
        <p:spPr>
          <a:xfrm>
            <a:off x="4303779" y="2733137"/>
            <a:ext cx="4215221" cy="730905"/>
          </a:xfrm>
          <a:prstGeom prst="roundRect">
            <a:avLst/>
          </a:prstGeom>
          <a:solidFill>
            <a:srgbClr val="FFF1C7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9" name="Header 预处理"/>
          <p:cNvSpPr/>
          <p:nvPr/>
        </p:nvSpPr>
        <p:spPr>
          <a:xfrm>
            <a:off x="4303779" y="2733137"/>
            <a:ext cx="4215221" cy="260000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22033"/>
                </a:solidFill>
              </a:rPr>
              <a:t>预处理</a:t>
            </a:r>
          </a:p>
        </p:txBody>
      </p:sp>
      <p:sp>
        <p:nvSpPr>
          <p:cNvPr id="10" name="Stage 核心方法"/>
          <p:cNvSpPr/>
          <p:nvPr/>
        </p:nvSpPr>
        <p:spPr>
          <a:xfrm>
            <a:off x="4303779" y="3654279"/>
            <a:ext cx="4215221" cy="730905"/>
          </a:xfrm>
          <a:prstGeom prst="roundRect">
            <a:avLst/>
          </a:prstGeom>
          <a:solidFill>
            <a:srgbClr val="DDECF9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11" name="Header 核心方法"/>
          <p:cNvSpPr/>
          <p:nvPr/>
        </p:nvSpPr>
        <p:spPr>
          <a:xfrm>
            <a:off x="4303779" y="3654279"/>
            <a:ext cx="4215221" cy="260000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22033"/>
                </a:solidFill>
              </a:rPr>
              <a:t>核心方法</a:t>
            </a:r>
          </a:p>
        </p:txBody>
      </p:sp>
      <p:sp>
        <p:nvSpPr>
          <p:cNvPr id="12" name="Stage 训练推理"/>
          <p:cNvSpPr/>
          <p:nvPr/>
        </p:nvSpPr>
        <p:spPr>
          <a:xfrm>
            <a:off x="4303779" y="4575420"/>
            <a:ext cx="4215221" cy="730905"/>
          </a:xfrm>
          <a:prstGeom prst="roundRect">
            <a:avLst/>
          </a:prstGeom>
          <a:solidFill>
            <a:srgbClr val="E6F4D7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13" name="Header 训练推理"/>
          <p:cNvSpPr/>
          <p:nvPr/>
        </p:nvSpPr>
        <p:spPr>
          <a:xfrm>
            <a:off x="4303779" y="4575420"/>
            <a:ext cx="4215221" cy="260000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22033"/>
                </a:solidFill>
              </a:rPr>
              <a:t>训练推理</a:t>
            </a:r>
          </a:p>
        </p:txBody>
      </p:sp>
      <p:sp>
        <p:nvSpPr>
          <p:cNvPr id="14" name="Stage 验证输出"/>
          <p:cNvSpPr/>
          <p:nvPr/>
        </p:nvSpPr>
        <p:spPr>
          <a:xfrm>
            <a:off x="4303779" y="5496561"/>
            <a:ext cx="4215221" cy="730905"/>
          </a:xfrm>
          <a:prstGeom prst="roundRect">
            <a:avLst/>
          </a:prstGeom>
          <a:solidFill>
            <a:srgbClr val="F6E7D7"/>
          </a:solidFill>
          <a:ln w="12700">
            <a:solidFill>
              <a:srgbClr val="6FAEC3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62033"/>
                </a:solidFill>
              </a:rPr>
              <a:t/>
            </a:r>
          </a:p>
        </p:txBody>
      </p:sp>
      <p:sp>
        <p:nvSpPr>
          <p:cNvPr id="15" name="Header 验证输出"/>
          <p:cNvSpPr/>
          <p:nvPr/>
        </p:nvSpPr>
        <p:spPr>
          <a:xfrm>
            <a:off x="4303779" y="5496561"/>
            <a:ext cx="4215221" cy="260000"/>
          </a:xfrm>
          <a:prstGeom prst="roundRect">
            <a:avLst/>
          </a:prstGeom>
          <a:solidFill>
            <a:srgbClr val="7BCFD0"/>
          </a:solidFill>
          <a:ln w="12700">
            <a:solidFill>
              <a:srgbClr val="7BCFD0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22033"/>
                </a:solidFill>
              </a:rPr>
              <a:t>验证输出</a:t>
            </a:r>
          </a:p>
        </p:txBody>
      </p:sp>
      <p:cxnSp>
        <p:nvCxnSpPr>
          <p:cNvPr id="16" name="Connector 16"/>
          <p:cNvCxnSpPr/>
          <p:nvPr/>
        </p:nvCxnSpPr>
        <p:spPr>
          <a:xfrm flipH="1">
            <a:off x="5425168" y="1346420"/>
            <a:ext cx="986221" cy="92114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5425168" y="2267561"/>
            <a:ext cx="1972443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 flipH="1">
            <a:off x="5425168" y="2267561"/>
            <a:ext cx="1972443" cy="92114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>
            <a:off x="5425168" y="3188702"/>
            <a:ext cx="1972443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 flipH="1">
            <a:off x="5425168" y="3188702"/>
            <a:ext cx="1972443" cy="92114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>
            <a:off x="5425168" y="4109843"/>
            <a:ext cx="1972443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 flipH="1">
            <a:off x="5425168" y="4109843"/>
            <a:ext cx="1972443" cy="92114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>
            <a:off x="5425168" y="5030984"/>
            <a:ext cx="1972443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 flipH="1">
            <a:off x="5425168" y="5030984"/>
            <a:ext cx="1972443" cy="92114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cxnSp>
        <p:nvCxnSpPr>
          <p:cNvPr id="25" name="Connector 25"/>
          <p:cNvCxnSpPr/>
          <p:nvPr/>
        </p:nvCxnSpPr>
        <p:spPr>
          <a:xfrm>
            <a:off x="5425168" y="5952125"/>
            <a:ext cx="1972443" cy="1"/>
          </a:xfrm>
          <a:prstGeom prst="line">
            <a:avLst/>
          </a:prstGeom>
          <a:ln w="19050">
            <a:solidFill>
              <a:srgbClr val="2C6A93"/>
            </a:solidFill>
            <a:headEnd type="triangle"/>
          </a:ln>
        </p:spPr>
      </p:cxnSp>
      <p:sp>
        <p:nvSpPr>
          <p:cNvPr id="26" name="Node objective_goal"/>
          <p:cNvSpPr/>
          <p:nvPr/>
        </p:nvSpPr>
        <p:spPr>
          <a:xfrm>
            <a:off x="4478996" y="1191227"/>
            <a:ext cx="3864787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明确检测目标</a:t>
            </a:r>
          </a:p>
        </p:txBody>
      </p:sp>
      <p:sp>
        <p:nvSpPr>
          <p:cNvPr id="27" name="Node data_capture"/>
          <p:cNvSpPr/>
          <p:nvPr/>
        </p:nvSpPr>
        <p:spPr>
          <a:xfrm>
            <a:off x="4478996" y="2112368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采集多模态图像</a:t>
            </a:r>
          </a:p>
        </p:txBody>
      </p:sp>
      <p:sp>
        <p:nvSpPr>
          <p:cNvPr id="28" name="Node data_screen"/>
          <p:cNvSpPr/>
          <p:nvPr/>
        </p:nvSpPr>
        <p:spPr>
          <a:xfrm>
            <a:off x="6451440" y="2112368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图像质量筛选</a:t>
            </a:r>
          </a:p>
        </p:txBody>
      </p:sp>
      <p:sp>
        <p:nvSpPr>
          <p:cNvPr id="29" name="Node preprocess_align"/>
          <p:cNvSpPr/>
          <p:nvPr/>
        </p:nvSpPr>
        <p:spPr>
          <a:xfrm>
            <a:off x="4478996" y="3033510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图像配准与标注</a:t>
            </a:r>
          </a:p>
        </p:txBody>
      </p:sp>
      <p:sp>
        <p:nvSpPr>
          <p:cNvPr id="30" name="Node preprocess_split"/>
          <p:cNvSpPr/>
          <p:nvPr/>
        </p:nvSpPr>
        <p:spPr>
          <a:xfrm>
            <a:off x="6451440" y="3033510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增强并划分数据</a:t>
            </a:r>
          </a:p>
        </p:txBody>
      </p:sp>
      <p:sp>
        <p:nvSpPr>
          <p:cNvPr id="31" name="Node method_baseline"/>
          <p:cNvSpPr/>
          <p:nvPr/>
        </p:nvSpPr>
        <p:spPr>
          <a:xfrm>
            <a:off x="4478996" y="3954651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建立基线检测器</a:t>
            </a:r>
          </a:p>
        </p:txBody>
      </p:sp>
      <p:sp>
        <p:nvSpPr>
          <p:cNvPr id="32" name="Node method_fusion"/>
          <p:cNvSpPr/>
          <p:nvPr/>
        </p:nvSpPr>
        <p:spPr>
          <a:xfrm>
            <a:off x="6451440" y="3954651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构建特征融合检测器</a:t>
            </a:r>
          </a:p>
        </p:txBody>
      </p:sp>
      <p:sp>
        <p:nvSpPr>
          <p:cNvPr id="33" name="Node train_supervised"/>
          <p:cNvSpPr/>
          <p:nvPr/>
        </p:nvSpPr>
        <p:spPr>
          <a:xfrm>
            <a:off x="4478996" y="4875792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训练与指标优化</a:t>
            </a:r>
          </a:p>
        </p:txBody>
      </p:sp>
      <p:sp>
        <p:nvSpPr>
          <p:cNvPr id="34" name="Node infer_filter"/>
          <p:cNvSpPr/>
          <p:nvPr/>
        </p:nvSpPr>
        <p:spPr>
          <a:xfrm>
            <a:off x="6451440" y="4875792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推理并筛选结果</a:t>
            </a:r>
          </a:p>
        </p:txBody>
      </p:sp>
      <p:sp>
        <p:nvSpPr>
          <p:cNvPr id="35" name="Node eval_compare"/>
          <p:cNvSpPr/>
          <p:nvPr/>
        </p:nvSpPr>
        <p:spPr>
          <a:xfrm>
            <a:off x="4478996" y="5796933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对比与消融验证</a:t>
            </a:r>
          </a:p>
        </p:txBody>
      </p:sp>
      <p:sp>
        <p:nvSpPr>
          <p:cNvPr id="36" name="Node output_report"/>
          <p:cNvSpPr/>
          <p:nvPr/>
        </p:nvSpPr>
        <p:spPr>
          <a:xfrm>
            <a:off x="6451440" y="5796933"/>
            <a:ext cx="1892344" cy="310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FB6C4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62033"/>
                </a:solidFill>
              </a:rPr>
              <a:t>输出缺陷报告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