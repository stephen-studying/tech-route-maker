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721359" y="290000"/>
            <a:ext cx="274928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2100" b="1">
                <a:solidFill>
                  <a:srgbClr val="1F2937"/>
                </a:solidFill>
              </a:rPr>
              <a:t>Thesis Proposal</a:t>
            </a:r>
          </a:p>
          <a:p>
            <a:pPr algn="ctr"/>
            <a:r>
              <a:rPr lang="en-US" sz="2100" b="1">
                <a:solidFill>
                  <a:srgbClr val="1F2937"/>
                </a:solidFill>
              </a:rPr>
              <a:t>Technical Route</a:t>
            </a:r>
          </a:p>
        </p:txBody>
      </p:sp>
      <p:sp>
        <p:nvSpPr>
          <p:cNvPr id="3" name="Stage Research Question"/>
          <p:cNvSpPr/>
          <p:nvPr/>
        </p:nvSpPr>
        <p:spPr>
          <a:xfrm>
            <a:off x="5557009" y="862612"/>
            <a:ext cx="1077981" cy="65272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F2937"/>
                </a:solidFill>
              </a:rPr>
              <a:t/>
            </a:r>
          </a:p>
        </p:txBody>
      </p:sp>
      <p:sp>
        <p:nvSpPr>
          <p:cNvPr id="4" name="Header Research Question"/>
          <p:cNvSpPr/>
          <p:nvPr/>
        </p:nvSpPr>
        <p:spPr>
          <a:xfrm>
            <a:off x="5557009" y="862612"/>
            <a:ext cx="1077981" cy="260000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Research Question</a:t>
            </a:r>
          </a:p>
        </p:txBody>
      </p:sp>
      <p:sp>
        <p:nvSpPr>
          <p:cNvPr id="5" name="Stage Source Evidence"/>
          <p:cNvSpPr/>
          <p:nvPr/>
        </p:nvSpPr>
        <p:spPr>
          <a:xfrm>
            <a:off x="5077356" y="1782358"/>
            <a:ext cx="2037286" cy="65272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F2937"/>
                </a:solidFill>
              </a:rPr>
              <a:t/>
            </a:r>
          </a:p>
        </p:txBody>
      </p:sp>
      <p:sp>
        <p:nvSpPr>
          <p:cNvPr id="6" name="Header Source Evidence"/>
          <p:cNvSpPr/>
          <p:nvPr/>
        </p:nvSpPr>
        <p:spPr>
          <a:xfrm>
            <a:off x="5077356" y="1782358"/>
            <a:ext cx="2037286" cy="260000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Source Evidence</a:t>
            </a:r>
          </a:p>
        </p:txBody>
      </p:sp>
      <p:sp>
        <p:nvSpPr>
          <p:cNvPr id="7" name="Stage Feature Route"/>
          <p:cNvSpPr/>
          <p:nvPr/>
        </p:nvSpPr>
        <p:spPr>
          <a:xfrm>
            <a:off x="5077356" y="2702104"/>
            <a:ext cx="2037286" cy="65272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F2937"/>
                </a:solidFill>
              </a:rPr>
              <a:t/>
            </a:r>
          </a:p>
        </p:txBody>
      </p:sp>
      <p:sp>
        <p:nvSpPr>
          <p:cNvPr id="8" name="Header Feature Route"/>
          <p:cNvSpPr/>
          <p:nvPr/>
        </p:nvSpPr>
        <p:spPr>
          <a:xfrm>
            <a:off x="5077356" y="2702104"/>
            <a:ext cx="2037286" cy="260000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Feature Route</a:t>
            </a:r>
          </a:p>
        </p:txBody>
      </p:sp>
      <p:sp>
        <p:nvSpPr>
          <p:cNvPr id="9" name="Stage Modeling"/>
          <p:cNvSpPr/>
          <p:nvPr/>
        </p:nvSpPr>
        <p:spPr>
          <a:xfrm>
            <a:off x="5077356" y="3621849"/>
            <a:ext cx="2037286" cy="65272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F2937"/>
                </a:solidFill>
              </a:rPr>
              <a:t/>
            </a:r>
          </a:p>
        </p:txBody>
      </p:sp>
      <p:sp>
        <p:nvSpPr>
          <p:cNvPr id="10" name="Header Modeling"/>
          <p:cNvSpPr/>
          <p:nvPr/>
        </p:nvSpPr>
        <p:spPr>
          <a:xfrm>
            <a:off x="5077356" y="3621849"/>
            <a:ext cx="2037286" cy="260000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11" name="Stage Validation"/>
          <p:cNvSpPr/>
          <p:nvPr/>
        </p:nvSpPr>
        <p:spPr>
          <a:xfrm>
            <a:off x="5077356" y="4541595"/>
            <a:ext cx="2037286" cy="65272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F2937"/>
                </a:solidFill>
              </a:rPr>
              <a:t/>
            </a:r>
          </a:p>
        </p:txBody>
      </p:sp>
      <p:sp>
        <p:nvSpPr>
          <p:cNvPr id="12" name="Header Validation"/>
          <p:cNvSpPr/>
          <p:nvPr/>
        </p:nvSpPr>
        <p:spPr>
          <a:xfrm>
            <a:off x="5077356" y="4541595"/>
            <a:ext cx="2037286" cy="260000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13" name="Stage Thesis Output"/>
          <p:cNvSpPr/>
          <p:nvPr/>
        </p:nvSpPr>
        <p:spPr>
          <a:xfrm>
            <a:off x="5557009" y="5461341"/>
            <a:ext cx="1077981" cy="65272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F2937"/>
                </a:solidFill>
              </a:rPr>
              <a:t/>
            </a:r>
          </a:p>
        </p:txBody>
      </p:sp>
      <p:sp>
        <p:nvSpPr>
          <p:cNvPr id="14" name="Header Thesis Output"/>
          <p:cNvSpPr/>
          <p:nvPr/>
        </p:nvSpPr>
        <p:spPr>
          <a:xfrm>
            <a:off x="5557009" y="5461341"/>
            <a:ext cx="1077981" cy="260000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Thesis Output</a:t>
            </a:r>
          </a:p>
        </p:txBody>
      </p:sp>
      <p:cxnSp>
        <p:nvCxnSpPr>
          <p:cNvPr id="15" name="Connector 15"/>
          <p:cNvCxnSpPr/>
          <p:nvPr/>
        </p:nvCxnSpPr>
        <p:spPr>
          <a:xfrm flipH="1">
            <a:off x="5616347" y="1282926"/>
            <a:ext cx="479652" cy="919745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5616347" y="2202672"/>
            <a:ext cx="959304" cy="1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 flipH="1">
            <a:off x="5616347" y="2202672"/>
            <a:ext cx="959304" cy="919745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>
            <a:off x="5616347" y="3122418"/>
            <a:ext cx="959304" cy="1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 flipH="1">
            <a:off x="5616347" y="3122418"/>
            <a:ext cx="959304" cy="919745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>
            <a:off x="5616347" y="4042163"/>
            <a:ext cx="959304" cy="1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 flipH="1">
            <a:off x="5616347" y="4042163"/>
            <a:ext cx="959304" cy="919745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>
            <a:off x="5616347" y="4961909"/>
            <a:ext cx="959304" cy="1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 flipH="1">
            <a:off x="6096000" y="4961909"/>
            <a:ext cx="479652" cy="919745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sp>
        <p:nvSpPr>
          <p:cNvPr id="24" name="Node question_define"/>
          <p:cNvSpPr/>
          <p:nvPr/>
        </p:nvSpPr>
        <p:spPr>
          <a:xfrm>
            <a:off x="5655906" y="1139525"/>
            <a:ext cx="880186" cy="28680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Define degradation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risk</a:t>
            </a:r>
          </a:p>
        </p:txBody>
      </p:sp>
      <p:sp>
        <p:nvSpPr>
          <p:cNvPr id="25" name="Node evidence_collect"/>
          <p:cNvSpPr/>
          <p:nvPr/>
        </p:nvSpPr>
        <p:spPr>
          <a:xfrm>
            <a:off x="5176254" y="2059271"/>
            <a:ext cx="880186" cy="28680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Collect field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evidence</a:t>
            </a:r>
          </a:p>
        </p:txBody>
      </p:sp>
      <p:sp>
        <p:nvSpPr>
          <p:cNvPr id="26" name="Node evidence_align"/>
          <p:cNvSpPr/>
          <p:nvPr/>
        </p:nvSpPr>
        <p:spPr>
          <a:xfrm>
            <a:off x="6135558" y="2059271"/>
            <a:ext cx="880186" cy="28680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Clean and align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data</a:t>
            </a:r>
          </a:p>
        </p:txBody>
      </p:sp>
      <p:sp>
        <p:nvSpPr>
          <p:cNvPr id="27" name="Node features_construct"/>
          <p:cNvSpPr/>
          <p:nvPr/>
        </p:nvSpPr>
        <p:spPr>
          <a:xfrm>
            <a:off x="5176254" y="2979016"/>
            <a:ext cx="880186" cy="28680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Construct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indicators</a:t>
            </a:r>
          </a:p>
        </p:txBody>
      </p:sp>
      <p:sp>
        <p:nvSpPr>
          <p:cNvPr id="28" name="Node features_select"/>
          <p:cNvSpPr/>
          <p:nvPr/>
        </p:nvSpPr>
        <p:spPr>
          <a:xfrm>
            <a:off x="6135558" y="2979016"/>
            <a:ext cx="880186" cy="28680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Select feature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groups</a:t>
            </a:r>
          </a:p>
        </p:txBody>
      </p:sp>
      <p:sp>
        <p:nvSpPr>
          <p:cNvPr id="29" name="Node model_fit"/>
          <p:cNvSpPr/>
          <p:nvPr/>
        </p:nvSpPr>
        <p:spPr>
          <a:xfrm>
            <a:off x="5176254" y="3898762"/>
            <a:ext cx="880186" cy="28680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Fit interpretable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model</a:t>
            </a:r>
          </a:p>
        </p:txBody>
      </p:sp>
      <p:sp>
        <p:nvSpPr>
          <p:cNvPr id="30" name="Node model_uncertainty"/>
          <p:cNvSpPr/>
          <p:nvPr/>
        </p:nvSpPr>
        <p:spPr>
          <a:xfrm>
            <a:off x="6135558" y="3898762"/>
            <a:ext cx="880186" cy="28680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Label uncertainty</a:t>
            </a:r>
          </a:p>
        </p:txBody>
      </p:sp>
      <p:sp>
        <p:nvSpPr>
          <p:cNvPr id="31" name="Node validation_cases"/>
          <p:cNvSpPr/>
          <p:nvPr/>
        </p:nvSpPr>
        <p:spPr>
          <a:xfrm>
            <a:off x="5176254" y="4818508"/>
            <a:ext cx="880186" cy="28680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Validate on fault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cases</a:t>
            </a:r>
          </a:p>
        </p:txBody>
      </p:sp>
      <p:sp>
        <p:nvSpPr>
          <p:cNvPr id="32" name="Node validation_review"/>
          <p:cNvSpPr/>
          <p:nvPr/>
        </p:nvSpPr>
        <p:spPr>
          <a:xfrm>
            <a:off x="6135558" y="4818508"/>
            <a:ext cx="880186" cy="28680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Review feature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ablation</a:t>
            </a:r>
          </a:p>
        </p:txBody>
      </p:sp>
      <p:sp>
        <p:nvSpPr>
          <p:cNvPr id="33" name="Node output_priority"/>
          <p:cNvSpPr/>
          <p:nvPr/>
        </p:nvSpPr>
        <p:spPr>
          <a:xfrm>
            <a:off x="5655906" y="5738254"/>
            <a:ext cx="880186" cy="28680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Output inspection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priority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