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6858000" cy="12192000" type="custom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Band"/>
          <p:cNvSpPr/>
          <p:nvPr/>
        </p:nvSpPr>
        <p:spPr>
          <a:xfrm>
            <a:off x="670000" y="1669253"/>
            <a:ext cx="5517999" cy="50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</a:ln>
        </p:spPr>
        <p:txBody>
          <a:bodyPr wrap="square" anchor="ctr"/>
          <a:lstStyle/>
          <a:p>
            <a:pPr algn="ctr"/>
            <a:r>
              <a:rPr lang="zh-CN" sz="2500" b="1">
                <a:solidFill>
                  <a:srgbClr val="0F172A"/>
                </a:solidFill>
              </a:rPr>
              <a:t>光伏自清洁涂层开题技术路线图</a:t>
            </a:r>
          </a:p>
        </p:txBody>
      </p:sp>
      <p:sp>
        <p:nvSpPr>
          <p:cNvPr id="3" name="Subtitle"/>
          <p:cNvSpPr/>
          <p:nvPr/>
        </p:nvSpPr>
        <p:spPr>
          <a:xfrm>
            <a:off x="670000" y="2159253"/>
            <a:ext cx="5517999" cy="21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</a:ln>
        </p:spPr>
        <p:txBody>
          <a:bodyPr wrap="square" anchor="ctr"/>
          <a:lstStyle/>
          <a:p>
            <a:pPr algn="ctr"/>
            <a:r>
              <a:rPr lang="zh-CN" sz="1050">
                <a:solidFill>
                  <a:srgbClr val="64748B"/>
                </a:solidFill>
              </a:rPr>
              <a:t>中文开题报告示例：材料设计、性能测试与光伏应用验证</a:t>
            </a:r>
          </a:p>
        </p:txBody>
      </p:sp>
      <p:sp>
        <p:nvSpPr>
          <p:cNvPr id="4" name="Stage 研究目标"/>
          <p:cNvSpPr/>
          <p:nvPr/>
        </p:nvSpPr>
        <p:spPr>
          <a:xfrm>
            <a:off x="649938" y="2522188"/>
            <a:ext cx="5558122" cy="12305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txBody>
          <a:bodyPr wrap="square" anchor="ctr"/>
          <a:lstStyle/>
          <a:p>
            <a:pPr algn="ctr"/>
            <a:r>
              <a:rPr lang="zh-CN" sz="800">
                <a:solidFill>
                  <a:srgbClr val="0F172A"/>
                </a:solidFill>
              </a:rPr>
              <a:t/>
            </a:r>
          </a:p>
        </p:txBody>
      </p:sp>
      <p:sp>
        <p:nvSpPr>
          <p:cNvPr id="5" name="Header 研究目标"/>
          <p:cNvSpPr/>
          <p:nvPr/>
        </p:nvSpPr>
        <p:spPr>
          <a:xfrm>
            <a:off x="2029000" y="2712188"/>
            <a:ext cx="2800000" cy="4300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anchor="ctr"/>
          <a:lstStyle/>
          <a:p>
            <a:pPr algn="ctr"/>
            <a:r>
              <a:rPr lang="zh-CN" sz="1450" b="1">
                <a:solidFill>
                  <a:srgbClr val="FFFFFF"/>
                </a:solidFill>
              </a:rPr>
              <a:t>01 研究目标</a:t>
            </a:r>
          </a:p>
        </p:txBody>
      </p:sp>
      <p:sp>
        <p:nvSpPr>
          <p:cNvPr id="6" name="Stage 研究内容"/>
          <p:cNvSpPr/>
          <p:nvPr/>
        </p:nvSpPr>
        <p:spPr>
          <a:xfrm>
            <a:off x="649938" y="3998885"/>
            <a:ext cx="5558122" cy="123058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E2E8F0"/>
            </a:solidFill>
          </a:ln>
        </p:spPr>
        <p:txBody>
          <a:bodyPr wrap="square" anchor="ctr"/>
          <a:lstStyle/>
          <a:p>
            <a:pPr algn="ctr"/>
            <a:r>
              <a:rPr lang="zh-CN" sz="800">
                <a:solidFill>
                  <a:srgbClr val="0F172A"/>
                </a:solidFill>
              </a:rPr>
              <a:t/>
            </a:r>
          </a:p>
        </p:txBody>
      </p:sp>
      <p:sp>
        <p:nvSpPr>
          <p:cNvPr id="7" name="Header 研究内容"/>
          <p:cNvSpPr/>
          <p:nvPr/>
        </p:nvSpPr>
        <p:spPr>
          <a:xfrm>
            <a:off x="2029000" y="4188885"/>
            <a:ext cx="2800000" cy="4300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anchor="ctr"/>
          <a:lstStyle/>
          <a:p>
            <a:pPr algn="ctr"/>
            <a:r>
              <a:rPr lang="zh-CN" sz="1450" b="1">
                <a:solidFill>
                  <a:srgbClr val="FFFFFF"/>
                </a:solidFill>
              </a:rPr>
              <a:t>02 研究内容</a:t>
            </a:r>
          </a:p>
        </p:txBody>
      </p:sp>
      <p:sp>
        <p:nvSpPr>
          <p:cNvPr id="8" name="Stage 关键技术"/>
          <p:cNvSpPr/>
          <p:nvPr/>
        </p:nvSpPr>
        <p:spPr>
          <a:xfrm>
            <a:off x="649938" y="5475582"/>
            <a:ext cx="5558122" cy="1230580"/>
          </a:xfrm>
          <a:prstGeom prst="roundRect">
            <a:avLst/>
          </a:prstGeom>
          <a:solidFill>
            <a:srgbClr val="FEFCE8"/>
          </a:solidFill>
          <a:ln w="12700">
            <a:solidFill>
              <a:srgbClr val="E2E8F0"/>
            </a:solidFill>
          </a:ln>
        </p:spPr>
        <p:txBody>
          <a:bodyPr wrap="square" anchor="ctr"/>
          <a:lstStyle/>
          <a:p>
            <a:pPr algn="ctr"/>
            <a:r>
              <a:rPr lang="zh-CN" sz="800">
                <a:solidFill>
                  <a:srgbClr val="0F172A"/>
                </a:solidFill>
              </a:rPr>
              <a:t/>
            </a:r>
          </a:p>
        </p:txBody>
      </p:sp>
      <p:sp>
        <p:nvSpPr>
          <p:cNvPr id="9" name="Header 关键技术"/>
          <p:cNvSpPr/>
          <p:nvPr/>
        </p:nvSpPr>
        <p:spPr>
          <a:xfrm>
            <a:off x="2029000" y="5665582"/>
            <a:ext cx="2800000" cy="4300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anchor="ctr"/>
          <a:lstStyle/>
          <a:p>
            <a:pPr algn="ctr"/>
            <a:r>
              <a:rPr lang="zh-CN" sz="1450" b="1">
                <a:solidFill>
                  <a:srgbClr val="FFFFFF"/>
                </a:solidFill>
              </a:rPr>
              <a:t>03 关键技术</a:t>
            </a:r>
          </a:p>
        </p:txBody>
      </p:sp>
      <p:sp>
        <p:nvSpPr>
          <p:cNvPr id="10" name="Stage 实验验证"/>
          <p:cNvSpPr/>
          <p:nvPr/>
        </p:nvSpPr>
        <p:spPr>
          <a:xfrm>
            <a:off x="649938" y="6952279"/>
            <a:ext cx="5558122" cy="12305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2E8F0"/>
            </a:solidFill>
          </a:ln>
        </p:spPr>
        <p:txBody>
          <a:bodyPr wrap="square" anchor="ctr"/>
          <a:lstStyle/>
          <a:p>
            <a:pPr algn="ctr"/>
            <a:r>
              <a:rPr lang="zh-CN" sz="800">
                <a:solidFill>
                  <a:srgbClr val="0F172A"/>
                </a:solidFill>
              </a:rPr>
              <a:t/>
            </a:r>
          </a:p>
        </p:txBody>
      </p:sp>
      <p:sp>
        <p:nvSpPr>
          <p:cNvPr id="11" name="Header 实验验证"/>
          <p:cNvSpPr/>
          <p:nvPr/>
        </p:nvSpPr>
        <p:spPr>
          <a:xfrm>
            <a:off x="2029000" y="7142279"/>
            <a:ext cx="2800000" cy="4300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anchor="ctr"/>
          <a:lstStyle/>
          <a:p>
            <a:pPr algn="ctr"/>
            <a:r>
              <a:rPr lang="zh-CN" sz="1450" b="1">
                <a:solidFill>
                  <a:srgbClr val="FFFFFF"/>
                </a:solidFill>
              </a:rPr>
              <a:t>04 实验验证</a:t>
            </a:r>
          </a:p>
        </p:txBody>
      </p:sp>
      <p:sp>
        <p:nvSpPr>
          <p:cNvPr id="12" name="Stage 预期成果"/>
          <p:cNvSpPr/>
          <p:nvPr/>
        </p:nvSpPr>
        <p:spPr>
          <a:xfrm>
            <a:off x="649938" y="8428975"/>
            <a:ext cx="5558122" cy="1230580"/>
          </a:xfrm>
          <a:prstGeom prst="roundRect">
            <a:avLst/>
          </a:prstGeom>
          <a:solidFill>
            <a:srgbClr val="FDF2F8"/>
          </a:solidFill>
          <a:ln w="12700">
            <a:solidFill>
              <a:srgbClr val="E2E8F0"/>
            </a:solidFill>
          </a:ln>
        </p:spPr>
        <p:txBody>
          <a:bodyPr wrap="square" anchor="ctr"/>
          <a:lstStyle/>
          <a:p>
            <a:pPr algn="ctr"/>
            <a:r>
              <a:rPr lang="zh-CN" sz="800">
                <a:solidFill>
                  <a:srgbClr val="0F172A"/>
                </a:solidFill>
              </a:rPr>
              <a:t/>
            </a:r>
          </a:p>
        </p:txBody>
      </p:sp>
      <p:sp>
        <p:nvSpPr>
          <p:cNvPr id="13" name="Header 预期成果"/>
          <p:cNvSpPr/>
          <p:nvPr/>
        </p:nvSpPr>
        <p:spPr>
          <a:xfrm>
            <a:off x="2029000" y="8618975"/>
            <a:ext cx="2800000" cy="4300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anchor="ctr"/>
          <a:lstStyle/>
          <a:p>
            <a:pPr algn="ctr"/>
            <a:r>
              <a:rPr lang="zh-CN" sz="1450" b="1">
                <a:solidFill>
                  <a:srgbClr val="FFFFFF"/>
                </a:solidFill>
              </a:rPr>
              <a:t>05 预期成果</a:t>
            </a:r>
          </a:p>
        </p:txBody>
      </p:sp>
      <p:cxnSp>
        <p:nvCxnSpPr>
          <p:cNvPr id="14" name="Connector 14"/>
          <p:cNvCxnSpPr/>
          <p:nvPr/>
        </p:nvCxnSpPr>
        <p:spPr>
          <a:xfrm>
            <a:off x="3429000" y="3752769"/>
            <a:ext cx="1" cy="246116"/>
          </a:xfrm>
          <a:prstGeom prst="line">
            <a:avLst/>
          </a:prstGeom>
          <a:ln w="19050">
            <a:solidFill>
              <a:srgbClr val="64748B"/>
            </a:solidFill>
            <a:headEnd type="triangle"/>
          </a:ln>
        </p:spPr>
      </p:cxnSp>
      <p:cxnSp>
        <p:nvCxnSpPr>
          <p:cNvPr id="15" name="Connector 15"/>
          <p:cNvCxnSpPr/>
          <p:nvPr/>
        </p:nvCxnSpPr>
        <p:spPr>
          <a:xfrm>
            <a:off x="3429000" y="5229466"/>
            <a:ext cx="1" cy="246116"/>
          </a:xfrm>
          <a:prstGeom prst="line">
            <a:avLst/>
          </a:prstGeom>
          <a:ln w="19050">
            <a:solidFill>
              <a:srgbClr val="64748B"/>
            </a:solidFill>
            <a:headEnd type="triangle"/>
          </a:ln>
        </p:spPr>
      </p:cxnSp>
      <p:cxnSp>
        <p:nvCxnSpPr>
          <p:cNvPr id="16" name="Connector 16"/>
          <p:cNvCxnSpPr/>
          <p:nvPr/>
        </p:nvCxnSpPr>
        <p:spPr>
          <a:xfrm>
            <a:off x="3429000" y="6706162"/>
            <a:ext cx="1" cy="246116"/>
          </a:xfrm>
          <a:prstGeom prst="line">
            <a:avLst/>
          </a:prstGeom>
          <a:ln w="19050">
            <a:solidFill>
              <a:srgbClr val="64748B"/>
            </a:solidFill>
            <a:headEnd type="triangle"/>
          </a:ln>
        </p:spPr>
      </p:cxnSp>
      <p:cxnSp>
        <p:nvCxnSpPr>
          <p:cNvPr id="17" name="Connector 17"/>
          <p:cNvCxnSpPr/>
          <p:nvPr/>
        </p:nvCxnSpPr>
        <p:spPr>
          <a:xfrm>
            <a:off x="3429000" y="8182859"/>
            <a:ext cx="1" cy="246116"/>
          </a:xfrm>
          <a:prstGeom prst="line">
            <a:avLst/>
          </a:prstGeom>
          <a:ln w="19050">
            <a:solidFill>
              <a:srgbClr val="64748B"/>
            </a:solidFill>
            <a:headEnd type="triangle"/>
          </a:ln>
        </p:spPr>
      </p:cxnSp>
      <p:sp>
        <p:nvSpPr>
          <p:cNvPr id="18" name="Node objective_problem"/>
          <p:cNvSpPr/>
          <p:nvPr/>
        </p:nvSpPr>
        <p:spPr>
          <a:xfrm>
            <a:off x="834525" y="3106714"/>
            <a:ext cx="2548327" cy="44095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zh-CN" sz="1250">
                <a:solidFill>
                  <a:srgbClr val="0F172A"/>
                </a:solidFill>
              </a:rPr>
              <a:t>降低表面污染</a:t>
            </a:r>
          </a:p>
        </p:txBody>
      </p:sp>
      <p:sp>
        <p:nvSpPr>
          <p:cNvPr id="19" name="Node objective_value"/>
          <p:cNvSpPr/>
          <p:nvPr/>
        </p:nvSpPr>
        <p:spPr>
          <a:xfrm>
            <a:off x="3475146" y="3106714"/>
            <a:ext cx="2548327" cy="44095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zh-CN" sz="1250">
                <a:solidFill>
                  <a:srgbClr val="0F172A"/>
                </a:solidFill>
              </a:rPr>
              <a:t>保护透光效率</a:t>
            </a:r>
          </a:p>
        </p:txBody>
      </p:sp>
      <p:sp>
        <p:nvSpPr>
          <p:cNvPr id="20" name="Node content_material"/>
          <p:cNvSpPr/>
          <p:nvPr/>
        </p:nvSpPr>
        <p:spPr>
          <a:xfrm>
            <a:off x="834525" y="4583411"/>
            <a:ext cx="1668120" cy="44095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zh-CN" sz="1250">
                <a:solidFill>
                  <a:srgbClr val="0F172A"/>
                </a:solidFill>
              </a:rPr>
              <a:t>筛选涂层体系</a:t>
            </a:r>
          </a:p>
        </p:txBody>
      </p:sp>
      <p:sp>
        <p:nvSpPr>
          <p:cNvPr id="21" name="Node content_texture"/>
          <p:cNvSpPr/>
          <p:nvPr/>
        </p:nvSpPr>
        <p:spPr>
          <a:xfrm>
            <a:off x="2594939" y="4583411"/>
            <a:ext cx="1668120" cy="44095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zh-CN" sz="1250">
                <a:solidFill>
                  <a:srgbClr val="0F172A"/>
                </a:solidFill>
              </a:rPr>
              <a:t>构筑微纳结构</a:t>
            </a:r>
          </a:p>
        </p:txBody>
      </p:sp>
      <p:sp>
        <p:nvSpPr>
          <p:cNvPr id="22" name="Node content_process"/>
          <p:cNvSpPr/>
          <p:nvPr/>
        </p:nvSpPr>
        <p:spPr>
          <a:xfrm>
            <a:off x="4355353" y="4583411"/>
            <a:ext cx="1668120" cy="44095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zh-CN" sz="1250">
                <a:solidFill>
                  <a:srgbClr val="0F172A"/>
                </a:solidFill>
              </a:rPr>
              <a:t>设计制备工艺</a:t>
            </a:r>
          </a:p>
        </p:txBody>
      </p:sp>
      <p:sp>
        <p:nvSpPr>
          <p:cNvPr id="23" name="Node technology_wetting"/>
          <p:cNvSpPr/>
          <p:nvPr/>
        </p:nvSpPr>
        <p:spPr>
          <a:xfrm>
            <a:off x="834525" y="6060108"/>
            <a:ext cx="1668120" cy="44095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zh-CN" sz="1250">
                <a:solidFill>
                  <a:srgbClr val="0F172A"/>
                </a:solidFill>
              </a:rPr>
              <a:t>调控润湿行为</a:t>
            </a:r>
          </a:p>
        </p:txBody>
      </p:sp>
      <p:sp>
        <p:nvSpPr>
          <p:cNvPr id="24" name="Node technology_durability"/>
          <p:cNvSpPr/>
          <p:nvPr/>
        </p:nvSpPr>
        <p:spPr>
          <a:xfrm>
            <a:off x="2594939" y="6060108"/>
            <a:ext cx="1668120" cy="44095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zh-CN" sz="1250">
                <a:solidFill>
                  <a:srgbClr val="0F172A"/>
                </a:solidFill>
              </a:rPr>
              <a:t>提升服役耐久性</a:t>
            </a:r>
          </a:p>
        </p:txBody>
      </p:sp>
      <p:sp>
        <p:nvSpPr>
          <p:cNvPr id="25" name="Node technology_transparency"/>
          <p:cNvSpPr/>
          <p:nvPr/>
        </p:nvSpPr>
        <p:spPr>
          <a:xfrm>
            <a:off x="4355353" y="6060108"/>
            <a:ext cx="1668120" cy="44095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zh-CN" sz="1250">
                <a:solidFill>
                  <a:srgbClr val="0F172A"/>
                </a:solidFill>
              </a:rPr>
              <a:t>保持高透光率</a:t>
            </a:r>
          </a:p>
        </p:txBody>
      </p:sp>
      <p:sp>
        <p:nvSpPr>
          <p:cNvPr id="26" name="Node validation_surface"/>
          <p:cNvSpPr/>
          <p:nvPr/>
        </p:nvSpPr>
        <p:spPr>
          <a:xfrm>
            <a:off x="834525" y="7536804"/>
            <a:ext cx="1668120" cy="44095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zh-CN" sz="1250">
                <a:solidFill>
                  <a:srgbClr val="0F172A"/>
                </a:solidFill>
              </a:rPr>
              <a:t>表征表面结构</a:t>
            </a:r>
          </a:p>
        </p:txBody>
      </p:sp>
      <p:sp>
        <p:nvSpPr>
          <p:cNvPr id="27" name="Node validation_cleaning"/>
          <p:cNvSpPr/>
          <p:nvPr/>
        </p:nvSpPr>
        <p:spPr>
          <a:xfrm>
            <a:off x="2594939" y="7536804"/>
            <a:ext cx="1668120" cy="44095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zh-CN" sz="1250">
                <a:solidFill>
                  <a:srgbClr val="0F172A"/>
                </a:solidFill>
              </a:rPr>
              <a:t>测试自清洁功能</a:t>
            </a:r>
          </a:p>
        </p:txBody>
      </p:sp>
      <p:sp>
        <p:nvSpPr>
          <p:cNvPr id="28" name="Node validation_power"/>
          <p:cNvSpPr/>
          <p:nvPr/>
        </p:nvSpPr>
        <p:spPr>
          <a:xfrm>
            <a:off x="4355353" y="7536804"/>
            <a:ext cx="1668120" cy="44095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zh-CN" sz="1250">
                <a:solidFill>
                  <a:srgbClr val="0F172A"/>
                </a:solidFill>
              </a:rPr>
              <a:t>测量发电影响</a:t>
            </a:r>
          </a:p>
        </p:txBody>
      </p:sp>
      <p:sp>
        <p:nvSpPr>
          <p:cNvPr id="29" name="Node outcome_route"/>
          <p:cNvSpPr/>
          <p:nvPr/>
        </p:nvSpPr>
        <p:spPr>
          <a:xfrm>
            <a:off x="834525" y="9013501"/>
            <a:ext cx="2548327" cy="44095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zh-CN" sz="1250">
                <a:solidFill>
                  <a:srgbClr val="0F172A"/>
                </a:solidFill>
              </a:rPr>
              <a:t>形成技术路线</a:t>
            </a:r>
          </a:p>
        </p:txBody>
      </p:sp>
      <p:sp>
        <p:nvSpPr>
          <p:cNvPr id="30" name="Node outcome_thesis"/>
          <p:cNvSpPr/>
          <p:nvPr/>
        </p:nvSpPr>
        <p:spPr>
          <a:xfrm>
            <a:off x="3475146" y="9013501"/>
            <a:ext cx="2548327" cy="44095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zh-CN" sz="1250">
                <a:solidFill>
                  <a:srgbClr val="0F172A"/>
                </a:solidFill>
              </a:rPr>
              <a:t>支撑论文写作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chRouteMaker">
  <a:themeElements>
    <a:clrScheme name="TechRoute">
      <a:dk1>
        <a:srgbClr val="000000"/>
      </a:dk1>
      <a:lt1>
        <a:srgbClr val="FFFFFF"/>
      </a:lt1>
      <a:dk2>
        <a:srgbClr val="1F2937"/>
      </a:dk2>
      <a:lt2>
        <a:srgbClr val="F8FAFC"/>
      </a:lt2>
      <a:accent1>
        <a:srgbClr val="2563EB"/>
      </a:accent1>
      <a:accent2>
        <a:srgbClr val="0F766E"/>
      </a:accent2>
      <a:accent3>
        <a:srgbClr val="7C3AED"/>
      </a:accent3>
      <a:accent4>
        <a:srgbClr val="F59E0B"/>
      </a:accent4>
      <a:accent5>
        <a:srgbClr val="EF4444"/>
      </a:accent5>
      <a:accent6>
        <a:srgbClr val="64748B"/>
      </a:accent6>
      <a:hlink>
        <a:srgbClr val="2563EB"/>
      </a:hlink>
      <a:folHlink>
        <a:srgbClr val="7C3AED"/>
      </a:folHlink>
    </a:clrScheme>
    <a:fontScheme name="Arial">
      <a:majorFont>
        <a:latin typeface="Arial"/>
      </a:majorFont>
      <a:minorFont>
        <a:latin typeface="Arial"/>
      </a:minorFont>
    </a:fontScheme>
    <a:fmtScheme name="TechRout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tech-route-maker</Application>
  <PresentationFormat>Widescreen</PresentationFormat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>
  <dc:creator>tech-route-maker</dc:creator>
  <cp:lastModifiedBy>tech-route-maker</cp:lastModifiedBy>
</cp:coreProperties>
</file>