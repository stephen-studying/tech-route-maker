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2300273" y="270000"/>
            <a:ext cx="7591452" cy="4300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72033"/>
                </a:solidFill>
              </a:rPr>
              <a:t>Photovoltaic</a:t>
            </a:r>
          </a:p>
          <a:p>
            <a:pPr algn="ctr"/>
            <a:r>
              <a:rPr lang="en-US" sz="2100" b="1">
                <a:solidFill>
                  <a:srgbClr val="172033"/>
                </a:solidFill>
              </a:rPr>
              <a:t>Self-Cleaning</a:t>
            </a:r>
          </a:p>
          <a:p>
            <a:pPr algn="ctr"/>
            <a:r>
              <a:rPr lang="en-US" sz="2100" b="1">
                <a:solidFill>
                  <a:srgbClr val="172033"/>
                </a:solidFill>
              </a:rPr>
              <a:t>Coating Proposal</a:t>
            </a:r>
          </a:p>
          <a:p>
            <a:pPr algn="ctr"/>
            <a:r>
              <a:rPr lang="en-US" sz="2100" b="1">
                <a:solidFill>
                  <a:srgbClr val="172033"/>
                </a:solidFill>
              </a:rPr>
              <a:t>Route</a:t>
            </a:r>
          </a:p>
        </p:txBody>
      </p:sp>
      <p:sp>
        <p:nvSpPr>
          <p:cNvPr id="3" name="Subtitle"/>
          <p:cNvSpPr/>
          <p:nvPr/>
        </p:nvSpPr>
        <p:spPr>
          <a:xfrm>
            <a:off x="3130273" y="715000"/>
            <a:ext cx="5931452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4B5563"/>
                </a:solidFill>
              </a:rPr>
              <a:t>Thesis proposal</a:t>
            </a:r>
          </a:p>
          <a:p>
            <a:pPr algn="ctr"/>
            <a:r>
              <a:rPr lang="en-US" sz="850">
                <a:solidFill>
                  <a:srgbClr val="4B5563"/>
                </a:solidFill>
              </a:rPr>
              <a:t>technical route</a:t>
            </a:r>
          </a:p>
          <a:p>
            <a:pPr algn="ctr"/>
            <a:r>
              <a:rPr lang="en-US" sz="850">
                <a:solidFill>
                  <a:srgbClr val="4B5563"/>
                </a:solidFill>
              </a:rPr>
              <a:t>generated by</a:t>
            </a:r>
          </a:p>
          <a:p>
            <a:pPr algn="ctr"/>
            <a:r>
              <a:rPr lang="en-US" sz="850">
                <a:solidFill>
                  <a:srgbClr val="4B5563"/>
                </a:solidFill>
              </a:rPr>
              <a:t>tech-route-maker</a:t>
            </a:r>
          </a:p>
        </p:txBody>
      </p:sp>
      <p:sp>
        <p:nvSpPr>
          <p:cNvPr id="4" name="Stage Research Objective"/>
          <p:cNvSpPr/>
          <p:nvPr/>
        </p:nvSpPr>
        <p:spPr>
          <a:xfrm>
            <a:off x="3253376" y="1207337"/>
            <a:ext cx="6761581" cy="86934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5" name="Label Research Objective"/>
          <p:cNvSpPr/>
          <p:nvPr/>
        </p:nvSpPr>
        <p:spPr>
          <a:xfrm>
            <a:off x="2108047" y="1448822"/>
            <a:ext cx="883145" cy="386376"/>
          </a:xfrm>
          <a:prstGeom prst="roundRect">
            <a:avLst/>
          </a:prstGeom>
          <a:solidFill>
            <a:srgbClr val="4338CA"/>
          </a:solidFill>
          <a:ln w="12700">
            <a:solidFill>
              <a:srgbClr val="4338CA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Research Objective</a:t>
            </a:r>
          </a:p>
        </p:txBody>
      </p:sp>
      <p:sp>
        <p:nvSpPr>
          <p:cNvPr id="6" name="Stage Research Content"/>
          <p:cNvSpPr/>
          <p:nvPr/>
        </p:nvSpPr>
        <p:spPr>
          <a:xfrm>
            <a:off x="3253376" y="2242273"/>
            <a:ext cx="6761581" cy="869346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7" name="Label Research Content"/>
          <p:cNvSpPr/>
          <p:nvPr/>
        </p:nvSpPr>
        <p:spPr>
          <a:xfrm>
            <a:off x="2108047" y="2483758"/>
            <a:ext cx="883145" cy="386376"/>
          </a:xfrm>
          <a:prstGeom prst="roundRect">
            <a:avLst/>
          </a:prstGeom>
          <a:solidFill>
            <a:srgbClr val="4338CA"/>
          </a:solidFill>
          <a:ln w="12700">
            <a:solidFill>
              <a:srgbClr val="4338CA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Research Content</a:t>
            </a:r>
          </a:p>
        </p:txBody>
      </p:sp>
      <p:sp>
        <p:nvSpPr>
          <p:cNvPr id="8" name="Stage Key Technology"/>
          <p:cNvSpPr/>
          <p:nvPr/>
        </p:nvSpPr>
        <p:spPr>
          <a:xfrm>
            <a:off x="3253376" y="3277209"/>
            <a:ext cx="6761581" cy="869346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9" name="Label Key Technology"/>
          <p:cNvSpPr/>
          <p:nvPr/>
        </p:nvSpPr>
        <p:spPr>
          <a:xfrm>
            <a:off x="2108047" y="3518694"/>
            <a:ext cx="883145" cy="386376"/>
          </a:xfrm>
          <a:prstGeom prst="roundRect">
            <a:avLst/>
          </a:prstGeom>
          <a:solidFill>
            <a:srgbClr val="4338CA"/>
          </a:solidFill>
          <a:ln w="12700">
            <a:solidFill>
              <a:srgbClr val="4338CA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Key Technology</a:t>
            </a:r>
          </a:p>
        </p:txBody>
      </p:sp>
      <p:sp>
        <p:nvSpPr>
          <p:cNvPr id="10" name="Stage Experimental Validation"/>
          <p:cNvSpPr/>
          <p:nvPr/>
        </p:nvSpPr>
        <p:spPr>
          <a:xfrm>
            <a:off x="3253376" y="4312145"/>
            <a:ext cx="6761581" cy="869346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1" name="Label Experimental Validation"/>
          <p:cNvSpPr/>
          <p:nvPr/>
        </p:nvSpPr>
        <p:spPr>
          <a:xfrm>
            <a:off x="2108047" y="4553630"/>
            <a:ext cx="883145" cy="386376"/>
          </a:xfrm>
          <a:prstGeom prst="roundRect">
            <a:avLst/>
          </a:prstGeom>
          <a:solidFill>
            <a:srgbClr val="4338CA"/>
          </a:solidFill>
          <a:ln w="12700">
            <a:solidFill>
              <a:srgbClr val="4338CA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Experimental</a:t>
            </a:r>
          </a:p>
          <a:p>
            <a:pPr algn="ctr"/>
            <a:r>
              <a:rPr lang="en-US" sz="105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12" name="Stage Expected Outcomes"/>
          <p:cNvSpPr/>
          <p:nvPr/>
        </p:nvSpPr>
        <p:spPr>
          <a:xfrm>
            <a:off x="3253376" y="5347081"/>
            <a:ext cx="6761581" cy="869346"/>
          </a:xfrm>
          <a:prstGeom prst="roundRect">
            <a:avLst/>
          </a:prstGeom>
          <a:solidFill>
            <a:srgbClr val="FFE4E6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3" name="Label Expected Outcomes"/>
          <p:cNvSpPr/>
          <p:nvPr/>
        </p:nvSpPr>
        <p:spPr>
          <a:xfrm>
            <a:off x="2108047" y="5588566"/>
            <a:ext cx="883145" cy="386376"/>
          </a:xfrm>
          <a:prstGeom prst="roundRect">
            <a:avLst/>
          </a:prstGeom>
          <a:solidFill>
            <a:srgbClr val="4338CA"/>
          </a:solidFill>
          <a:ln w="12700">
            <a:solidFill>
              <a:srgbClr val="4338CA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Expected Outcomes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5040365" y="1635111"/>
            <a:ext cx="3187602" cy="1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H="1">
            <a:off x="4509098" y="1635111"/>
            <a:ext cx="3718869" cy="1034935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4509098" y="2670047"/>
            <a:ext cx="2125068" cy="1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6634166" y="2670047"/>
            <a:ext cx="2125068" cy="1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4509098" y="2670047"/>
            <a:ext cx="4250136" cy="1034935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4509098" y="3704982"/>
            <a:ext cx="2125068" cy="1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6634166" y="3704982"/>
            <a:ext cx="2125068" cy="1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H="1">
            <a:off x="4509098" y="3704982"/>
            <a:ext cx="4250136" cy="1034935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4509098" y="4739918"/>
            <a:ext cx="2125068" cy="1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6634166" y="4739918"/>
            <a:ext cx="2125068" cy="1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 flipH="1">
            <a:off x="5040365" y="4739918"/>
            <a:ext cx="3718869" cy="1034935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>
            <a:off x="5040365" y="5774854"/>
            <a:ext cx="3187602" cy="1"/>
          </a:xfrm>
          <a:prstGeom prst="line">
            <a:avLst/>
          </a:prstGeom>
          <a:ln w="19050">
            <a:solidFill>
              <a:srgbClr val="7C3AED"/>
            </a:solidFill>
            <a:headEnd type="triangle"/>
          </a:ln>
        </p:spPr>
      </p:cxnSp>
      <p:sp>
        <p:nvSpPr>
          <p:cNvPr id="26" name="Node objective_problem"/>
          <p:cNvSpPr/>
          <p:nvPr/>
        </p:nvSpPr>
        <p:spPr>
          <a:xfrm>
            <a:off x="3501760" y="1428123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Reduce surface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contamination</a:t>
            </a:r>
          </a:p>
        </p:txBody>
      </p:sp>
      <p:sp>
        <p:nvSpPr>
          <p:cNvPr id="27" name="Node objective_value"/>
          <p:cNvSpPr/>
          <p:nvPr/>
        </p:nvSpPr>
        <p:spPr>
          <a:xfrm>
            <a:off x="6689363" y="1428123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Protect optical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efficiency</a:t>
            </a:r>
          </a:p>
        </p:txBody>
      </p:sp>
      <p:sp>
        <p:nvSpPr>
          <p:cNvPr id="28" name="Node content_material"/>
          <p:cNvSpPr/>
          <p:nvPr/>
        </p:nvSpPr>
        <p:spPr>
          <a:xfrm>
            <a:off x="3501760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Select coating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chemistry</a:t>
            </a:r>
          </a:p>
        </p:txBody>
      </p:sp>
      <p:sp>
        <p:nvSpPr>
          <p:cNvPr id="29" name="Node content_texture"/>
          <p:cNvSpPr/>
          <p:nvPr/>
        </p:nvSpPr>
        <p:spPr>
          <a:xfrm>
            <a:off x="5626829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Design micro nano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texture</a:t>
            </a:r>
          </a:p>
        </p:txBody>
      </p:sp>
      <p:sp>
        <p:nvSpPr>
          <p:cNvPr id="30" name="Node content_process"/>
          <p:cNvSpPr/>
          <p:nvPr/>
        </p:nvSpPr>
        <p:spPr>
          <a:xfrm>
            <a:off x="7751897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Plan scalable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process</a:t>
            </a:r>
          </a:p>
        </p:txBody>
      </p:sp>
      <p:sp>
        <p:nvSpPr>
          <p:cNvPr id="31" name="Node technology_wettability"/>
          <p:cNvSpPr/>
          <p:nvPr/>
        </p:nvSpPr>
        <p:spPr>
          <a:xfrm>
            <a:off x="3501760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Tune wetting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behavior</a:t>
            </a:r>
          </a:p>
        </p:txBody>
      </p:sp>
      <p:sp>
        <p:nvSpPr>
          <p:cNvPr id="32" name="Node technology_durability"/>
          <p:cNvSpPr/>
          <p:nvPr/>
        </p:nvSpPr>
        <p:spPr>
          <a:xfrm>
            <a:off x="5626829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Improve durability</a:t>
            </a:r>
          </a:p>
        </p:txBody>
      </p:sp>
      <p:sp>
        <p:nvSpPr>
          <p:cNvPr id="33" name="Node technology_transparency"/>
          <p:cNvSpPr/>
          <p:nvPr/>
        </p:nvSpPr>
        <p:spPr>
          <a:xfrm>
            <a:off x="7751897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Maintain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transparency</a:t>
            </a:r>
          </a:p>
        </p:txBody>
      </p:sp>
      <p:sp>
        <p:nvSpPr>
          <p:cNvPr id="34" name="Node validation_surface"/>
          <p:cNvSpPr/>
          <p:nvPr/>
        </p:nvSpPr>
        <p:spPr>
          <a:xfrm>
            <a:off x="3501760" y="4532931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Characterize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surface structure</a:t>
            </a:r>
          </a:p>
        </p:txBody>
      </p:sp>
      <p:sp>
        <p:nvSpPr>
          <p:cNvPr id="35" name="Node validation_cleaning"/>
          <p:cNvSpPr/>
          <p:nvPr/>
        </p:nvSpPr>
        <p:spPr>
          <a:xfrm>
            <a:off x="5626829" y="4532931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Test self-cleaning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function</a:t>
            </a:r>
          </a:p>
        </p:txBody>
      </p:sp>
      <p:sp>
        <p:nvSpPr>
          <p:cNvPr id="36" name="Node validation_power"/>
          <p:cNvSpPr/>
          <p:nvPr/>
        </p:nvSpPr>
        <p:spPr>
          <a:xfrm>
            <a:off x="7751897" y="4532931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Measure PV impact</a:t>
            </a:r>
          </a:p>
        </p:txBody>
      </p:sp>
      <p:sp>
        <p:nvSpPr>
          <p:cNvPr id="37" name="Node outcome_route"/>
          <p:cNvSpPr/>
          <p:nvPr/>
        </p:nvSpPr>
        <p:spPr>
          <a:xfrm>
            <a:off x="3501760" y="5567867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Form technical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route</a:t>
            </a:r>
          </a:p>
        </p:txBody>
      </p:sp>
      <p:sp>
        <p:nvSpPr>
          <p:cNvPr id="38" name="Node outcome_thesis"/>
          <p:cNvSpPr/>
          <p:nvPr/>
        </p:nvSpPr>
        <p:spPr>
          <a:xfrm>
            <a:off x="6689363" y="5567867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33"/>
                </a:solidFill>
              </a:rPr>
              <a:t>Support thesis</a:t>
            </a:r>
          </a:p>
          <a:p>
            <a:pPr algn="ctr"/>
            <a:r>
              <a:rPr lang="en-US" sz="1050">
                <a:solidFill>
                  <a:srgbClr val="172033"/>
                </a:solidFill>
              </a:rPr>
              <a:t>chapters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