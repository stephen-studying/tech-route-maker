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300273" y="270000"/>
            <a:ext cx="7591452" cy="430000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D9F2F2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62033"/>
                </a:solidFill>
              </a:rPr>
              <a:t>PV Module</a:t>
            </a:r>
          </a:p>
          <a:p>
            <a:pPr algn="ctr"/>
            <a:r>
              <a:rPr lang="en-US" sz="2100" b="1">
                <a:solidFill>
                  <a:srgbClr val="162033"/>
                </a:solidFill>
              </a:rPr>
              <a:t>Degradation</a:t>
            </a:r>
          </a:p>
          <a:p>
            <a:pPr algn="ctr"/>
            <a:r>
              <a:rPr lang="en-US" sz="2100" b="1">
                <a:solidFill>
                  <a:srgbClr val="162033"/>
                </a:solidFill>
              </a:rPr>
              <a:t>Assessment</a:t>
            </a:r>
          </a:p>
          <a:p>
            <a:pPr algn="ctr"/>
            <a:r>
              <a:rPr lang="en-US" sz="2100" b="1">
                <a:solidFill>
                  <a:srgbClr val="162033"/>
                </a:solidFill>
              </a:rPr>
              <a:t>Technical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3130273" y="715000"/>
            <a:ext cx="5931452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B6472"/>
                </a:solidFill>
              </a:rPr>
              <a:t>Thesis proposal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route generated by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tech-route-maker</a:t>
            </a:r>
          </a:p>
        </p:txBody>
      </p:sp>
      <p:sp>
        <p:nvSpPr>
          <p:cNvPr id="4" name="Stage Research Objective"/>
          <p:cNvSpPr/>
          <p:nvPr/>
        </p:nvSpPr>
        <p:spPr>
          <a:xfrm>
            <a:off x="3253376" y="1207337"/>
            <a:ext cx="6761581" cy="869346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5" name="Label Research Objective"/>
          <p:cNvSpPr/>
          <p:nvPr/>
        </p:nvSpPr>
        <p:spPr>
          <a:xfrm>
            <a:off x="2108047" y="1448822"/>
            <a:ext cx="883145" cy="386376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122033"/>
                </a:solidFill>
              </a:rPr>
              <a:t>Research Objective</a:t>
            </a:r>
          </a:p>
        </p:txBody>
      </p:sp>
      <p:sp>
        <p:nvSpPr>
          <p:cNvPr id="6" name="Stage Research Content"/>
          <p:cNvSpPr/>
          <p:nvPr/>
        </p:nvSpPr>
        <p:spPr>
          <a:xfrm>
            <a:off x="3253376" y="2242273"/>
            <a:ext cx="6761581" cy="869346"/>
          </a:xfrm>
          <a:prstGeom prst="roundRect">
            <a:avLst/>
          </a:prstGeom>
          <a:solidFill>
            <a:srgbClr val="F7E0E8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7" name="Label Research Content"/>
          <p:cNvSpPr/>
          <p:nvPr/>
        </p:nvSpPr>
        <p:spPr>
          <a:xfrm>
            <a:off x="2108047" y="2483758"/>
            <a:ext cx="883145" cy="386376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122033"/>
                </a:solidFill>
              </a:rPr>
              <a:t>Research Content</a:t>
            </a:r>
          </a:p>
        </p:txBody>
      </p:sp>
      <p:sp>
        <p:nvSpPr>
          <p:cNvPr id="8" name="Stage Key Technologies"/>
          <p:cNvSpPr/>
          <p:nvPr/>
        </p:nvSpPr>
        <p:spPr>
          <a:xfrm>
            <a:off x="3253376" y="3277209"/>
            <a:ext cx="6761581" cy="869346"/>
          </a:xfrm>
          <a:prstGeom prst="roundRect">
            <a:avLst/>
          </a:prstGeom>
          <a:solidFill>
            <a:srgbClr val="FFF1C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9" name="Label Key Technologies"/>
          <p:cNvSpPr/>
          <p:nvPr/>
        </p:nvSpPr>
        <p:spPr>
          <a:xfrm>
            <a:off x="2108047" y="3518694"/>
            <a:ext cx="883145" cy="386376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122033"/>
                </a:solidFill>
              </a:rPr>
              <a:t>Key Technologies</a:t>
            </a:r>
          </a:p>
        </p:txBody>
      </p:sp>
      <p:sp>
        <p:nvSpPr>
          <p:cNvPr id="10" name="Stage Experimental Validation"/>
          <p:cNvSpPr/>
          <p:nvPr/>
        </p:nvSpPr>
        <p:spPr>
          <a:xfrm>
            <a:off x="3253376" y="4312145"/>
            <a:ext cx="6761581" cy="869346"/>
          </a:xfrm>
          <a:prstGeom prst="roundRect">
            <a:avLst/>
          </a:prstGeom>
          <a:solidFill>
            <a:srgbClr val="DDECF9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1" name="Label Experimental Validation"/>
          <p:cNvSpPr/>
          <p:nvPr/>
        </p:nvSpPr>
        <p:spPr>
          <a:xfrm>
            <a:off x="2108047" y="4553630"/>
            <a:ext cx="883145" cy="386376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122033"/>
                </a:solidFill>
              </a:rPr>
              <a:t>Experimental</a:t>
            </a:r>
          </a:p>
          <a:p>
            <a:pPr algn="ctr"/>
            <a:r>
              <a:rPr lang="en-US" sz="1050" b="1">
                <a:solidFill>
                  <a:srgbClr val="122033"/>
                </a:solidFill>
              </a:rPr>
              <a:t>Validation</a:t>
            </a:r>
          </a:p>
        </p:txBody>
      </p:sp>
      <p:sp>
        <p:nvSpPr>
          <p:cNvPr id="12" name="Stage Expected Outputs"/>
          <p:cNvSpPr/>
          <p:nvPr/>
        </p:nvSpPr>
        <p:spPr>
          <a:xfrm>
            <a:off x="3253376" y="5347081"/>
            <a:ext cx="6761581" cy="869346"/>
          </a:xfrm>
          <a:prstGeom prst="roundRect">
            <a:avLst/>
          </a:prstGeom>
          <a:solidFill>
            <a:srgbClr val="E6F4D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3" name="Label Expected Outputs"/>
          <p:cNvSpPr/>
          <p:nvPr/>
        </p:nvSpPr>
        <p:spPr>
          <a:xfrm>
            <a:off x="2108047" y="5588566"/>
            <a:ext cx="883145" cy="386376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050" b="1">
                <a:solidFill>
                  <a:srgbClr val="122033"/>
                </a:solidFill>
              </a:rPr>
              <a:t>Expected Outputs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5040365" y="1635111"/>
            <a:ext cx="3187602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509098" y="1635111"/>
            <a:ext cx="3718869" cy="1034935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509098" y="2670047"/>
            <a:ext cx="2125068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34166" y="2670047"/>
            <a:ext cx="2125068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509098" y="2670047"/>
            <a:ext cx="4250136" cy="1034935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509098" y="3704982"/>
            <a:ext cx="2125068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634166" y="3704982"/>
            <a:ext cx="2125068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5040365" y="3704982"/>
            <a:ext cx="3718869" cy="1034935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5040365" y="4739918"/>
            <a:ext cx="3187602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H="1">
            <a:off x="5040365" y="4739918"/>
            <a:ext cx="3187602" cy="1034935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5040365" y="5774854"/>
            <a:ext cx="3187602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sp>
        <p:nvSpPr>
          <p:cNvPr id="25" name="Node objective_problem"/>
          <p:cNvSpPr/>
          <p:nvPr/>
        </p:nvSpPr>
        <p:spPr>
          <a:xfrm>
            <a:off x="3501760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Define degradation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risk</a:t>
            </a:r>
          </a:p>
        </p:txBody>
      </p:sp>
      <p:sp>
        <p:nvSpPr>
          <p:cNvPr id="26" name="Node objective_scope"/>
          <p:cNvSpPr/>
          <p:nvPr/>
        </p:nvSpPr>
        <p:spPr>
          <a:xfrm>
            <a:off x="6689363" y="1428123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Set evaluation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scope</a:t>
            </a:r>
          </a:p>
        </p:txBody>
      </p:sp>
      <p:sp>
        <p:nvSpPr>
          <p:cNvPr id="27" name="Node content_collect"/>
          <p:cNvSpPr/>
          <p:nvPr/>
        </p:nvSpPr>
        <p:spPr>
          <a:xfrm>
            <a:off x="3501760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Collect field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evidence</a:t>
            </a:r>
          </a:p>
        </p:txBody>
      </p:sp>
      <p:sp>
        <p:nvSpPr>
          <p:cNvPr id="28" name="Node content_clean"/>
          <p:cNvSpPr/>
          <p:nvPr/>
        </p:nvSpPr>
        <p:spPr>
          <a:xfrm>
            <a:off x="5626829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Clean and align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records</a:t>
            </a:r>
          </a:p>
        </p:txBody>
      </p:sp>
      <p:sp>
        <p:nvSpPr>
          <p:cNvPr id="29" name="Node content_indicators"/>
          <p:cNvSpPr/>
          <p:nvPr/>
        </p:nvSpPr>
        <p:spPr>
          <a:xfrm>
            <a:off x="7751897" y="2463059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Construct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indicators</a:t>
            </a:r>
          </a:p>
        </p:txBody>
      </p:sp>
      <p:sp>
        <p:nvSpPr>
          <p:cNvPr id="30" name="Node technology_select"/>
          <p:cNvSpPr/>
          <p:nvPr/>
        </p:nvSpPr>
        <p:spPr>
          <a:xfrm>
            <a:off x="3501760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Select feature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groups</a:t>
            </a:r>
          </a:p>
        </p:txBody>
      </p:sp>
      <p:sp>
        <p:nvSpPr>
          <p:cNvPr id="31" name="Node technology_model"/>
          <p:cNvSpPr/>
          <p:nvPr/>
        </p:nvSpPr>
        <p:spPr>
          <a:xfrm>
            <a:off x="5626829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Fit risk model</a:t>
            </a:r>
          </a:p>
        </p:txBody>
      </p:sp>
      <p:sp>
        <p:nvSpPr>
          <p:cNvPr id="32" name="Node technology_uncertainty"/>
          <p:cNvSpPr/>
          <p:nvPr/>
        </p:nvSpPr>
        <p:spPr>
          <a:xfrm>
            <a:off x="7751897" y="3497995"/>
            <a:ext cx="2014675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Estimate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uncertainty</a:t>
            </a:r>
          </a:p>
        </p:txBody>
      </p:sp>
      <p:sp>
        <p:nvSpPr>
          <p:cNvPr id="33" name="Node validation_cases"/>
          <p:cNvSpPr/>
          <p:nvPr/>
        </p:nvSpPr>
        <p:spPr>
          <a:xfrm>
            <a:off x="3501760" y="4532931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Validate fault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cases</a:t>
            </a:r>
          </a:p>
        </p:txBody>
      </p:sp>
      <p:sp>
        <p:nvSpPr>
          <p:cNvPr id="34" name="Node validation_ablation"/>
          <p:cNvSpPr/>
          <p:nvPr/>
        </p:nvSpPr>
        <p:spPr>
          <a:xfrm>
            <a:off x="6689363" y="4532931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Review feature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ablation</a:t>
            </a:r>
          </a:p>
        </p:txBody>
      </p:sp>
      <p:sp>
        <p:nvSpPr>
          <p:cNvPr id="35" name="Node output_priority"/>
          <p:cNvSpPr/>
          <p:nvPr/>
        </p:nvSpPr>
        <p:spPr>
          <a:xfrm>
            <a:off x="3501760" y="5567867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Output inspection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priority</a:t>
            </a:r>
          </a:p>
        </p:txBody>
      </p:sp>
      <p:sp>
        <p:nvSpPr>
          <p:cNvPr id="36" name="Node output_thesis"/>
          <p:cNvSpPr/>
          <p:nvPr/>
        </p:nvSpPr>
        <p:spPr>
          <a:xfrm>
            <a:off x="6689363" y="5567867"/>
            <a:ext cx="3077209" cy="41397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Support thesis</a:t>
            </a:r>
          </a:p>
          <a:p>
            <a:pPr algn="ctr"/>
            <a:r>
              <a:rPr lang="en-US" sz="1050">
                <a:solidFill>
                  <a:srgbClr val="162033"/>
                </a:solidFill>
              </a:rPr>
              <a:t>chapters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