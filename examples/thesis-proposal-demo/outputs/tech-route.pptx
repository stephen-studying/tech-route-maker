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3912527" y="269999"/>
            <a:ext cx="4366945" cy="430000"/>
          </a:xfrm>
          <a:prstGeom prst="roundRect">
            <a:avLst/>
          </a:prstGeom>
          <a:solidFill>
            <a:srgbClr val="D9F2F2"/>
          </a:solidFill>
          <a:ln w="12700">
            <a:solidFill>
              <a:srgbClr val="D9F2F2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62033"/>
                </a:solidFill>
              </a:rPr>
              <a:t>Thesis Proposal</a:t>
            </a:r>
          </a:p>
          <a:p>
            <a:pPr algn="ctr"/>
            <a:r>
              <a:rPr lang="en-US" sz="2100" b="1">
                <a:solidFill>
                  <a:srgbClr val="162033"/>
                </a:solidFill>
              </a:rPr>
              <a:t>Technical Route</a:t>
            </a:r>
          </a:p>
        </p:txBody>
      </p:sp>
      <p:sp>
        <p:nvSpPr>
          <p:cNvPr id="3" name="Subtitle"/>
          <p:cNvSpPr/>
          <p:nvPr/>
        </p:nvSpPr>
        <p:spPr>
          <a:xfrm>
            <a:off x="4742527" y="714999"/>
            <a:ext cx="2706945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850">
                <a:solidFill>
                  <a:srgbClr val="5B6472"/>
                </a:solidFill>
              </a:rPr>
              <a:t>Data-driven PV</a:t>
            </a:r>
          </a:p>
          <a:p>
            <a:pPr algn="ctr"/>
            <a:r>
              <a:rPr lang="en-US" sz="850">
                <a:solidFill>
                  <a:srgbClr val="5B6472"/>
                </a:solidFill>
              </a:rPr>
              <a:t>module degradation</a:t>
            </a:r>
          </a:p>
          <a:p>
            <a:pPr algn="ctr"/>
            <a:r>
              <a:rPr lang="en-US" sz="850">
                <a:solidFill>
                  <a:srgbClr val="5B6472"/>
                </a:solidFill>
              </a:rPr>
              <a:t>assessment demo</a:t>
            </a:r>
          </a:p>
        </p:txBody>
      </p:sp>
      <p:sp>
        <p:nvSpPr>
          <p:cNvPr id="4" name="Stage Research Question"/>
          <p:cNvSpPr/>
          <p:nvPr/>
        </p:nvSpPr>
        <p:spPr>
          <a:xfrm>
            <a:off x="4303779" y="890855"/>
            <a:ext cx="4215221" cy="730905"/>
          </a:xfrm>
          <a:prstGeom prst="roundRect">
            <a:avLst/>
          </a:prstGeom>
          <a:solidFill>
            <a:srgbClr val="D9F2F2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5" name="Header Research Question"/>
          <p:cNvSpPr/>
          <p:nvPr/>
        </p:nvSpPr>
        <p:spPr>
          <a:xfrm>
            <a:off x="4303779" y="890855"/>
            <a:ext cx="4215221" cy="260000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22033"/>
                </a:solidFill>
              </a:rPr>
              <a:t>Research Question</a:t>
            </a:r>
          </a:p>
        </p:txBody>
      </p:sp>
      <p:sp>
        <p:nvSpPr>
          <p:cNvPr id="6" name="Stage Source Evidence"/>
          <p:cNvSpPr/>
          <p:nvPr/>
        </p:nvSpPr>
        <p:spPr>
          <a:xfrm>
            <a:off x="4303779" y="1811996"/>
            <a:ext cx="4215221" cy="730905"/>
          </a:xfrm>
          <a:prstGeom prst="roundRect">
            <a:avLst/>
          </a:prstGeom>
          <a:solidFill>
            <a:srgbClr val="F7E0E8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7" name="Header Source Evidence"/>
          <p:cNvSpPr/>
          <p:nvPr/>
        </p:nvSpPr>
        <p:spPr>
          <a:xfrm>
            <a:off x="4303779" y="1811996"/>
            <a:ext cx="4215221" cy="260000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22033"/>
                </a:solidFill>
              </a:rPr>
              <a:t>Source Evidence</a:t>
            </a:r>
          </a:p>
        </p:txBody>
      </p:sp>
      <p:sp>
        <p:nvSpPr>
          <p:cNvPr id="8" name="Stage Feature Route"/>
          <p:cNvSpPr/>
          <p:nvPr/>
        </p:nvSpPr>
        <p:spPr>
          <a:xfrm>
            <a:off x="4303779" y="2733137"/>
            <a:ext cx="4215221" cy="730905"/>
          </a:xfrm>
          <a:prstGeom prst="roundRect">
            <a:avLst/>
          </a:prstGeom>
          <a:solidFill>
            <a:srgbClr val="FFF1C7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9" name="Header Feature Route"/>
          <p:cNvSpPr/>
          <p:nvPr/>
        </p:nvSpPr>
        <p:spPr>
          <a:xfrm>
            <a:off x="4303779" y="2733137"/>
            <a:ext cx="4215221" cy="260000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22033"/>
                </a:solidFill>
              </a:rPr>
              <a:t>Feature Route</a:t>
            </a:r>
          </a:p>
        </p:txBody>
      </p:sp>
      <p:sp>
        <p:nvSpPr>
          <p:cNvPr id="10" name="Stage Modeling"/>
          <p:cNvSpPr/>
          <p:nvPr/>
        </p:nvSpPr>
        <p:spPr>
          <a:xfrm>
            <a:off x="4303779" y="3654279"/>
            <a:ext cx="4215221" cy="730905"/>
          </a:xfrm>
          <a:prstGeom prst="roundRect">
            <a:avLst/>
          </a:prstGeom>
          <a:solidFill>
            <a:srgbClr val="DDECF9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11" name="Header Modeling"/>
          <p:cNvSpPr/>
          <p:nvPr/>
        </p:nvSpPr>
        <p:spPr>
          <a:xfrm>
            <a:off x="4303779" y="3654279"/>
            <a:ext cx="4215221" cy="260000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22033"/>
                </a:solidFill>
              </a:rPr>
              <a:t>Modeling</a:t>
            </a:r>
          </a:p>
        </p:txBody>
      </p:sp>
      <p:sp>
        <p:nvSpPr>
          <p:cNvPr id="12" name="Stage Validation"/>
          <p:cNvSpPr/>
          <p:nvPr/>
        </p:nvSpPr>
        <p:spPr>
          <a:xfrm>
            <a:off x="4303779" y="4575420"/>
            <a:ext cx="4215221" cy="730905"/>
          </a:xfrm>
          <a:prstGeom prst="roundRect">
            <a:avLst/>
          </a:prstGeom>
          <a:solidFill>
            <a:srgbClr val="E6F4D7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13" name="Header Validation"/>
          <p:cNvSpPr/>
          <p:nvPr/>
        </p:nvSpPr>
        <p:spPr>
          <a:xfrm>
            <a:off x="4303779" y="4575420"/>
            <a:ext cx="4215221" cy="260000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22033"/>
                </a:solidFill>
              </a:rPr>
              <a:t>Validation</a:t>
            </a:r>
          </a:p>
        </p:txBody>
      </p:sp>
      <p:sp>
        <p:nvSpPr>
          <p:cNvPr id="14" name="Stage Thesis Output"/>
          <p:cNvSpPr/>
          <p:nvPr/>
        </p:nvSpPr>
        <p:spPr>
          <a:xfrm>
            <a:off x="4303779" y="5496561"/>
            <a:ext cx="4215221" cy="730905"/>
          </a:xfrm>
          <a:prstGeom prst="roundRect">
            <a:avLst/>
          </a:prstGeom>
          <a:solidFill>
            <a:srgbClr val="F6E7D7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15" name="Header Thesis Output"/>
          <p:cNvSpPr/>
          <p:nvPr/>
        </p:nvSpPr>
        <p:spPr>
          <a:xfrm>
            <a:off x="4303779" y="5496561"/>
            <a:ext cx="4215221" cy="260000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22033"/>
                </a:solidFill>
              </a:rPr>
              <a:t>Thesis Output</a:t>
            </a:r>
          </a:p>
        </p:txBody>
      </p:sp>
      <p:cxnSp>
        <p:nvCxnSpPr>
          <p:cNvPr id="16" name="Connector 16"/>
          <p:cNvCxnSpPr/>
          <p:nvPr/>
        </p:nvCxnSpPr>
        <p:spPr>
          <a:xfrm flipH="1">
            <a:off x="5425168" y="1346420"/>
            <a:ext cx="986221" cy="92114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5425168" y="2267561"/>
            <a:ext cx="1972443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 flipH="1">
            <a:off x="5425168" y="2267561"/>
            <a:ext cx="1972443" cy="92114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>
            <a:off x="5425168" y="3188702"/>
            <a:ext cx="1972443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 flipH="1">
            <a:off x="5425168" y="3188702"/>
            <a:ext cx="1972443" cy="92114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>
            <a:off x="5425168" y="4109843"/>
            <a:ext cx="1972443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 flipH="1">
            <a:off x="5425168" y="4109843"/>
            <a:ext cx="1972443" cy="92114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>
            <a:off x="5425168" y="5030984"/>
            <a:ext cx="1972443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 flipH="1">
            <a:off x="6411390" y="5030984"/>
            <a:ext cx="986221" cy="92114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sp>
        <p:nvSpPr>
          <p:cNvPr id="25" name="Node question_define"/>
          <p:cNvSpPr/>
          <p:nvPr/>
        </p:nvSpPr>
        <p:spPr>
          <a:xfrm>
            <a:off x="4478996" y="1191227"/>
            <a:ext cx="3864787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Define degradation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risk</a:t>
            </a:r>
          </a:p>
        </p:txBody>
      </p:sp>
      <p:sp>
        <p:nvSpPr>
          <p:cNvPr id="26" name="Node evidence_collect"/>
          <p:cNvSpPr/>
          <p:nvPr/>
        </p:nvSpPr>
        <p:spPr>
          <a:xfrm>
            <a:off x="4478996" y="2112368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Collect field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evidence</a:t>
            </a:r>
          </a:p>
        </p:txBody>
      </p:sp>
      <p:sp>
        <p:nvSpPr>
          <p:cNvPr id="27" name="Node evidence_align"/>
          <p:cNvSpPr/>
          <p:nvPr/>
        </p:nvSpPr>
        <p:spPr>
          <a:xfrm>
            <a:off x="6451440" y="2112368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Clean and align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data</a:t>
            </a:r>
          </a:p>
        </p:txBody>
      </p:sp>
      <p:sp>
        <p:nvSpPr>
          <p:cNvPr id="28" name="Node features_construct"/>
          <p:cNvSpPr/>
          <p:nvPr/>
        </p:nvSpPr>
        <p:spPr>
          <a:xfrm>
            <a:off x="4478996" y="3033510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Construct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indicators</a:t>
            </a:r>
          </a:p>
        </p:txBody>
      </p:sp>
      <p:sp>
        <p:nvSpPr>
          <p:cNvPr id="29" name="Node features_select"/>
          <p:cNvSpPr/>
          <p:nvPr/>
        </p:nvSpPr>
        <p:spPr>
          <a:xfrm>
            <a:off x="6451440" y="3033510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Select feature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groups</a:t>
            </a:r>
          </a:p>
        </p:txBody>
      </p:sp>
      <p:sp>
        <p:nvSpPr>
          <p:cNvPr id="30" name="Node model_fit"/>
          <p:cNvSpPr/>
          <p:nvPr/>
        </p:nvSpPr>
        <p:spPr>
          <a:xfrm>
            <a:off x="4478996" y="3954651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Fit interpretable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model</a:t>
            </a:r>
          </a:p>
        </p:txBody>
      </p:sp>
      <p:sp>
        <p:nvSpPr>
          <p:cNvPr id="31" name="Node model_uncertainty"/>
          <p:cNvSpPr/>
          <p:nvPr/>
        </p:nvSpPr>
        <p:spPr>
          <a:xfrm>
            <a:off x="6451440" y="3954651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Label uncertainty</a:t>
            </a:r>
          </a:p>
        </p:txBody>
      </p:sp>
      <p:sp>
        <p:nvSpPr>
          <p:cNvPr id="32" name="Node validation_cases"/>
          <p:cNvSpPr/>
          <p:nvPr/>
        </p:nvSpPr>
        <p:spPr>
          <a:xfrm>
            <a:off x="4478996" y="4875792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Validate on fault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cases</a:t>
            </a:r>
          </a:p>
        </p:txBody>
      </p:sp>
      <p:sp>
        <p:nvSpPr>
          <p:cNvPr id="33" name="Node validation_review"/>
          <p:cNvSpPr/>
          <p:nvPr/>
        </p:nvSpPr>
        <p:spPr>
          <a:xfrm>
            <a:off x="6451440" y="4875792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Review feature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ablation</a:t>
            </a:r>
          </a:p>
        </p:txBody>
      </p:sp>
      <p:sp>
        <p:nvSpPr>
          <p:cNvPr id="34" name="Node output_priority"/>
          <p:cNvSpPr/>
          <p:nvPr/>
        </p:nvSpPr>
        <p:spPr>
          <a:xfrm>
            <a:off x="4478996" y="5796933"/>
            <a:ext cx="3864787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Output inspection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priority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