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858000" cy="12192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2351200"/>
            <a:ext cx="5518000" cy="430000"/>
          </a:xfrm>
          <a:prstGeom prst="roundRect">
            <a:avLst/>
          </a:prstGeom>
          <a:solidFill>
            <a:srgbClr val="DDF3F3"/>
          </a:solidFill>
          <a:ln w="12700">
            <a:solidFill>
              <a:srgbClr val="78B5C7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3243A"/>
                </a:solidFill>
              </a:rPr>
              <a:t>光伏自清洁涂层开题技术路线图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2796200"/>
            <a:ext cx="5518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D6B7A"/>
                </a:solidFill>
              </a:rPr>
              <a:t>中文开题报告示例：材料设计、性能测试</a:t>
            </a:r>
          </a:p>
          <a:p>
            <a:pPr algn="ctr"/>
            <a:r>
              <a:rPr lang="zh-CN" sz="850">
                <a:solidFill>
                  <a:srgbClr val="5D6B7A"/>
                </a:solidFill>
              </a:rPr>
              <a:t>与光伏应用验证</a:t>
            </a:r>
          </a:p>
        </p:txBody>
      </p:sp>
      <p:cxnSp>
        <p:nvCxnSpPr>
          <p:cNvPr id="4" name="Connector 4"/>
          <p:cNvCxnSpPr/>
          <p:nvPr/>
        </p:nvCxnSpPr>
        <p:spPr>
          <a:xfrm>
            <a:off x="825818" y="3324871"/>
            <a:ext cx="1" cy="5986116"/>
          </a:xfrm>
          <a:prstGeom prst="line">
            <a:avLst/>
          </a:prstGeom>
          <a:ln w="19050">
            <a:solidFill>
              <a:srgbClr val="F36F7B"/>
            </a:solidFill>
          </a:ln>
        </p:spPr>
      </p:cxnSp>
      <p:sp>
        <p:nvSpPr>
          <p:cNvPr id="5" name="Axis 研究目标"/>
          <p:cNvSpPr/>
          <p:nvPr/>
        </p:nvSpPr>
        <p:spPr>
          <a:xfrm>
            <a:off x="477928" y="3576792"/>
            <a:ext cx="491845" cy="395875"/>
          </a:xfrm>
          <a:prstGeom prst="roundRect">
            <a:avLst/>
          </a:prstGeom>
          <a:solidFill>
            <a:srgbClr val="DDF3F3"/>
          </a:solidFill>
          <a:ln w="12700">
            <a:solidFill>
              <a:srgbClr val="DDF3F3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3243A"/>
                </a:solidFill>
              </a:rPr>
              <a:t>研究目标</a:t>
            </a:r>
          </a:p>
        </p:txBody>
      </p:sp>
      <p:sp>
        <p:nvSpPr>
          <p:cNvPr id="6" name="Axis 研究内容"/>
          <p:cNvSpPr/>
          <p:nvPr/>
        </p:nvSpPr>
        <p:spPr>
          <a:xfrm>
            <a:off x="477928" y="4848392"/>
            <a:ext cx="491845" cy="395875"/>
          </a:xfrm>
          <a:prstGeom prst="roundRect">
            <a:avLst/>
          </a:prstGeom>
          <a:solidFill>
            <a:srgbClr val="F9E3EB"/>
          </a:solidFill>
          <a:ln w="12700">
            <a:solidFill>
              <a:srgbClr val="F9E3EB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3243A"/>
                </a:solidFill>
              </a:rPr>
              <a:t>研究内容</a:t>
            </a:r>
          </a:p>
        </p:txBody>
      </p:sp>
      <p:sp>
        <p:nvSpPr>
          <p:cNvPr id="7" name="Axis 关键技术"/>
          <p:cNvSpPr/>
          <p:nvPr/>
        </p:nvSpPr>
        <p:spPr>
          <a:xfrm>
            <a:off x="477928" y="6119992"/>
            <a:ext cx="491845" cy="395875"/>
          </a:xfrm>
          <a:prstGeom prst="roundRect">
            <a:avLst/>
          </a:prstGeom>
          <a:solidFill>
            <a:srgbClr val="FFF1C9"/>
          </a:solidFill>
          <a:ln w="12700">
            <a:solidFill>
              <a:srgbClr val="FFF1C9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3243A"/>
                </a:solidFill>
              </a:rPr>
              <a:t>关键技术</a:t>
            </a:r>
          </a:p>
        </p:txBody>
      </p:sp>
      <p:sp>
        <p:nvSpPr>
          <p:cNvPr id="8" name="Axis 实验验证"/>
          <p:cNvSpPr/>
          <p:nvPr/>
        </p:nvSpPr>
        <p:spPr>
          <a:xfrm>
            <a:off x="477928" y="7391592"/>
            <a:ext cx="491845" cy="395875"/>
          </a:xfrm>
          <a:prstGeom prst="roundRect">
            <a:avLst/>
          </a:prstGeom>
          <a:solidFill>
            <a:srgbClr val="DDECF8"/>
          </a:solidFill>
          <a:ln w="12700">
            <a:solidFill>
              <a:srgbClr val="DDECF8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3243A"/>
                </a:solidFill>
              </a:rPr>
              <a:t>实验验证</a:t>
            </a:r>
          </a:p>
        </p:txBody>
      </p:sp>
      <p:sp>
        <p:nvSpPr>
          <p:cNvPr id="9" name="Axis 预期成果"/>
          <p:cNvSpPr/>
          <p:nvPr/>
        </p:nvSpPr>
        <p:spPr>
          <a:xfrm>
            <a:off x="477928" y="8663192"/>
            <a:ext cx="491845" cy="395875"/>
          </a:xfrm>
          <a:prstGeom prst="roundRect">
            <a:avLst/>
          </a:prstGeom>
          <a:solidFill>
            <a:srgbClr val="E7F5DA"/>
          </a:solidFill>
          <a:ln w="12700">
            <a:solidFill>
              <a:srgbClr val="E7F5DA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3243A"/>
                </a:solidFill>
              </a:rPr>
              <a:t>预期成果</a:t>
            </a:r>
          </a:p>
        </p:txBody>
      </p:sp>
      <p:sp>
        <p:nvSpPr>
          <p:cNvPr id="10" name="Stage 研究目标"/>
          <p:cNvSpPr/>
          <p:nvPr/>
        </p:nvSpPr>
        <p:spPr>
          <a:xfrm>
            <a:off x="1413633" y="3264890"/>
            <a:ext cx="4738509" cy="1019679"/>
          </a:xfrm>
          <a:prstGeom prst="roundRect">
            <a:avLst/>
          </a:prstGeom>
          <a:solidFill>
            <a:srgbClr val="DDF3F3"/>
          </a:solidFill>
          <a:ln w="12700">
            <a:solidFill>
              <a:srgbClr val="78B5C7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3243A"/>
                </a:solidFill>
              </a:rPr>
              <a:t/>
            </a:r>
          </a:p>
        </p:txBody>
      </p:sp>
      <p:sp>
        <p:nvSpPr>
          <p:cNvPr id="11" name="Header 研究目标"/>
          <p:cNvSpPr/>
          <p:nvPr/>
        </p:nvSpPr>
        <p:spPr>
          <a:xfrm>
            <a:off x="1633633" y="3144890"/>
            <a:ext cx="1611093" cy="260000"/>
          </a:xfrm>
          <a:prstGeom prst="roundRect">
            <a:avLst/>
          </a:prstGeom>
          <a:solidFill>
            <a:srgbClr val="64C7C8"/>
          </a:solidFill>
          <a:ln w="12700">
            <a:solidFill>
              <a:srgbClr val="64C7C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102033"/>
                </a:solidFill>
              </a:rPr>
              <a:t>研究目标</a:t>
            </a:r>
          </a:p>
        </p:txBody>
      </p:sp>
      <p:sp>
        <p:nvSpPr>
          <p:cNvPr id="12" name="Stage 研究内容"/>
          <p:cNvSpPr/>
          <p:nvPr/>
        </p:nvSpPr>
        <p:spPr>
          <a:xfrm>
            <a:off x="1413633" y="4536490"/>
            <a:ext cx="4738509" cy="1019679"/>
          </a:xfrm>
          <a:prstGeom prst="roundRect">
            <a:avLst/>
          </a:prstGeom>
          <a:solidFill>
            <a:srgbClr val="F9E3EB"/>
          </a:solidFill>
          <a:ln w="12700">
            <a:solidFill>
              <a:srgbClr val="78B5C7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3243A"/>
                </a:solidFill>
              </a:rPr>
              <a:t/>
            </a:r>
          </a:p>
        </p:txBody>
      </p:sp>
      <p:sp>
        <p:nvSpPr>
          <p:cNvPr id="13" name="Header 研究内容"/>
          <p:cNvSpPr/>
          <p:nvPr/>
        </p:nvSpPr>
        <p:spPr>
          <a:xfrm>
            <a:off x="1633633" y="4416490"/>
            <a:ext cx="1611093" cy="260000"/>
          </a:xfrm>
          <a:prstGeom prst="roundRect">
            <a:avLst/>
          </a:prstGeom>
          <a:solidFill>
            <a:srgbClr val="64C7C8"/>
          </a:solidFill>
          <a:ln w="12700">
            <a:solidFill>
              <a:srgbClr val="64C7C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102033"/>
                </a:solidFill>
              </a:rPr>
              <a:t>研究内容</a:t>
            </a:r>
          </a:p>
        </p:txBody>
      </p:sp>
      <p:sp>
        <p:nvSpPr>
          <p:cNvPr id="14" name="Stage 关键技术"/>
          <p:cNvSpPr/>
          <p:nvPr/>
        </p:nvSpPr>
        <p:spPr>
          <a:xfrm>
            <a:off x="1413633" y="5808090"/>
            <a:ext cx="4738509" cy="1019679"/>
          </a:xfrm>
          <a:prstGeom prst="roundRect">
            <a:avLst/>
          </a:prstGeom>
          <a:solidFill>
            <a:srgbClr val="FFF1C9"/>
          </a:solidFill>
          <a:ln w="12700">
            <a:solidFill>
              <a:srgbClr val="78B5C7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3243A"/>
                </a:solidFill>
              </a:rPr>
              <a:t/>
            </a:r>
          </a:p>
        </p:txBody>
      </p:sp>
      <p:sp>
        <p:nvSpPr>
          <p:cNvPr id="15" name="Header 关键技术"/>
          <p:cNvSpPr/>
          <p:nvPr/>
        </p:nvSpPr>
        <p:spPr>
          <a:xfrm>
            <a:off x="1633633" y="5688090"/>
            <a:ext cx="1611093" cy="260000"/>
          </a:xfrm>
          <a:prstGeom prst="roundRect">
            <a:avLst/>
          </a:prstGeom>
          <a:solidFill>
            <a:srgbClr val="64C7C8"/>
          </a:solidFill>
          <a:ln w="12700">
            <a:solidFill>
              <a:srgbClr val="64C7C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102033"/>
                </a:solidFill>
              </a:rPr>
              <a:t>关键技术</a:t>
            </a:r>
          </a:p>
        </p:txBody>
      </p:sp>
      <p:sp>
        <p:nvSpPr>
          <p:cNvPr id="16" name="Stage 实验验证"/>
          <p:cNvSpPr/>
          <p:nvPr/>
        </p:nvSpPr>
        <p:spPr>
          <a:xfrm>
            <a:off x="1413633" y="7079690"/>
            <a:ext cx="4738509" cy="1019679"/>
          </a:xfrm>
          <a:prstGeom prst="roundRect">
            <a:avLst/>
          </a:prstGeom>
          <a:solidFill>
            <a:srgbClr val="DDECF8"/>
          </a:solidFill>
          <a:ln w="12700">
            <a:solidFill>
              <a:srgbClr val="78B5C7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3243A"/>
                </a:solidFill>
              </a:rPr>
              <a:t/>
            </a:r>
          </a:p>
        </p:txBody>
      </p:sp>
      <p:sp>
        <p:nvSpPr>
          <p:cNvPr id="17" name="Header 实验验证"/>
          <p:cNvSpPr/>
          <p:nvPr/>
        </p:nvSpPr>
        <p:spPr>
          <a:xfrm>
            <a:off x="1633633" y="6959690"/>
            <a:ext cx="1611093" cy="260000"/>
          </a:xfrm>
          <a:prstGeom prst="roundRect">
            <a:avLst/>
          </a:prstGeom>
          <a:solidFill>
            <a:srgbClr val="64C7C8"/>
          </a:solidFill>
          <a:ln w="12700">
            <a:solidFill>
              <a:srgbClr val="64C7C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102033"/>
                </a:solidFill>
              </a:rPr>
              <a:t>实验验证</a:t>
            </a:r>
          </a:p>
        </p:txBody>
      </p:sp>
      <p:sp>
        <p:nvSpPr>
          <p:cNvPr id="18" name="Stage 预期成果"/>
          <p:cNvSpPr/>
          <p:nvPr/>
        </p:nvSpPr>
        <p:spPr>
          <a:xfrm>
            <a:off x="1413633" y="8351290"/>
            <a:ext cx="4738509" cy="1019679"/>
          </a:xfrm>
          <a:prstGeom prst="roundRect">
            <a:avLst/>
          </a:prstGeom>
          <a:solidFill>
            <a:srgbClr val="E7F5DA"/>
          </a:solidFill>
          <a:ln w="12700">
            <a:solidFill>
              <a:srgbClr val="78B5C7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3243A"/>
                </a:solidFill>
              </a:rPr>
              <a:t/>
            </a:r>
          </a:p>
        </p:txBody>
      </p:sp>
      <p:sp>
        <p:nvSpPr>
          <p:cNvPr id="19" name="Header 预期成果"/>
          <p:cNvSpPr/>
          <p:nvPr/>
        </p:nvSpPr>
        <p:spPr>
          <a:xfrm>
            <a:off x="1633633" y="8231290"/>
            <a:ext cx="1611093" cy="260000"/>
          </a:xfrm>
          <a:prstGeom prst="roundRect">
            <a:avLst/>
          </a:prstGeom>
          <a:solidFill>
            <a:srgbClr val="64C7C8"/>
          </a:solidFill>
          <a:ln w="12700">
            <a:solidFill>
              <a:srgbClr val="64C7C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102033"/>
                </a:solidFill>
              </a:rPr>
              <a:t>预期成果</a:t>
            </a:r>
          </a:p>
        </p:txBody>
      </p:sp>
      <p:cxnSp>
        <p:nvCxnSpPr>
          <p:cNvPr id="20" name="Connector 20"/>
          <p:cNvCxnSpPr/>
          <p:nvPr/>
        </p:nvCxnSpPr>
        <p:spPr>
          <a:xfrm>
            <a:off x="2676236" y="3876698"/>
            <a:ext cx="2213303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2307352" y="3876698"/>
            <a:ext cx="2582187" cy="1271600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2307352" y="5148298"/>
            <a:ext cx="1475535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3782888" y="5148298"/>
            <a:ext cx="1475535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2307352" y="5148298"/>
            <a:ext cx="2951071" cy="1271600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2307352" y="6419898"/>
            <a:ext cx="1475535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6" name="Connector 26"/>
          <p:cNvCxnSpPr/>
          <p:nvPr/>
        </p:nvCxnSpPr>
        <p:spPr>
          <a:xfrm>
            <a:off x="3782888" y="6419898"/>
            <a:ext cx="1475535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7" name="Connector 27"/>
          <p:cNvCxnSpPr/>
          <p:nvPr/>
        </p:nvCxnSpPr>
        <p:spPr>
          <a:xfrm flipH="1">
            <a:off x="2307352" y="6419898"/>
            <a:ext cx="2951071" cy="1271600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8" name="Connector 28"/>
          <p:cNvCxnSpPr/>
          <p:nvPr/>
        </p:nvCxnSpPr>
        <p:spPr>
          <a:xfrm>
            <a:off x="2307352" y="7691498"/>
            <a:ext cx="1475535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29" name="Connector 29"/>
          <p:cNvCxnSpPr/>
          <p:nvPr/>
        </p:nvCxnSpPr>
        <p:spPr>
          <a:xfrm>
            <a:off x="3782888" y="7691498"/>
            <a:ext cx="1475535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30" name="Connector 30"/>
          <p:cNvCxnSpPr/>
          <p:nvPr/>
        </p:nvCxnSpPr>
        <p:spPr>
          <a:xfrm flipH="1">
            <a:off x="2676236" y="7691498"/>
            <a:ext cx="2582187" cy="1271600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cxnSp>
        <p:nvCxnSpPr>
          <p:cNvPr id="31" name="Connector 31"/>
          <p:cNvCxnSpPr/>
          <p:nvPr/>
        </p:nvCxnSpPr>
        <p:spPr>
          <a:xfrm>
            <a:off x="2676236" y="8963098"/>
            <a:ext cx="2213303" cy="1"/>
          </a:xfrm>
          <a:prstGeom prst="line">
            <a:avLst/>
          </a:prstGeom>
          <a:ln w="19050">
            <a:solidFill>
              <a:srgbClr val="4C8CBF"/>
            </a:solidFill>
            <a:headEnd type="triangle"/>
          </a:ln>
        </p:spPr>
      </p:cxnSp>
      <p:sp>
        <p:nvSpPr>
          <p:cNvPr id="32" name="Node objective_problem"/>
          <p:cNvSpPr/>
          <p:nvPr/>
        </p:nvSpPr>
        <p:spPr>
          <a:xfrm>
            <a:off x="1623567" y="36847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降低表面污染</a:t>
            </a:r>
          </a:p>
        </p:txBody>
      </p:sp>
      <p:sp>
        <p:nvSpPr>
          <p:cNvPr id="33" name="Node objective_value"/>
          <p:cNvSpPr/>
          <p:nvPr/>
        </p:nvSpPr>
        <p:spPr>
          <a:xfrm>
            <a:off x="3836871" y="36847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保护透光效率</a:t>
            </a:r>
          </a:p>
        </p:txBody>
      </p:sp>
      <p:sp>
        <p:nvSpPr>
          <p:cNvPr id="34" name="Node content_material"/>
          <p:cNvSpPr/>
          <p:nvPr/>
        </p:nvSpPr>
        <p:spPr>
          <a:xfrm>
            <a:off x="1623567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筛选涂层体系</a:t>
            </a:r>
          </a:p>
        </p:txBody>
      </p:sp>
      <p:sp>
        <p:nvSpPr>
          <p:cNvPr id="35" name="Node content_texture"/>
          <p:cNvSpPr/>
          <p:nvPr/>
        </p:nvSpPr>
        <p:spPr>
          <a:xfrm>
            <a:off x="3099103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构筑微纳结构</a:t>
            </a:r>
          </a:p>
        </p:txBody>
      </p:sp>
      <p:sp>
        <p:nvSpPr>
          <p:cNvPr id="36" name="Node content_process"/>
          <p:cNvSpPr/>
          <p:nvPr/>
        </p:nvSpPr>
        <p:spPr>
          <a:xfrm>
            <a:off x="4574639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设计制备工艺</a:t>
            </a:r>
          </a:p>
        </p:txBody>
      </p:sp>
      <p:sp>
        <p:nvSpPr>
          <p:cNvPr id="37" name="Node technology_wetting"/>
          <p:cNvSpPr/>
          <p:nvPr/>
        </p:nvSpPr>
        <p:spPr>
          <a:xfrm>
            <a:off x="1623567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调控润湿行为</a:t>
            </a:r>
          </a:p>
        </p:txBody>
      </p:sp>
      <p:sp>
        <p:nvSpPr>
          <p:cNvPr id="38" name="Node technology_durability"/>
          <p:cNvSpPr/>
          <p:nvPr/>
        </p:nvSpPr>
        <p:spPr>
          <a:xfrm>
            <a:off x="3099103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提升服役耐久性</a:t>
            </a:r>
          </a:p>
        </p:txBody>
      </p:sp>
      <p:sp>
        <p:nvSpPr>
          <p:cNvPr id="39" name="Node technology_transparency"/>
          <p:cNvSpPr/>
          <p:nvPr/>
        </p:nvSpPr>
        <p:spPr>
          <a:xfrm>
            <a:off x="4574639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保持高透光率</a:t>
            </a:r>
          </a:p>
        </p:txBody>
      </p:sp>
      <p:sp>
        <p:nvSpPr>
          <p:cNvPr id="40" name="Node validation_surface"/>
          <p:cNvSpPr/>
          <p:nvPr/>
        </p:nvSpPr>
        <p:spPr>
          <a:xfrm>
            <a:off x="1623567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表征表面结构</a:t>
            </a:r>
          </a:p>
        </p:txBody>
      </p:sp>
      <p:sp>
        <p:nvSpPr>
          <p:cNvPr id="41" name="Node validation_cleaning"/>
          <p:cNvSpPr/>
          <p:nvPr/>
        </p:nvSpPr>
        <p:spPr>
          <a:xfrm>
            <a:off x="3099103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测试自清洁功能</a:t>
            </a:r>
          </a:p>
        </p:txBody>
      </p:sp>
      <p:sp>
        <p:nvSpPr>
          <p:cNvPr id="42" name="Node validation_power"/>
          <p:cNvSpPr/>
          <p:nvPr/>
        </p:nvSpPr>
        <p:spPr>
          <a:xfrm>
            <a:off x="4574639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测量发电影响</a:t>
            </a:r>
          </a:p>
        </p:txBody>
      </p:sp>
      <p:sp>
        <p:nvSpPr>
          <p:cNvPr id="43" name="Node outcome_route"/>
          <p:cNvSpPr/>
          <p:nvPr/>
        </p:nvSpPr>
        <p:spPr>
          <a:xfrm>
            <a:off x="1623567" y="87711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形成技术路线</a:t>
            </a:r>
          </a:p>
        </p:txBody>
      </p:sp>
      <p:sp>
        <p:nvSpPr>
          <p:cNvPr id="44" name="Node outcome_thesis"/>
          <p:cNvSpPr/>
          <p:nvPr/>
        </p:nvSpPr>
        <p:spPr>
          <a:xfrm>
            <a:off x="3836871" y="87711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3243A"/>
                </a:solidFill>
              </a:rPr>
              <a:t>支撑论文写作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