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12192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670000" y="2351200"/>
            <a:ext cx="5518000" cy="500000"/>
          </a:xfrm>
          <a:prstGeom prst="roundRect">
            <a:avLst/>
          </a:prstGeom>
          <a:solidFill>
            <a:srgbClr val="E7F0F7"/>
          </a:solidFill>
          <a:ln w="12700">
            <a:solidFill>
              <a:srgbClr val="AEBECC"/>
            </a:solidFill>
          </a:ln>
        </p:spPr>
        <p:txBody>
          <a:bodyPr wrap="square" anchor="ctr"/>
          <a:lstStyle/>
          <a:p>
            <a:pPr algn="ctr"/>
            <a:r>
              <a:rPr lang="zh-CN" sz="2100" b="1">
                <a:solidFill>
                  <a:srgbClr val="172033"/>
                </a:solidFill>
              </a:rPr>
              <a:t>HGDY光催化降解木质素技术路线图</a:t>
            </a:r>
          </a:p>
        </p:txBody>
      </p:sp>
      <p:sp>
        <p:nvSpPr>
          <p:cNvPr id="3" name="Subtitle"/>
          <p:cNvSpPr/>
          <p:nvPr/>
        </p:nvSpPr>
        <p:spPr>
          <a:xfrm>
            <a:off x="670000" y="2841200"/>
            <a:ext cx="5518000" cy="2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zh-CN" sz="850">
                <a:solidFill>
                  <a:srgbClr val="59636A"/>
                </a:solidFill>
              </a:rPr>
              <a:t>Draw.io复制代码示例：从技术路线图参考图生成可编辑Draw.io XML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825818" y="3324871"/>
            <a:ext cx="1" cy="5986116"/>
          </a:xfrm>
          <a:prstGeom prst="line">
            <a:avLst/>
          </a:prstGeom>
          <a:ln w="19050">
            <a:solidFill>
              <a:srgbClr val="4E7FB0"/>
            </a:solidFill>
          </a:ln>
        </p:spPr>
      </p:cxnSp>
      <p:sp>
        <p:nvSpPr>
          <p:cNvPr id="5" name="Axis 项目立项"/>
          <p:cNvSpPr/>
          <p:nvPr/>
        </p:nvSpPr>
        <p:spPr>
          <a:xfrm>
            <a:off x="477928" y="3576792"/>
            <a:ext cx="491845" cy="395875"/>
          </a:xfrm>
          <a:prstGeom prst="roundRect">
            <a:avLst/>
          </a:prstGeom>
          <a:solidFill>
            <a:srgbClr val="E7F0F7"/>
          </a:solidFill>
          <a:ln w="12700">
            <a:solidFill>
              <a:srgbClr val="E7F0F7"/>
            </a:solidFill>
          </a:ln>
        </p:spPr>
        <p:txBody>
          <a:bodyPr wrap="square" anchor="ctr"/>
          <a:lstStyle/>
          <a:p>
            <a:pPr algn="ctr"/>
            <a:r>
              <a:rPr lang="zh-CN" sz="900" b="1">
                <a:solidFill>
                  <a:srgbClr val="172033"/>
                </a:solidFill>
              </a:rPr>
              <a:t>项目立项</a:t>
            </a:r>
          </a:p>
        </p:txBody>
      </p:sp>
      <p:sp>
        <p:nvSpPr>
          <p:cNvPr id="6" name="Axis 材料制备"/>
          <p:cNvSpPr/>
          <p:nvPr/>
        </p:nvSpPr>
        <p:spPr>
          <a:xfrm>
            <a:off x="477928" y="4848392"/>
            <a:ext cx="491845" cy="395875"/>
          </a:xfrm>
          <a:prstGeom prst="roundRect">
            <a:avLst/>
          </a:prstGeom>
          <a:solidFill>
            <a:srgbClr val="F5E5E2"/>
          </a:solidFill>
          <a:ln w="12700">
            <a:solidFill>
              <a:srgbClr val="F5E5E2"/>
            </a:solidFill>
          </a:ln>
        </p:spPr>
        <p:txBody>
          <a:bodyPr wrap="square" anchor="ctr"/>
          <a:lstStyle/>
          <a:p>
            <a:pPr algn="ctr"/>
            <a:r>
              <a:rPr lang="zh-CN" sz="900" b="1">
                <a:solidFill>
                  <a:srgbClr val="172033"/>
                </a:solidFill>
              </a:rPr>
              <a:t>材料制备</a:t>
            </a:r>
          </a:p>
        </p:txBody>
      </p:sp>
      <p:sp>
        <p:nvSpPr>
          <p:cNvPr id="7" name="Axis 性能表征"/>
          <p:cNvSpPr/>
          <p:nvPr/>
        </p:nvSpPr>
        <p:spPr>
          <a:xfrm>
            <a:off x="477928" y="6119992"/>
            <a:ext cx="491845" cy="395875"/>
          </a:xfrm>
          <a:prstGeom prst="roundRect">
            <a:avLst/>
          </a:prstGeom>
          <a:solidFill>
            <a:srgbClr val="F7F1D8"/>
          </a:solidFill>
          <a:ln w="12700">
            <a:solidFill>
              <a:srgbClr val="F7F1D8"/>
            </a:solidFill>
          </a:ln>
        </p:spPr>
        <p:txBody>
          <a:bodyPr wrap="square" anchor="ctr"/>
          <a:lstStyle/>
          <a:p>
            <a:pPr algn="ctr"/>
            <a:r>
              <a:rPr lang="zh-CN" sz="900" b="1">
                <a:solidFill>
                  <a:srgbClr val="172033"/>
                </a:solidFill>
              </a:rPr>
              <a:t>性能表征</a:t>
            </a:r>
          </a:p>
        </p:txBody>
      </p:sp>
      <p:sp>
        <p:nvSpPr>
          <p:cNvPr id="8" name="Axis 实验机理"/>
          <p:cNvSpPr/>
          <p:nvPr/>
        </p:nvSpPr>
        <p:spPr>
          <a:xfrm>
            <a:off x="477928" y="7391592"/>
            <a:ext cx="491845" cy="395875"/>
          </a:xfrm>
          <a:prstGeom prst="roundRect">
            <a:avLst/>
          </a:prstGeom>
          <a:solidFill>
            <a:srgbClr val="E6F2DF"/>
          </a:solidFill>
          <a:ln w="12700">
            <a:solidFill>
              <a:srgbClr val="E6F2DF"/>
            </a:solidFill>
          </a:ln>
        </p:spPr>
        <p:txBody>
          <a:bodyPr wrap="square" anchor="ctr"/>
          <a:lstStyle/>
          <a:p>
            <a:pPr algn="ctr"/>
            <a:r>
              <a:rPr lang="zh-CN" sz="900" b="1">
                <a:solidFill>
                  <a:srgbClr val="172033"/>
                </a:solidFill>
              </a:rPr>
              <a:t>实验机理</a:t>
            </a:r>
          </a:p>
        </p:txBody>
      </p:sp>
      <p:sp>
        <p:nvSpPr>
          <p:cNvPr id="9" name="Axis 优化应用"/>
          <p:cNvSpPr/>
          <p:nvPr/>
        </p:nvSpPr>
        <p:spPr>
          <a:xfrm>
            <a:off x="477928" y="8663192"/>
            <a:ext cx="491845" cy="395875"/>
          </a:xfrm>
          <a:prstGeom prst="roundRect">
            <a:avLst/>
          </a:prstGeom>
          <a:solidFill>
            <a:srgbClr val="EAE7F4"/>
          </a:solidFill>
          <a:ln w="12700">
            <a:solidFill>
              <a:srgbClr val="EAE7F4"/>
            </a:solidFill>
          </a:ln>
        </p:spPr>
        <p:txBody>
          <a:bodyPr wrap="square" anchor="ctr"/>
          <a:lstStyle/>
          <a:p>
            <a:pPr algn="ctr"/>
            <a:r>
              <a:rPr lang="zh-CN" sz="900" b="1">
                <a:solidFill>
                  <a:srgbClr val="172033"/>
                </a:solidFill>
              </a:rPr>
              <a:t>优化应用</a:t>
            </a:r>
          </a:p>
        </p:txBody>
      </p:sp>
      <p:sp>
        <p:nvSpPr>
          <p:cNvPr id="10" name="Stage 项目立项"/>
          <p:cNvSpPr/>
          <p:nvPr/>
        </p:nvSpPr>
        <p:spPr>
          <a:xfrm>
            <a:off x="1413633" y="3264890"/>
            <a:ext cx="4738509" cy="1019679"/>
          </a:xfrm>
          <a:prstGeom prst="roundRect">
            <a:avLst/>
          </a:prstGeom>
          <a:solidFill>
            <a:srgbClr val="E7F0F7"/>
          </a:solidFill>
          <a:ln w="12700">
            <a:solidFill>
              <a:srgbClr val="AEBECC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72033"/>
                </a:solidFill>
              </a:rPr>
              <a:t/>
            </a:r>
          </a:p>
        </p:txBody>
      </p:sp>
      <p:sp>
        <p:nvSpPr>
          <p:cNvPr id="11" name="Header 项目立项"/>
          <p:cNvSpPr/>
          <p:nvPr/>
        </p:nvSpPr>
        <p:spPr>
          <a:xfrm>
            <a:off x="1633633" y="3144890"/>
            <a:ext cx="1611093" cy="260000"/>
          </a:xfrm>
          <a:prstGeom prst="roundRect">
            <a:avLst/>
          </a:prstGeom>
          <a:solidFill>
            <a:srgbClr val="4E7FB0"/>
          </a:solidFill>
          <a:ln w="12700">
            <a:solidFill>
              <a:srgbClr val="4E7FB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项目立项</a:t>
            </a:r>
          </a:p>
        </p:txBody>
      </p:sp>
      <p:sp>
        <p:nvSpPr>
          <p:cNvPr id="12" name="Stage 材料制备"/>
          <p:cNvSpPr/>
          <p:nvPr/>
        </p:nvSpPr>
        <p:spPr>
          <a:xfrm>
            <a:off x="1413633" y="4536490"/>
            <a:ext cx="4738509" cy="1019679"/>
          </a:xfrm>
          <a:prstGeom prst="roundRect">
            <a:avLst/>
          </a:prstGeom>
          <a:solidFill>
            <a:srgbClr val="F5E5E2"/>
          </a:solidFill>
          <a:ln w="12700">
            <a:solidFill>
              <a:srgbClr val="AEBECC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72033"/>
                </a:solidFill>
              </a:rPr>
              <a:t/>
            </a:r>
          </a:p>
        </p:txBody>
      </p:sp>
      <p:sp>
        <p:nvSpPr>
          <p:cNvPr id="13" name="Header 材料制备"/>
          <p:cNvSpPr/>
          <p:nvPr/>
        </p:nvSpPr>
        <p:spPr>
          <a:xfrm>
            <a:off x="1633633" y="4416490"/>
            <a:ext cx="1611093" cy="260000"/>
          </a:xfrm>
          <a:prstGeom prst="roundRect">
            <a:avLst/>
          </a:prstGeom>
          <a:solidFill>
            <a:srgbClr val="4E7FB0"/>
          </a:solidFill>
          <a:ln w="12700">
            <a:solidFill>
              <a:srgbClr val="4E7FB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材料制备</a:t>
            </a:r>
          </a:p>
        </p:txBody>
      </p:sp>
      <p:sp>
        <p:nvSpPr>
          <p:cNvPr id="14" name="Stage 性能表征"/>
          <p:cNvSpPr/>
          <p:nvPr/>
        </p:nvSpPr>
        <p:spPr>
          <a:xfrm>
            <a:off x="1413633" y="5808090"/>
            <a:ext cx="4738509" cy="1019679"/>
          </a:xfrm>
          <a:prstGeom prst="roundRect">
            <a:avLst/>
          </a:prstGeom>
          <a:solidFill>
            <a:srgbClr val="F7F1D8"/>
          </a:solidFill>
          <a:ln w="12700">
            <a:solidFill>
              <a:srgbClr val="AEBECC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72033"/>
                </a:solidFill>
              </a:rPr>
              <a:t/>
            </a:r>
          </a:p>
        </p:txBody>
      </p:sp>
      <p:sp>
        <p:nvSpPr>
          <p:cNvPr id="15" name="Header 性能表征"/>
          <p:cNvSpPr/>
          <p:nvPr/>
        </p:nvSpPr>
        <p:spPr>
          <a:xfrm>
            <a:off x="1633633" y="5688090"/>
            <a:ext cx="1611093" cy="260000"/>
          </a:xfrm>
          <a:prstGeom prst="roundRect">
            <a:avLst/>
          </a:prstGeom>
          <a:solidFill>
            <a:srgbClr val="4E7FB0"/>
          </a:solidFill>
          <a:ln w="12700">
            <a:solidFill>
              <a:srgbClr val="4E7FB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性能表征</a:t>
            </a:r>
          </a:p>
        </p:txBody>
      </p:sp>
      <p:sp>
        <p:nvSpPr>
          <p:cNvPr id="16" name="Stage 实验机理"/>
          <p:cNvSpPr/>
          <p:nvPr/>
        </p:nvSpPr>
        <p:spPr>
          <a:xfrm>
            <a:off x="1413633" y="7079690"/>
            <a:ext cx="4738509" cy="1019679"/>
          </a:xfrm>
          <a:prstGeom prst="roundRect">
            <a:avLst/>
          </a:prstGeom>
          <a:solidFill>
            <a:srgbClr val="E6F2DF"/>
          </a:solidFill>
          <a:ln w="12700">
            <a:solidFill>
              <a:srgbClr val="AEBECC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72033"/>
                </a:solidFill>
              </a:rPr>
              <a:t/>
            </a:r>
          </a:p>
        </p:txBody>
      </p:sp>
      <p:sp>
        <p:nvSpPr>
          <p:cNvPr id="17" name="Header 实验机理"/>
          <p:cNvSpPr/>
          <p:nvPr/>
        </p:nvSpPr>
        <p:spPr>
          <a:xfrm>
            <a:off x="1633633" y="6959690"/>
            <a:ext cx="1611093" cy="260000"/>
          </a:xfrm>
          <a:prstGeom prst="roundRect">
            <a:avLst/>
          </a:prstGeom>
          <a:solidFill>
            <a:srgbClr val="4E7FB0"/>
          </a:solidFill>
          <a:ln w="12700">
            <a:solidFill>
              <a:srgbClr val="4E7FB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实验机理</a:t>
            </a:r>
          </a:p>
        </p:txBody>
      </p:sp>
      <p:sp>
        <p:nvSpPr>
          <p:cNvPr id="18" name="Stage 优化应用"/>
          <p:cNvSpPr/>
          <p:nvPr/>
        </p:nvSpPr>
        <p:spPr>
          <a:xfrm>
            <a:off x="1413633" y="8351290"/>
            <a:ext cx="4738509" cy="1019679"/>
          </a:xfrm>
          <a:prstGeom prst="roundRect">
            <a:avLst/>
          </a:prstGeom>
          <a:solidFill>
            <a:srgbClr val="EAE7F4"/>
          </a:solidFill>
          <a:ln w="12700">
            <a:solidFill>
              <a:srgbClr val="AEBECC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72033"/>
                </a:solidFill>
              </a:rPr>
              <a:t/>
            </a:r>
          </a:p>
        </p:txBody>
      </p:sp>
      <p:sp>
        <p:nvSpPr>
          <p:cNvPr id="19" name="Header 优化应用"/>
          <p:cNvSpPr/>
          <p:nvPr/>
        </p:nvSpPr>
        <p:spPr>
          <a:xfrm>
            <a:off x="1633633" y="8231290"/>
            <a:ext cx="1611093" cy="260000"/>
          </a:xfrm>
          <a:prstGeom prst="roundRect">
            <a:avLst/>
          </a:prstGeom>
          <a:solidFill>
            <a:srgbClr val="4E7FB0"/>
          </a:solidFill>
          <a:ln w="12700">
            <a:solidFill>
              <a:srgbClr val="4E7FB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优化应用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3782888" y="4284569"/>
            <a:ext cx="1" cy="251920"/>
          </a:xfrm>
          <a:prstGeom prst="line">
            <a:avLst/>
          </a:prstGeom>
          <a:ln w="19050">
            <a:solidFill>
              <a:srgbClr val="315C88"/>
            </a:solidFill>
            <a:headEnd type="triangle"/>
          </a:ln>
        </p:spPr>
      </p:cxnSp>
      <p:cxnSp>
        <p:nvCxnSpPr>
          <p:cNvPr id="21" name="Connector 21"/>
          <p:cNvCxnSpPr/>
          <p:nvPr/>
        </p:nvCxnSpPr>
        <p:spPr>
          <a:xfrm>
            <a:off x="3782888" y="5556169"/>
            <a:ext cx="1" cy="251920"/>
          </a:xfrm>
          <a:prstGeom prst="line">
            <a:avLst/>
          </a:prstGeom>
          <a:ln w="19050">
            <a:solidFill>
              <a:srgbClr val="315C88"/>
            </a:solidFill>
            <a:head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3782888" y="6827769"/>
            <a:ext cx="1" cy="251920"/>
          </a:xfrm>
          <a:prstGeom prst="line">
            <a:avLst/>
          </a:prstGeom>
          <a:ln w="19050">
            <a:solidFill>
              <a:srgbClr val="315C88"/>
            </a:solidFill>
            <a:headEnd type="triangle"/>
          </a:ln>
        </p:spPr>
      </p:cxnSp>
      <p:cxnSp>
        <p:nvCxnSpPr>
          <p:cNvPr id="23" name="Connector 23"/>
          <p:cNvCxnSpPr/>
          <p:nvPr/>
        </p:nvCxnSpPr>
        <p:spPr>
          <a:xfrm>
            <a:off x="3782888" y="8099369"/>
            <a:ext cx="1" cy="251920"/>
          </a:xfrm>
          <a:prstGeom prst="line">
            <a:avLst/>
          </a:prstGeom>
          <a:ln w="19050">
            <a:solidFill>
              <a:srgbClr val="315C88"/>
            </a:solidFill>
            <a:headEnd type="triangle"/>
          </a:ln>
        </p:spPr>
      </p:cxnSp>
      <p:sp>
        <p:nvSpPr>
          <p:cNvPr id="24" name="Node proposal_value"/>
          <p:cNvSpPr/>
          <p:nvPr/>
        </p:nvSpPr>
        <p:spPr>
          <a:xfrm>
            <a:off x="1623567" y="36847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棉秆木质素高值化利用</a:t>
            </a:r>
          </a:p>
        </p:txBody>
      </p:sp>
      <p:sp>
        <p:nvSpPr>
          <p:cNvPr id="25" name="Node proposal_cc"/>
          <p:cNvSpPr/>
          <p:nvPr/>
        </p:nvSpPr>
        <p:spPr>
          <a:xfrm>
            <a:off x="3099103" y="36847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突破C-C键断裂限制</a:t>
            </a:r>
          </a:p>
        </p:txBody>
      </p:sp>
      <p:sp>
        <p:nvSpPr>
          <p:cNvPr id="26" name="Node proposal_hgdy"/>
          <p:cNvSpPr/>
          <p:nvPr/>
        </p:nvSpPr>
        <p:spPr>
          <a:xfrm>
            <a:off x="4574639" y="36847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构建HGDY催化体系</a:t>
            </a:r>
          </a:p>
        </p:txBody>
      </p:sp>
      <p:sp>
        <p:nvSpPr>
          <p:cNvPr id="27" name="Node material_synthesis"/>
          <p:cNvSpPr/>
          <p:nvPr/>
        </p:nvSpPr>
        <p:spPr>
          <a:xfrm>
            <a:off x="1623567" y="4956358"/>
            <a:ext cx="2105337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HGDY单体可控合成</a:t>
            </a:r>
          </a:p>
        </p:txBody>
      </p:sp>
      <p:sp>
        <p:nvSpPr>
          <p:cNvPr id="28" name="Node material_tuning"/>
          <p:cNvSpPr/>
          <p:nvPr/>
        </p:nvSpPr>
        <p:spPr>
          <a:xfrm>
            <a:off x="3836871" y="4956358"/>
            <a:ext cx="2105337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带隙和形貌精准调控</a:t>
            </a:r>
          </a:p>
        </p:txBody>
      </p:sp>
      <p:sp>
        <p:nvSpPr>
          <p:cNvPr id="29" name="Node characterization_phase"/>
          <p:cNvSpPr/>
          <p:nvPr/>
        </p:nvSpPr>
        <p:spPr>
          <a:xfrm>
            <a:off x="1623567" y="62279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物相与化学结构表征</a:t>
            </a:r>
          </a:p>
        </p:txBody>
      </p:sp>
      <p:sp>
        <p:nvSpPr>
          <p:cNvPr id="30" name="Node characterization_micro"/>
          <p:cNvSpPr/>
          <p:nvPr/>
        </p:nvSpPr>
        <p:spPr>
          <a:xfrm>
            <a:off x="3099103" y="62279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形貌与元素分布</a:t>
            </a:r>
          </a:p>
        </p:txBody>
      </p:sp>
      <p:sp>
        <p:nvSpPr>
          <p:cNvPr id="31" name="Node characterization_photo"/>
          <p:cNvSpPr/>
          <p:nvPr/>
        </p:nvSpPr>
        <p:spPr>
          <a:xfrm>
            <a:off x="4574639" y="62279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光电性能与能带结构</a:t>
            </a:r>
          </a:p>
        </p:txBody>
      </p:sp>
      <p:sp>
        <p:nvSpPr>
          <p:cNvPr id="32" name="Node mechanism_activity"/>
          <p:cNvSpPr/>
          <p:nvPr/>
        </p:nvSpPr>
        <p:spPr>
          <a:xfrm>
            <a:off x="1623567" y="74995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降解性能与转化率评价</a:t>
            </a:r>
          </a:p>
        </p:txBody>
      </p:sp>
      <p:sp>
        <p:nvSpPr>
          <p:cNvPr id="33" name="Node mechanism_hplc"/>
          <p:cNvSpPr/>
          <p:nvPr/>
        </p:nvSpPr>
        <p:spPr>
          <a:xfrm>
            <a:off x="3099103" y="74995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HPLC路径推测</a:t>
            </a:r>
          </a:p>
        </p:txBody>
      </p:sp>
      <p:sp>
        <p:nvSpPr>
          <p:cNvPr id="34" name="Node mechanism_radical"/>
          <p:cNvSpPr/>
          <p:nvPr/>
        </p:nvSpPr>
        <p:spPr>
          <a:xfrm>
            <a:off x="4574639" y="74995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自由基与载流子验证</a:t>
            </a:r>
          </a:p>
        </p:txBody>
      </p:sp>
      <p:sp>
        <p:nvSpPr>
          <p:cNvPr id="35" name="Node application_conversion"/>
          <p:cNvSpPr/>
          <p:nvPr/>
        </p:nvSpPr>
        <p:spPr>
          <a:xfrm>
            <a:off x="1623567" y="87711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优化转化率条件</a:t>
            </a:r>
          </a:p>
        </p:txBody>
      </p:sp>
      <p:sp>
        <p:nvSpPr>
          <p:cNvPr id="36" name="Node application_stability"/>
          <p:cNvSpPr/>
          <p:nvPr/>
        </p:nvSpPr>
        <p:spPr>
          <a:xfrm>
            <a:off x="3099103" y="87711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循环稳定性监测</a:t>
            </a:r>
          </a:p>
        </p:txBody>
      </p:sp>
      <p:sp>
        <p:nvSpPr>
          <p:cNvPr id="37" name="Node application_value"/>
          <p:cNvSpPr/>
          <p:nvPr/>
        </p:nvSpPr>
        <p:spPr>
          <a:xfrm>
            <a:off x="4574639" y="87711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应用潜力与推广评价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