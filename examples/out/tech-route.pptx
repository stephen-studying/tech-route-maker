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2316910" y="330000"/>
            <a:ext cx="7558178" cy="50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1F2937"/>
                </a:solidFill>
              </a:rPr>
              <a:t>PV Surface Defect Detection Method</a:t>
            </a:r>
          </a:p>
          <a:p>
            <a:pPr algn="ctr"/>
            <a:r>
              <a:rPr lang="zh-CN" sz="2100" b="1">
                <a:solidFill>
                  <a:srgbClr val="1F2937"/>
                </a:solidFill>
              </a:rPr>
              <a:t>Route</a:t>
            </a:r>
          </a:p>
        </p:txBody>
      </p:sp>
      <p:sp>
        <p:nvSpPr>
          <p:cNvPr id="3" name="Subtitle"/>
          <p:cNvSpPr/>
          <p:nvPr/>
        </p:nvSpPr>
        <p:spPr>
          <a:xfrm>
            <a:off x="2316910" y="820000"/>
            <a:ext cx="7558178" cy="2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64748B"/>
                </a:solidFill>
              </a:rPr>
              <a:t>Academic method framework demo generated by</a:t>
            </a:r>
          </a:p>
          <a:p>
            <a:pPr algn="ctr"/>
            <a:r>
              <a:rPr lang="zh-CN" sz="850">
                <a:solidFill>
                  <a:srgbClr val="64748B"/>
                </a:solidFill>
              </a:rPr>
              <a:t>tech-route-maker</a:t>
            </a:r>
          </a:p>
        </p:txBody>
      </p:sp>
      <p:sp>
        <p:nvSpPr>
          <p:cNvPr id="4" name="Stage Research Goal"/>
          <p:cNvSpPr/>
          <p:nvPr/>
        </p:nvSpPr>
        <p:spPr>
          <a:xfrm>
            <a:off x="3392836" y="1217917"/>
            <a:ext cx="6429855" cy="86606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F2937"/>
                </a:solidFill>
              </a:rPr>
              <a:t/>
            </a:r>
          </a:p>
        </p:txBody>
      </p:sp>
      <p:sp>
        <p:nvSpPr>
          <p:cNvPr id="5" name="Label Research Goal"/>
          <p:cNvSpPr/>
          <p:nvPr/>
        </p:nvSpPr>
        <p:spPr>
          <a:xfrm>
            <a:off x="2303697" y="1467238"/>
            <a:ext cx="839817" cy="3674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Research Goal</a:t>
            </a:r>
          </a:p>
        </p:txBody>
      </p:sp>
      <p:sp>
        <p:nvSpPr>
          <p:cNvPr id="6" name="Stage Data Evidence"/>
          <p:cNvSpPr/>
          <p:nvPr/>
        </p:nvSpPr>
        <p:spPr>
          <a:xfrm>
            <a:off x="3392836" y="2241445"/>
            <a:ext cx="6429855" cy="86606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3C5FD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F2937"/>
                </a:solidFill>
              </a:rPr>
              <a:t/>
            </a:r>
          </a:p>
        </p:txBody>
      </p:sp>
      <p:sp>
        <p:nvSpPr>
          <p:cNvPr id="7" name="Label Data Evidence"/>
          <p:cNvSpPr/>
          <p:nvPr/>
        </p:nvSpPr>
        <p:spPr>
          <a:xfrm>
            <a:off x="2303697" y="2490766"/>
            <a:ext cx="839817" cy="3674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Data Evidence</a:t>
            </a:r>
          </a:p>
        </p:txBody>
      </p:sp>
      <p:sp>
        <p:nvSpPr>
          <p:cNvPr id="8" name="Stage Method Design"/>
          <p:cNvSpPr/>
          <p:nvPr/>
        </p:nvSpPr>
        <p:spPr>
          <a:xfrm>
            <a:off x="3392836" y="3264973"/>
            <a:ext cx="6429855" cy="86606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3C5FD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F2937"/>
                </a:solidFill>
              </a:rPr>
              <a:t/>
            </a:r>
          </a:p>
        </p:txBody>
      </p:sp>
      <p:sp>
        <p:nvSpPr>
          <p:cNvPr id="9" name="Label Method Design"/>
          <p:cNvSpPr/>
          <p:nvPr/>
        </p:nvSpPr>
        <p:spPr>
          <a:xfrm>
            <a:off x="2303697" y="3514293"/>
            <a:ext cx="839817" cy="3674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Method Design</a:t>
            </a:r>
          </a:p>
        </p:txBody>
      </p:sp>
      <p:sp>
        <p:nvSpPr>
          <p:cNvPr id="10" name="Stage Training Validation"/>
          <p:cNvSpPr/>
          <p:nvPr/>
        </p:nvSpPr>
        <p:spPr>
          <a:xfrm>
            <a:off x="3392836" y="4288501"/>
            <a:ext cx="6429855" cy="86606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3C5FD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F2937"/>
                </a:solidFill>
              </a:rPr>
              <a:t/>
            </a:r>
          </a:p>
        </p:txBody>
      </p:sp>
      <p:sp>
        <p:nvSpPr>
          <p:cNvPr id="11" name="Label Training Validation"/>
          <p:cNvSpPr/>
          <p:nvPr/>
        </p:nvSpPr>
        <p:spPr>
          <a:xfrm>
            <a:off x="2303697" y="4537821"/>
            <a:ext cx="839817" cy="3674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Training</a:t>
            </a:r>
          </a:p>
          <a:p>
            <a:pPr algn="ctr"/>
            <a:r>
              <a:rPr lang="zh-CN" sz="105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2" name="Stage Validation Output"/>
          <p:cNvSpPr/>
          <p:nvPr/>
        </p:nvSpPr>
        <p:spPr>
          <a:xfrm>
            <a:off x="3392836" y="5312028"/>
            <a:ext cx="6429855" cy="86606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93C5FD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F2937"/>
                </a:solidFill>
              </a:rPr>
              <a:t/>
            </a:r>
          </a:p>
        </p:txBody>
      </p:sp>
      <p:sp>
        <p:nvSpPr>
          <p:cNvPr id="13" name="Label Validation Output"/>
          <p:cNvSpPr/>
          <p:nvPr/>
        </p:nvSpPr>
        <p:spPr>
          <a:xfrm>
            <a:off x="2303697" y="5561349"/>
            <a:ext cx="839817" cy="3674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Validation Output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6607763" y="2083979"/>
            <a:ext cx="1" cy="157465"/>
          </a:xfrm>
          <a:prstGeom prst="line">
            <a:avLst/>
          </a:prstGeom>
          <a:ln w="19050">
            <a:solidFill>
              <a:srgbClr val="2563EB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6607763" y="3107507"/>
            <a:ext cx="1" cy="157465"/>
          </a:xfrm>
          <a:prstGeom prst="line">
            <a:avLst/>
          </a:prstGeom>
          <a:ln w="19050">
            <a:solidFill>
              <a:srgbClr val="2563EB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6607763" y="4131035"/>
            <a:ext cx="1" cy="157465"/>
          </a:xfrm>
          <a:prstGeom prst="line">
            <a:avLst/>
          </a:prstGeom>
          <a:ln w="19050">
            <a:solidFill>
              <a:srgbClr val="2563EB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607763" y="5154563"/>
            <a:ext cx="1" cy="157465"/>
          </a:xfrm>
          <a:prstGeom prst="line">
            <a:avLst/>
          </a:prstGeom>
          <a:ln w="19050">
            <a:solidFill>
              <a:srgbClr val="2563EB"/>
            </a:solidFill>
            <a:headEnd type="triangle"/>
          </a:ln>
        </p:spPr>
      </p:cxnSp>
      <p:sp>
        <p:nvSpPr>
          <p:cNvPr id="18" name="Node goal_task"/>
          <p:cNvSpPr/>
          <p:nvPr/>
        </p:nvSpPr>
        <p:spPr>
          <a:xfrm>
            <a:off x="3629035" y="1427871"/>
            <a:ext cx="2926240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Define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defect task</a:t>
            </a:r>
          </a:p>
        </p:txBody>
      </p:sp>
      <p:sp>
        <p:nvSpPr>
          <p:cNvPr id="19" name="Node goal_metric"/>
          <p:cNvSpPr/>
          <p:nvPr/>
        </p:nvSpPr>
        <p:spPr>
          <a:xfrm>
            <a:off x="6660252" y="1427871"/>
            <a:ext cx="2926240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Set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evaluation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metrics</a:t>
            </a:r>
          </a:p>
        </p:txBody>
      </p:sp>
      <p:sp>
        <p:nvSpPr>
          <p:cNvPr id="20" name="Node data_collect"/>
          <p:cNvSpPr/>
          <p:nvPr/>
        </p:nvSpPr>
        <p:spPr>
          <a:xfrm>
            <a:off x="3629035" y="2451399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Collect RGB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and IR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images</a:t>
            </a:r>
          </a:p>
        </p:txBody>
      </p:sp>
      <p:sp>
        <p:nvSpPr>
          <p:cNvPr id="21" name="Node data_align"/>
          <p:cNvSpPr/>
          <p:nvPr/>
        </p:nvSpPr>
        <p:spPr>
          <a:xfrm>
            <a:off x="5649846" y="2451399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Align and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annotate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defects</a:t>
            </a:r>
          </a:p>
        </p:txBody>
      </p:sp>
      <p:sp>
        <p:nvSpPr>
          <p:cNvPr id="22" name="Node data_split"/>
          <p:cNvSpPr/>
          <p:nvPr/>
        </p:nvSpPr>
        <p:spPr>
          <a:xfrm>
            <a:off x="7670658" y="2451399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Prepare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train test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sets</a:t>
            </a:r>
          </a:p>
        </p:txBody>
      </p:sp>
      <p:sp>
        <p:nvSpPr>
          <p:cNvPr id="23" name="Node method_baseline"/>
          <p:cNvSpPr/>
          <p:nvPr/>
        </p:nvSpPr>
        <p:spPr>
          <a:xfrm>
            <a:off x="3629035" y="3474927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Build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baseline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detector</a:t>
            </a:r>
          </a:p>
        </p:txBody>
      </p:sp>
      <p:sp>
        <p:nvSpPr>
          <p:cNvPr id="24" name="Node method_fusion"/>
          <p:cNvSpPr/>
          <p:nvPr/>
        </p:nvSpPr>
        <p:spPr>
          <a:xfrm>
            <a:off x="5649846" y="3474927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Fuse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multimodal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features</a:t>
            </a:r>
          </a:p>
        </p:txBody>
      </p:sp>
      <p:sp>
        <p:nvSpPr>
          <p:cNvPr id="25" name="Node method_attention"/>
          <p:cNvSpPr/>
          <p:nvPr/>
        </p:nvSpPr>
        <p:spPr>
          <a:xfrm>
            <a:off x="7670658" y="3474927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Enhance weak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regions</a:t>
            </a:r>
          </a:p>
        </p:txBody>
      </p:sp>
      <p:sp>
        <p:nvSpPr>
          <p:cNvPr id="26" name="Node training_loss"/>
          <p:cNvSpPr/>
          <p:nvPr/>
        </p:nvSpPr>
        <p:spPr>
          <a:xfrm>
            <a:off x="3629035" y="4498455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Optimize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detection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losses</a:t>
            </a:r>
          </a:p>
        </p:txBody>
      </p:sp>
      <p:sp>
        <p:nvSpPr>
          <p:cNvPr id="27" name="Node training_ablation"/>
          <p:cNvSpPr/>
          <p:nvPr/>
        </p:nvSpPr>
        <p:spPr>
          <a:xfrm>
            <a:off x="5649846" y="4498455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Run ablation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studies</a:t>
            </a:r>
          </a:p>
        </p:txBody>
      </p:sp>
      <p:sp>
        <p:nvSpPr>
          <p:cNvPr id="28" name="Node training_infer"/>
          <p:cNvSpPr/>
          <p:nvPr/>
        </p:nvSpPr>
        <p:spPr>
          <a:xfrm>
            <a:off x="7670658" y="4498455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Infer defect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candidates</a:t>
            </a:r>
          </a:p>
        </p:txBody>
      </p:sp>
      <p:sp>
        <p:nvSpPr>
          <p:cNvPr id="29" name="Node output_metrics"/>
          <p:cNvSpPr/>
          <p:nvPr/>
        </p:nvSpPr>
        <p:spPr>
          <a:xfrm>
            <a:off x="3629035" y="5521983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Report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quantitative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gains</a:t>
            </a:r>
          </a:p>
        </p:txBody>
      </p:sp>
      <p:sp>
        <p:nvSpPr>
          <p:cNvPr id="30" name="Node output_visual"/>
          <p:cNvSpPr/>
          <p:nvPr/>
        </p:nvSpPr>
        <p:spPr>
          <a:xfrm>
            <a:off x="5649846" y="5521983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Explain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visual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results</a:t>
            </a:r>
          </a:p>
        </p:txBody>
      </p:sp>
      <p:sp>
        <p:nvSpPr>
          <p:cNvPr id="31" name="Node output_report"/>
          <p:cNvSpPr/>
          <p:nvPr/>
        </p:nvSpPr>
        <p:spPr>
          <a:xfrm>
            <a:off x="7670658" y="5521983"/>
            <a:ext cx="1915834" cy="39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F2937"/>
                </a:solidFill>
              </a:rPr>
              <a:t>Generate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defect</a:t>
            </a:r>
          </a:p>
          <a:p>
            <a:pPr algn="ctr"/>
            <a:r>
              <a:rPr lang="zh-CN" sz="930">
                <a:solidFill>
                  <a:srgbClr val="1F2937"/>
                </a:solidFill>
              </a:rPr>
              <a:t>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