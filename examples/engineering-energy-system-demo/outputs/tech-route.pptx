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d"/>
          <p:cNvSpPr/>
          <p:nvPr/>
        </p:nvSpPr>
        <p:spPr>
          <a:xfrm>
            <a:off x="1174988" y="330000"/>
            <a:ext cx="9842022" cy="430000"/>
          </a:xfrm>
          <a:prstGeom prst="roundRect">
            <a:avLst/>
          </a:prstGeom>
          <a:solidFill>
            <a:srgbClr val="D8F0EA"/>
          </a:solidFill>
          <a:ln w="12700">
            <a:solidFill>
              <a:srgbClr val="7CB7C6"/>
            </a:solidFill>
          </a:ln>
        </p:spPr>
        <p:txBody>
          <a:bodyPr wrap="square" anchor="ctr"/>
          <a:lstStyle/>
          <a:p>
            <a:pPr algn="ctr"/>
            <a:r>
              <a:rPr lang="zh-CN" sz="2100" b="1">
                <a:solidFill>
                  <a:srgbClr val="152E3A"/>
                </a:solidFill>
              </a:rPr>
              <a:t>校园综合能源系统项目技术路线图</a:t>
            </a:r>
          </a:p>
        </p:txBody>
      </p:sp>
      <p:sp>
        <p:nvSpPr>
          <p:cNvPr id="3" name="Subtitle"/>
          <p:cNvSpPr/>
          <p:nvPr/>
        </p:nvSpPr>
        <p:spPr>
          <a:xfrm>
            <a:off x="1174988" y="775000"/>
            <a:ext cx="9842022" cy="1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zh-CN" sz="850">
                <a:solidFill>
                  <a:srgbClr val="57717A"/>
                </a:solidFill>
              </a:rPr>
              <a:t>中文工程项目汇报示例：源网荷储配置、</a:t>
            </a:r>
          </a:p>
          <a:p>
            <a:pPr algn="ctr"/>
            <a:r>
              <a:rPr lang="zh-CN" sz="850">
                <a:solidFill>
                  <a:srgbClr val="57717A"/>
                </a:solidFill>
              </a:rPr>
              <a:t>运行策略与验证输出</a:t>
            </a:r>
          </a:p>
        </p:txBody>
      </p:sp>
      <p:sp>
        <p:nvSpPr>
          <p:cNvPr id="4" name="Stage 系统边界"/>
          <p:cNvSpPr/>
          <p:nvPr/>
        </p:nvSpPr>
        <p:spPr>
          <a:xfrm>
            <a:off x="2677752" y="1370930"/>
            <a:ext cx="7975910" cy="826076"/>
          </a:xfrm>
          <a:prstGeom prst="roundRect">
            <a:avLst/>
          </a:prstGeom>
          <a:solidFill>
            <a:srgbClr val="D8F0EA"/>
          </a:solidFill>
          <a:ln w="12700">
            <a:solidFill>
              <a:srgbClr val="7CB7C6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zh-CN" sz="1000">
                <a:solidFill>
                  <a:srgbClr val="152E3A"/>
                </a:solidFill>
              </a:rPr>
              <a:t/>
            </a:r>
          </a:p>
        </p:txBody>
      </p:sp>
      <p:sp>
        <p:nvSpPr>
          <p:cNvPr id="5" name="Label 系统边界"/>
          <p:cNvSpPr/>
          <p:nvPr/>
        </p:nvSpPr>
        <p:spPr>
          <a:xfrm>
            <a:off x="1168026" y="1370930"/>
            <a:ext cx="1196386" cy="826076"/>
          </a:xfrm>
          <a:prstGeom prst="roundRect">
            <a:avLst/>
          </a:prstGeom>
          <a:solidFill>
            <a:srgbClr val="5AA6D6"/>
          </a:solidFill>
          <a:ln w="12700">
            <a:solidFill>
              <a:srgbClr val="5AA6D6"/>
            </a:solidFill>
          </a:ln>
        </p:spPr>
        <p:txBody>
          <a:bodyPr wrap="square" anchor="ctr"/>
          <a:lstStyle/>
          <a:p>
            <a:pPr algn="ctr"/>
            <a:r>
              <a:rPr lang="zh-CN" sz="1050" b="1">
                <a:solidFill>
                  <a:srgbClr val="FFFFFF"/>
                </a:solidFill>
              </a:rPr>
              <a:t>系统边界</a:t>
            </a:r>
          </a:p>
        </p:txBody>
      </p:sp>
      <p:sp>
        <p:nvSpPr>
          <p:cNvPr id="6" name="Stage 源荷数据"/>
          <p:cNvSpPr/>
          <p:nvPr/>
        </p:nvSpPr>
        <p:spPr>
          <a:xfrm>
            <a:off x="2677752" y="2353676"/>
            <a:ext cx="7975910" cy="826076"/>
          </a:xfrm>
          <a:prstGeom prst="roundRect">
            <a:avLst/>
          </a:prstGeom>
          <a:solidFill>
            <a:srgbClr val="DDEBFB"/>
          </a:solidFill>
          <a:ln w="12700">
            <a:solidFill>
              <a:srgbClr val="7CB7C6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zh-CN" sz="1000">
                <a:solidFill>
                  <a:srgbClr val="152E3A"/>
                </a:solidFill>
              </a:rPr>
              <a:t/>
            </a:r>
          </a:p>
        </p:txBody>
      </p:sp>
      <p:sp>
        <p:nvSpPr>
          <p:cNvPr id="7" name="Label 源荷数据"/>
          <p:cNvSpPr/>
          <p:nvPr/>
        </p:nvSpPr>
        <p:spPr>
          <a:xfrm>
            <a:off x="1168026" y="2353676"/>
            <a:ext cx="1196386" cy="826076"/>
          </a:xfrm>
          <a:prstGeom prst="roundRect">
            <a:avLst/>
          </a:prstGeom>
          <a:solidFill>
            <a:srgbClr val="5AA6D6"/>
          </a:solidFill>
          <a:ln w="12700">
            <a:solidFill>
              <a:srgbClr val="5AA6D6"/>
            </a:solidFill>
          </a:ln>
        </p:spPr>
        <p:txBody>
          <a:bodyPr wrap="square" anchor="ctr"/>
          <a:lstStyle/>
          <a:p>
            <a:pPr algn="ctr"/>
            <a:r>
              <a:rPr lang="zh-CN" sz="1050" b="1">
                <a:solidFill>
                  <a:srgbClr val="FFFFFF"/>
                </a:solidFill>
              </a:rPr>
              <a:t>源荷数据</a:t>
            </a:r>
          </a:p>
        </p:txBody>
      </p:sp>
      <p:sp>
        <p:nvSpPr>
          <p:cNvPr id="8" name="Stage 配置模型"/>
          <p:cNvSpPr/>
          <p:nvPr/>
        </p:nvSpPr>
        <p:spPr>
          <a:xfrm>
            <a:off x="2677752" y="3336422"/>
            <a:ext cx="7975910" cy="826076"/>
          </a:xfrm>
          <a:prstGeom prst="roundRect">
            <a:avLst/>
          </a:prstGeom>
          <a:solidFill>
            <a:srgbClr val="EAF4D9"/>
          </a:solidFill>
          <a:ln w="12700">
            <a:solidFill>
              <a:srgbClr val="7CB7C6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zh-CN" sz="1000">
                <a:solidFill>
                  <a:srgbClr val="152E3A"/>
                </a:solidFill>
              </a:rPr>
              <a:t/>
            </a:r>
          </a:p>
        </p:txBody>
      </p:sp>
      <p:sp>
        <p:nvSpPr>
          <p:cNvPr id="9" name="Label 配置模型"/>
          <p:cNvSpPr/>
          <p:nvPr/>
        </p:nvSpPr>
        <p:spPr>
          <a:xfrm>
            <a:off x="1168026" y="3336422"/>
            <a:ext cx="1196386" cy="826076"/>
          </a:xfrm>
          <a:prstGeom prst="roundRect">
            <a:avLst/>
          </a:prstGeom>
          <a:solidFill>
            <a:srgbClr val="5AA6D6"/>
          </a:solidFill>
          <a:ln w="12700">
            <a:solidFill>
              <a:srgbClr val="5AA6D6"/>
            </a:solidFill>
          </a:ln>
        </p:spPr>
        <p:txBody>
          <a:bodyPr wrap="square" anchor="ctr"/>
          <a:lstStyle/>
          <a:p>
            <a:pPr algn="ctr"/>
            <a:r>
              <a:rPr lang="zh-CN" sz="1050" b="1">
                <a:solidFill>
                  <a:srgbClr val="FFFFFF"/>
                </a:solidFill>
              </a:rPr>
              <a:t>配置模型</a:t>
            </a:r>
          </a:p>
        </p:txBody>
      </p:sp>
      <p:sp>
        <p:nvSpPr>
          <p:cNvPr id="10" name="Stage 运行策略"/>
          <p:cNvSpPr/>
          <p:nvPr/>
        </p:nvSpPr>
        <p:spPr>
          <a:xfrm>
            <a:off x="2677752" y="4319168"/>
            <a:ext cx="7975910" cy="826076"/>
          </a:xfrm>
          <a:prstGeom prst="roundRect">
            <a:avLst/>
          </a:prstGeom>
          <a:solidFill>
            <a:srgbClr val="FFF0D4"/>
          </a:solidFill>
          <a:ln w="12700">
            <a:solidFill>
              <a:srgbClr val="7CB7C6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zh-CN" sz="1000">
                <a:solidFill>
                  <a:srgbClr val="152E3A"/>
                </a:solidFill>
              </a:rPr>
              <a:t/>
            </a:r>
          </a:p>
        </p:txBody>
      </p:sp>
      <p:sp>
        <p:nvSpPr>
          <p:cNvPr id="11" name="Label 运行策略"/>
          <p:cNvSpPr/>
          <p:nvPr/>
        </p:nvSpPr>
        <p:spPr>
          <a:xfrm>
            <a:off x="1168026" y="4319168"/>
            <a:ext cx="1196386" cy="826076"/>
          </a:xfrm>
          <a:prstGeom prst="roundRect">
            <a:avLst/>
          </a:prstGeom>
          <a:solidFill>
            <a:srgbClr val="5AA6D6"/>
          </a:solidFill>
          <a:ln w="12700">
            <a:solidFill>
              <a:srgbClr val="5AA6D6"/>
            </a:solidFill>
          </a:ln>
        </p:spPr>
        <p:txBody>
          <a:bodyPr wrap="square" anchor="ctr"/>
          <a:lstStyle/>
          <a:p>
            <a:pPr algn="ctr"/>
            <a:r>
              <a:rPr lang="zh-CN" sz="1050" b="1">
                <a:solidFill>
                  <a:srgbClr val="FFFFFF"/>
                </a:solidFill>
              </a:rPr>
              <a:t>运行策略</a:t>
            </a:r>
          </a:p>
        </p:txBody>
      </p:sp>
      <p:sp>
        <p:nvSpPr>
          <p:cNvPr id="12" name="Stage 验证交付"/>
          <p:cNvSpPr/>
          <p:nvPr/>
        </p:nvSpPr>
        <p:spPr>
          <a:xfrm>
            <a:off x="2677752" y="5301914"/>
            <a:ext cx="7975910" cy="826076"/>
          </a:xfrm>
          <a:prstGeom prst="roundRect">
            <a:avLst/>
          </a:prstGeom>
          <a:solidFill>
            <a:srgbClr val="F6E2E8"/>
          </a:solidFill>
          <a:ln w="12700">
            <a:solidFill>
              <a:srgbClr val="7CB7C6"/>
            </a:solidFill>
            <a:prstDash val="dash"/>
          </a:ln>
        </p:spPr>
        <p:txBody>
          <a:bodyPr wrap="square" anchor="ctr"/>
          <a:lstStyle/>
          <a:p>
            <a:pPr algn="ctr"/>
            <a:r>
              <a:rPr lang="zh-CN" sz="1000">
                <a:solidFill>
                  <a:srgbClr val="152E3A"/>
                </a:solidFill>
              </a:rPr>
              <a:t/>
            </a:r>
          </a:p>
        </p:txBody>
      </p:sp>
      <p:sp>
        <p:nvSpPr>
          <p:cNvPr id="13" name="Label 验证交付"/>
          <p:cNvSpPr/>
          <p:nvPr/>
        </p:nvSpPr>
        <p:spPr>
          <a:xfrm>
            <a:off x="1168026" y="5301914"/>
            <a:ext cx="1196386" cy="826076"/>
          </a:xfrm>
          <a:prstGeom prst="roundRect">
            <a:avLst/>
          </a:prstGeom>
          <a:solidFill>
            <a:srgbClr val="5AA6D6"/>
          </a:solidFill>
          <a:ln w="12700">
            <a:solidFill>
              <a:srgbClr val="5AA6D6"/>
            </a:solidFill>
          </a:ln>
        </p:spPr>
        <p:txBody>
          <a:bodyPr wrap="square" anchor="ctr"/>
          <a:lstStyle/>
          <a:p>
            <a:pPr algn="ctr"/>
            <a:r>
              <a:rPr lang="zh-CN" sz="1050" b="1">
                <a:solidFill>
                  <a:srgbClr val="FFFFFF"/>
                </a:solidFill>
              </a:rPr>
              <a:t>验证交付</a:t>
            </a:r>
          </a:p>
        </p:txBody>
      </p:sp>
      <p:cxnSp>
        <p:nvCxnSpPr>
          <p:cNvPr id="14" name="Connector 14"/>
          <p:cNvCxnSpPr/>
          <p:nvPr/>
        </p:nvCxnSpPr>
        <p:spPr>
          <a:xfrm>
            <a:off x="4764307" y="1783968"/>
            <a:ext cx="3802800" cy="1"/>
          </a:xfrm>
          <a:prstGeom prst="line">
            <a:avLst/>
          </a:prstGeom>
          <a:ln w="19050">
            <a:solidFill>
              <a:srgbClr val="2F7CA6"/>
            </a:solidFill>
            <a:headEnd type="triangle"/>
          </a:ln>
        </p:spPr>
      </p:cxnSp>
      <p:cxnSp>
        <p:nvCxnSpPr>
          <p:cNvPr id="15" name="Connector 15"/>
          <p:cNvCxnSpPr/>
          <p:nvPr/>
        </p:nvCxnSpPr>
        <p:spPr>
          <a:xfrm flipH="1">
            <a:off x="4130507" y="1783968"/>
            <a:ext cx="4436600" cy="982746"/>
          </a:xfrm>
          <a:prstGeom prst="line">
            <a:avLst/>
          </a:prstGeom>
          <a:ln w="19050">
            <a:solidFill>
              <a:srgbClr val="2F7CA6"/>
            </a:solidFill>
            <a:headEnd type="triangle"/>
          </a:ln>
        </p:spPr>
      </p:cxnSp>
      <p:cxnSp>
        <p:nvCxnSpPr>
          <p:cNvPr id="16" name="Connector 16"/>
          <p:cNvCxnSpPr/>
          <p:nvPr/>
        </p:nvCxnSpPr>
        <p:spPr>
          <a:xfrm>
            <a:off x="4130507" y="2766714"/>
            <a:ext cx="2535200" cy="1"/>
          </a:xfrm>
          <a:prstGeom prst="line">
            <a:avLst/>
          </a:prstGeom>
          <a:ln w="19050">
            <a:solidFill>
              <a:srgbClr val="2F7CA6"/>
            </a:solidFill>
            <a:headEnd type="triangle"/>
          </a:ln>
        </p:spPr>
      </p:cxnSp>
      <p:cxnSp>
        <p:nvCxnSpPr>
          <p:cNvPr id="17" name="Connector 17"/>
          <p:cNvCxnSpPr/>
          <p:nvPr/>
        </p:nvCxnSpPr>
        <p:spPr>
          <a:xfrm>
            <a:off x="6665707" y="2766714"/>
            <a:ext cx="2535200" cy="1"/>
          </a:xfrm>
          <a:prstGeom prst="line">
            <a:avLst/>
          </a:prstGeom>
          <a:ln w="19050">
            <a:solidFill>
              <a:srgbClr val="2F7CA6"/>
            </a:solidFill>
            <a:headEnd type="triangle"/>
          </a:ln>
        </p:spPr>
      </p:cxnSp>
      <p:cxnSp>
        <p:nvCxnSpPr>
          <p:cNvPr id="18" name="Connector 18"/>
          <p:cNvCxnSpPr/>
          <p:nvPr/>
        </p:nvCxnSpPr>
        <p:spPr>
          <a:xfrm flipH="1">
            <a:off x="4130507" y="2766714"/>
            <a:ext cx="5070400" cy="982746"/>
          </a:xfrm>
          <a:prstGeom prst="line">
            <a:avLst/>
          </a:prstGeom>
          <a:ln w="19050">
            <a:solidFill>
              <a:srgbClr val="2F7CA6"/>
            </a:solidFill>
            <a:headEnd type="triangle"/>
          </a:ln>
        </p:spPr>
      </p:cxnSp>
      <p:cxnSp>
        <p:nvCxnSpPr>
          <p:cNvPr id="19" name="Connector 19"/>
          <p:cNvCxnSpPr/>
          <p:nvPr/>
        </p:nvCxnSpPr>
        <p:spPr>
          <a:xfrm>
            <a:off x="4130507" y="3749460"/>
            <a:ext cx="2535200" cy="1"/>
          </a:xfrm>
          <a:prstGeom prst="line">
            <a:avLst/>
          </a:prstGeom>
          <a:ln w="19050">
            <a:solidFill>
              <a:srgbClr val="2F7CA6"/>
            </a:solidFill>
            <a:headEnd type="triangle"/>
          </a:ln>
        </p:spPr>
      </p:cxnSp>
      <p:cxnSp>
        <p:nvCxnSpPr>
          <p:cNvPr id="20" name="Connector 20"/>
          <p:cNvCxnSpPr/>
          <p:nvPr/>
        </p:nvCxnSpPr>
        <p:spPr>
          <a:xfrm>
            <a:off x="6665707" y="3749460"/>
            <a:ext cx="2535200" cy="1"/>
          </a:xfrm>
          <a:prstGeom prst="line">
            <a:avLst/>
          </a:prstGeom>
          <a:ln w="19050">
            <a:solidFill>
              <a:srgbClr val="2F7CA6"/>
            </a:solidFill>
            <a:headEnd type="triangle"/>
          </a:ln>
        </p:spPr>
      </p:cxnSp>
      <p:cxnSp>
        <p:nvCxnSpPr>
          <p:cNvPr id="21" name="Connector 21"/>
          <p:cNvCxnSpPr/>
          <p:nvPr/>
        </p:nvCxnSpPr>
        <p:spPr>
          <a:xfrm flipH="1">
            <a:off x="4764307" y="3749460"/>
            <a:ext cx="4436600" cy="982746"/>
          </a:xfrm>
          <a:prstGeom prst="line">
            <a:avLst/>
          </a:prstGeom>
          <a:ln w="19050">
            <a:solidFill>
              <a:srgbClr val="2F7CA6"/>
            </a:solidFill>
            <a:headEnd type="triangle"/>
          </a:ln>
        </p:spPr>
      </p:cxnSp>
      <p:cxnSp>
        <p:nvCxnSpPr>
          <p:cNvPr id="22" name="Connector 22"/>
          <p:cNvCxnSpPr/>
          <p:nvPr/>
        </p:nvCxnSpPr>
        <p:spPr>
          <a:xfrm>
            <a:off x="4764307" y="4732206"/>
            <a:ext cx="3802800" cy="1"/>
          </a:xfrm>
          <a:prstGeom prst="line">
            <a:avLst/>
          </a:prstGeom>
          <a:ln w="19050">
            <a:solidFill>
              <a:srgbClr val="2F7CA6"/>
            </a:solidFill>
            <a:headEnd type="triangle"/>
          </a:ln>
        </p:spPr>
      </p:cxnSp>
      <p:cxnSp>
        <p:nvCxnSpPr>
          <p:cNvPr id="23" name="Connector 23"/>
          <p:cNvCxnSpPr/>
          <p:nvPr/>
        </p:nvCxnSpPr>
        <p:spPr>
          <a:xfrm flipH="1">
            <a:off x="4130507" y="4732206"/>
            <a:ext cx="4436600" cy="982746"/>
          </a:xfrm>
          <a:prstGeom prst="line">
            <a:avLst/>
          </a:prstGeom>
          <a:ln w="19050">
            <a:solidFill>
              <a:srgbClr val="2F7CA6"/>
            </a:solidFill>
            <a:headEnd type="triangle"/>
          </a:ln>
        </p:spPr>
      </p:cxnSp>
      <p:cxnSp>
        <p:nvCxnSpPr>
          <p:cNvPr id="24" name="Connector 24"/>
          <p:cNvCxnSpPr/>
          <p:nvPr/>
        </p:nvCxnSpPr>
        <p:spPr>
          <a:xfrm>
            <a:off x="4130507" y="5714952"/>
            <a:ext cx="2535200" cy="1"/>
          </a:xfrm>
          <a:prstGeom prst="line">
            <a:avLst/>
          </a:prstGeom>
          <a:ln w="19050">
            <a:solidFill>
              <a:srgbClr val="2F7CA6"/>
            </a:solidFill>
            <a:headEnd type="triangle"/>
          </a:ln>
        </p:spPr>
      </p:cxnSp>
      <p:cxnSp>
        <p:nvCxnSpPr>
          <p:cNvPr id="25" name="Connector 25"/>
          <p:cNvCxnSpPr/>
          <p:nvPr/>
        </p:nvCxnSpPr>
        <p:spPr>
          <a:xfrm>
            <a:off x="6665707" y="5714952"/>
            <a:ext cx="2535200" cy="1"/>
          </a:xfrm>
          <a:prstGeom prst="line">
            <a:avLst/>
          </a:prstGeom>
          <a:ln w="19050">
            <a:solidFill>
              <a:srgbClr val="2F7CA6"/>
            </a:solidFill>
            <a:headEnd type="triangle"/>
          </a:ln>
        </p:spPr>
      </p:cxnSp>
      <p:sp>
        <p:nvSpPr>
          <p:cNvPr id="26" name="Node boundary_scope"/>
          <p:cNvSpPr/>
          <p:nvPr/>
        </p:nvSpPr>
        <p:spPr>
          <a:xfrm>
            <a:off x="2926999" y="1570328"/>
            <a:ext cx="3674615" cy="42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EB7C8"/>
            </a:solidFill>
          </a:ln>
        </p:spPr>
        <p:txBody>
          <a:bodyPr wrap="square" anchor="ctr"/>
          <a:lstStyle/>
          <a:p>
            <a:pPr algn="ctr"/>
            <a:r>
              <a:rPr lang="zh-CN" sz="980">
                <a:solidFill>
                  <a:srgbClr val="152E3A"/>
                </a:solidFill>
              </a:rPr>
              <a:t>定义校园边界</a:t>
            </a:r>
          </a:p>
        </p:txBody>
      </p:sp>
      <p:sp>
        <p:nvSpPr>
          <p:cNvPr id="27" name="Node boundary_targets"/>
          <p:cNvSpPr/>
          <p:nvPr/>
        </p:nvSpPr>
        <p:spPr>
          <a:xfrm>
            <a:off x="6729800" y="1570328"/>
            <a:ext cx="3674615" cy="42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EB7C8"/>
            </a:solidFill>
          </a:ln>
        </p:spPr>
        <p:txBody>
          <a:bodyPr wrap="square" anchor="ctr"/>
          <a:lstStyle/>
          <a:p>
            <a:pPr algn="ctr"/>
            <a:r>
              <a:rPr lang="zh-CN" sz="980">
                <a:solidFill>
                  <a:srgbClr val="152E3A"/>
                </a:solidFill>
              </a:rPr>
              <a:t>设定规划目标</a:t>
            </a:r>
          </a:p>
        </p:txBody>
      </p:sp>
      <p:sp>
        <p:nvSpPr>
          <p:cNvPr id="28" name="Node data_load"/>
          <p:cNvSpPr/>
          <p:nvPr/>
        </p:nvSpPr>
        <p:spPr>
          <a:xfrm>
            <a:off x="2926999" y="2553074"/>
            <a:ext cx="2407015" cy="42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EB7C8"/>
            </a:solidFill>
          </a:ln>
        </p:spPr>
        <p:txBody>
          <a:bodyPr wrap="square" anchor="ctr"/>
          <a:lstStyle/>
          <a:p>
            <a:pPr algn="ctr"/>
            <a:r>
              <a:rPr lang="zh-CN" sz="980">
                <a:solidFill>
                  <a:srgbClr val="152E3A"/>
                </a:solidFill>
              </a:rPr>
              <a:t>构建冷热电负荷</a:t>
            </a:r>
          </a:p>
        </p:txBody>
      </p:sp>
      <p:sp>
        <p:nvSpPr>
          <p:cNvPr id="29" name="Node data_resource"/>
          <p:cNvSpPr/>
          <p:nvPr/>
        </p:nvSpPr>
        <p:spPr>
          <a:xfrm>
            <a:off x="5462200" y="2553074"/>
            <a:ext cx="2407015" cy="42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EB7C8"/>
            </a:solidFill>
          </a:ln>
        </p:spPr>
        <p:txBody>
          <a:bodyPr wrap="square" anchor="ctr"/>
          <a:lstStyle/>
          <a:p>
            <a:pPr algn="ctr"/>
            <a:r>
              <a:rPr lang="zh-CN" sz="980">
                <a:solidFill>
                  <a:srgbClr val="152E3A"/>
                </a:solidFill>
              </a:rPr>
              <a:t>评估新能源资源</a:t>
            </a:r>
          </a:p>
        </p:txBody>
      </p:sp>
      <p:sp>
        <p:nvSpPr>
          <p:cNvPr id="30" name="Node data_tariff"/>
          <p:cNvSpPr/>
          <p:nvPr/>
        </p:nvSpPr>
        <p:spPr>
          <a:xfrm>
            <a:off x="7997400" y="2553074"/>
            <a:ext cx="2407015" cy="42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EB7C8"/>
            </a:solidFill>
          </a:ln>
        </p:spPr>
        <p:txBody>
          <a:bodyPr wrap="square" anchor="ctr"/>
          <a:lstStyle/>
          <a:p>
            <a:pPr algn="ctr"/>
            <a:r>
              <a:rPr lang="zh-CN" sz="980">
                <a:solidFill>
                  <a:srgbClr val="152E3A"/>
                </a:solidFill>
              </a:rPr>
              <a:t>整理约束条件</a:t>
            </a:r>
          </a:p>
        </p:txBody>
      </p:sp>
      <p:sp>
        <p:nvSpPr>
          <p:cNvPr id="31" name="Node model_assets"/>
          <p:cNvSpPr/>
          <p:nvPr/>
        </p:nvSpPr>
        <p:spPr>
          <a:xfrm>
            <a:off x="2926999" y="3535820"/>
            <a:ext cx="2407015" cy="42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EB7C8"/>
            </a:solidFill>
          </a:ln>
        </p:spPr>
        <p:txBody>
          <a:bodyPr wrap="square" anchor="ctr"/>
          <a:lstStyle/>
          <a:p>
            <a:pPr algn="ctr"/>
            <a:r>
              <a:rPr lang="zh-CN" sz="980">
                <a:solidFill>
                  <a:srgbClr val="152E3A"/>
                </a:solidFill>
              </a:rPr>
              <a:t>建模候选设备</a:t>
            </a:r>
          </a:p>
        </p:txBody>
      </p:sp>
      <p:sp>
        <p:nvSpPr>
          <p:cNvPr id="32" name="Node model_objective"/>
          <p:cNvSpPr/>
          <p:nvPr/>
        </p:nvSpPr>
        <p:spPr>
          <a:xfrm>
            <a:off x="5462200" y="3535820"/>
            <a:ext cx="2407015" cy="42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EB7C8"/>
            </a:solidFill>
          </a:ln>
        </p:spPr>
        <p:txBody>
          <a:bodyPr wrap="square" anchor="ctr"/>
          <a:lstStyle/>
          <a:p>
            <a:pPr algn="ctr"/>
            <a:r>
              <a:rPr lang="zh-CN" sz="980">
                <a:solidFill>
                  <a:srgbClr val="152E3A"/>
                </a:solidFill>
              </a:rPr>
              <a:t>多目标容量优化</a:t>
            </a:r>
          </a:p>
        </p:txBody>
      </p:sp>
      <p:sp>
        <p:nvSpPr>
          <p:cNvPr id="33" name="Node model_scenarios"/>
          <p:cNvSpPr/>
          <p:nvPr/>
        </p:nvSpPr>
        <p:spPr>
          <a:xfrm>
            <a:off x="7997400" y="3535820"/>
            <a:ext cx="2407015" cy="42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EB7C8"/>
            </a:solidFill>
          </a:ln>
        </p:spPr>
        <p:txBody>
          <a:bodyPr wrap="square" anchor="ctr"/>
          <a:lstStyle/>
          <a:p>
            <a:pPr algn="ctr"/>
            <a:r>
              <a:rPr lang="zh-CN" sz="980">
                <a:solidFill>
                  <a:srgbClr val="152E3A"/>
                </a:solidFill>
              </a:rPr>
              <a:t>比较规划场景</a:t>
            </a:r>
          </a:p>
        </p:txBody>
      </p:sp>
      <p:sp>
        <p:nvSpPr>
          <p:cNvPr id="34" name="Node operation_dispatch"/>
          <p:cNvSpPr/>
          <p:nvPr/>
        </p:nvSpPr>
        <p:spPr>
          <a:xfrm>
            <a:off x="2926999" y="4518566"/>
            <a:ext cx="3674615" cy="42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EB7C8"/>
            </a:solidFill>
          </a:ln>
        </p:spPr>
        <p:txBody>
          <a:bodyPr wrap="square" anchor="ctr"/>
          <a:lstStyle/>
          <a:p>
            <a:pPr algn="ctr"/>
            <a:r>
              <a:rPr lang="zh-CN" sz="980">
                <a:solidFill>
                  <a:srgbClr val="152E3A"/>
                </a:solidFill>
              </a:rPr>
              <a:t>制定调度策略</a:t>
            </a:r>
          </a:p>
        </p:txBody>
      </p:sp>
      <p:sp>
        <p:nvSpPr>
          <p:cNvPr id="35" name="Node operation_control"/>
          <p:cNvSpPr/>
          <p:nvPr/>
        </p:nvSpPr>
        <p:spPr>
          <a:xfrm>
            <a:off x="6729800" y="4518566"/>
            <a:ext cx="3674615" cy="42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EB7C8"/>
            </a:solidFill>
          </a:ln>
        </p:spPr>
        <p:txBody>
          <a:bodyPr wrap="square" anchor="ctr"/>
          <a:lstStyle/>
          <a:p>
            <a:pPr algn="ctr"/>
            <a:r>
              <a:rPr lang="zh-CN" sz="980">
                <a:solidFill>
                  <a:srgbClr val="152E3A"/>
                </a:solidFill>
              </a:rPr>
              <a:t>定义控制层级</a:t>
            </a:r>
          </a:p>
        </p:txBody>
      </p:sp>
      <p:sp>
        <p:nvSpPr>
          <p:cNvPr id="36" name="Node validation_kpi"/>
          <p:cNvSpPr/>
          <p:nvPr/>
        </p:nvSpPr>
        <p:spPr>
          <a:xfrm>
            <a:off x="2926999" y="5501312"/>
            <a:ext cx="2407015" cy="42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EB7C8"/>
            </a:solidFill>
          </a:ln>
        </p:spPr>
        <p:txBody>
          <a:bodyPr wrap="square" anchor="ctr"/>
          <a:lstStyle/>
          <a:p>
            <a:pPr algn="ctr"/>
            <a:r>
              <a:rPr lang="zh-CN" sz="980">
                <a:solidFill>
                  <a:srgbClr val="152E3A"/>
                </a:solidFill>
              </a:rPr>
              <a:t>评价系统指标</a:t>
            </a:r>
          </a:p>
        </p:txBody>
      </p:sp>
      <p:sp>
        <p:nvSpPr>
          <p:cNvPr id="37" name="Node validation_sensitivity"/>
          <p:cNvSpPr/>
          <p:nvPr/>
        </p:nvSpPr>
        <p:spPr>
          <a:xfrm>
            <a:off x="5462200" y="5501312"/>
            <a:ext cx="2407015" cy="42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EB7C8"/>
            </a:solidFill>
          </a:ln>
        </p:spPr>
        <p:txBody>
          <a:bodyPr wrap="square" anchor="ctr"/>
          <a:lstStyle/>
          <a:p>
            <a:pPr algn="ctr"/>
            <a:r>
              <a:rPr lang="zh-CN" sz="980">
                <a:solidFill>
                  <a:srgbClr val="152E3A"/>
                </a:solidFill>
              </a:rPr>
              <a:t>开展敏感性分析</a:t>
            </a:r>
          </a:p>
        </p:txBody>
      </p:sp>
      <p:sp>
        <p:nvSpPr>
          <p:cNvPr id="38" name="Node validation_deliver"/>
          <p:cNvSpPr/>
          <p:nvPr/>
        </p:nvSpPr>
        <p:spPr>
          <a:xfrm>
            <a:off x="7997400" y="5501312"/>
            <a:ext cx="2407015" cy="42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EB7C8"/>
            </a:solidFill>
          </a:ln>
        </p:spPr>
        <p:txBody>
          <a:bodyPr wrap="square" anchor="ctr"/>
          <a:lstStyle/>
          <a:p>
            <a:pPr algn="ctr"/>
            <a:r>
              <a:rPr lang="zh-CN" sz="980">
                <a:solidFill>
                  <a:srgbClr val="152E3A"/>
                </a:solidFill>
              </a:rPr>
              <a:t>交付配置方案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RouteMaker">
  <a:themeElements>
    <a:clrScheme name="TechRoute">
      <a:dk1>
        <a:srgbClr val="000000"/>
      </a:dk1>
      <a:lt1>
        <a:srgbClr val="FFFFFF"/>
      </a:lt1>
      <a:dk2>
        <a:srgbClr val="1F2937"/>
      </a:dk2>
      <a:lt2>
        <a:srgbClr val="F8FAFC"/>
      </a:lt2>
      <a:accent1>
        <a:srgbClr val="2563EB"/>
      </a:accent1>
      <a:accent2>
        <a:srgbClr val="0F766E"/>
      </a:accent2>
      <a:accent3>
        <a:srgbClr val="7C3AED"/>
      </a:accent3>
      <a:accent4>
        <a:srgbClr val="F59E0B"/>
      </a:accent4>
      <a:accent5>
        <a:srgbClr val="EF4444"/>
      </a:accent5>
      <a:accent6>
        <a:srgbClr val="64748B"/>
      </a:accent6>
      <a:hlink>
        <a:srgbClr val="2563EB"/>
      </a:hlink>
      <a:folHlink>
        <a:srgbClr val="7C3AED"/>
      </a:folHlink>
    </a:clrScheme>
    <a:fontScheme name="Arial">
      <a:majorFont>
        <a:latin typeface="Arial"/>
      </a:majorFont>
      <a:minorFont>
        <a:latin typeface="Arial"/>
      </a:minorFont>
    </a:fontScheme>
    <a:fmtScheme name="TechRout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tech-route-maker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>
  <dc:creator>tech-route-maker</dc:creator>
  <cp:lastModifiedBy>tech-route-maker</cp:lastModifiedBy>
</cp:coreProperties>
</file>