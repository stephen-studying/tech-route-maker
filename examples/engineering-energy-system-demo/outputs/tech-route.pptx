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1725039" y="270000"/>
            <a:ext cx="8741920" cy="43000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172554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E5E7EB"/>
                </a:solidFill>
              </a:rPr>
              <a:t>Campus Integrated</a:t>
            </a:r>
          </a:p>
          <a:p>
            <a:pPr algn="ctr"/>
            <a:r>
              <a:rPr lang="en-US" sz="2100" b="1">
                <a:solidFill>
                  <a:srgbClr val="E5E7EB"/>
                </a:solidFill>
              </a:rPr>
              <a:t>Energy System</a:t>
            </a:r>
          </a:p>
          <a:p>
            <a:pPr algn="ctr"/>
            <a:r>
              <a:rPr lang="en-US" sz="2100" b="1">
                <a:solidFill>
                  <a:srgbClr val="E5E7EB"/>
                </a:solidFill>
              </a:rPr>
              <a:t>Technical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2555039" y="715000"/>
            <a:ext cx="7081920" cy="190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AAB2C0"/>
                </a:solidFill>
              </a:rPr>
              <a:t>Source-grid-load-s</a:t>
            </a:r>
          </a:p>
          <a:p>
            <a:pPr algn="ctr"/>
            <a:r>
              <a:rPr lang="en-US" sz="850">
                <a:solidFill>
                  <a:srgbClr val="AAB2C0"/>
                </a:solidFill>
              </a:rPr>
              <a:t>torage</a:t>
            </a:r>
          </a:p>
          <a:p>
            <a:pPr algn="ctr"/>
            <a:r>
              <a:rPr lang="en-US" sz="850">
                <a:solidFill>
                  <a:srgbClr val="AAB2C0"/>
                </a:solidFill>
              </a:rPr>
              <a:t>engineering route</a:t>
            </a:r>
          </a:p>
          <a:p>
            <a:pPr algn="ctr"/>
            <a:r>
              <a:rPr lang="en-US" sz="850">
                <a:solidFill>
                  <a:srgbClr val="AAB2C0"/>
                </a:solidFill>
              </a:rPr>
              <a:t>generated by...</a:t>
            </a:r>
          </a:p>
        </p:txBody>
      </p:sp>
      <p:sp>
        <p:nvSpPr>
          <p:cNvPr id="4" name="Stage System Boundary"/>
          <p:cNvSpPr/>
          <p:nvPr/>
        </p:nvSpPr>
        <p:spPr>
          <a:xfrm>
            <a:off x="2904810" y="1334309"/>
            <a:ext cx="7622557" cy="862074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E5E7EB"/>
                </a:solidFill>
              </a:rPr>
              <a:t/>
            </a:r>
          </a:p>
        </p:txBody>
      </p:sp>
      <p:sp>
        <p:nvSpPr>
          <p:cNvPr id="5" name="Label System Boundary"/>
          <p:cNvSpPr/>
          <p:nvPr/>
        </p:nvSpPr>
        <p:spPr>
          <a:xfrm>
            <a:off x="1543639" y="1334309"/>
            <a:ext cx="1104060" cy="862074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System Boundary</a:t>
            </a:r>
          </a:p>
        </p:txBody>
      </p:sp>
      <p:sp>
        <p:nvSpPr>
          <p:cNvPr id="6" name="Stage Source Load Data"/>
          <p:cNvSpPr/>
          <p:nvPr/>
        </p:nvSpPr>
        <p:spPr>
          <a:xfrm>
            <a:off x="2904810" y="2332501"/>
            <a:ext cx="7622557" cy="862074"/>
          </a:xfrm>
          <a:prstGeom prst="roundRect">
            <a:avLst/>
          </a:prstGeom>
          <a:solidFill>
            <a:srgbClr val="164E63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E5E7EB"/>
                </a:solidFill>
              </a:rPr>
              <a:t/>
            </a:r>
          </a:p>
        </p:txBody>
      </p:sp>
      <p:sp>
        <p:nvSpPr>
          <p:cNvPr id="7" name="Label Source Load Data"/>
          <p:cNvSpPr/>
          <p:nvPr/>
        </p:nvSpPr>
        <p:spPr>
          <a:xfrm>
            <a:off x="1543639" y="2332501"/>
            <a:ext cx="1104060" cy="862074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Source Load Data</a:t>
            </a:r>
          </a:p>
        </p:txBody>
      </p:sp>
      <p:sp>
        <p:nvSpPr>
          <p:cNvPr id="8" name="Stage Configuration Model"/>
          <p:cNvSpPr/>
          <p:nvPr/>
        </p:nvSpPr>
        <p:spPr>
          <a:xfrm>
            <a:off x="2904810" y="3330693"/>
            <a:ext cx="7622557" cy="862074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E5E7EB"/>
                </a:solidFill>
              </a:rPr>
              <a:t/>
            </a:r>
          </a:p>
        </p:txBody>
      </p:sp>
      <p:sp>
        <p:nvSpPr>
          <p:cNvPr id="9" name="Label Configuration Model"/>
          <p:cNvSpPr/>
          <p:nvPr/>
        </p:nvSpPr>
        <p:spPr>
          <a:xfrm>
            <a:off x="1543639" y="3330693"/>
            <a:ext cx="1104060" cy="862074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Configuration</a:t>
            </a:r>
          </a:p>
          <a:p>
            <a:pPr algn="ctr"/>
            <a:r>
              <a:rPr lang="en-US" sz="105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0" name="Stage Operation Strategy"/>
          <p:cNvSpPr/>
          <p:nvPr/>
        </p:nvSpPr>
        <p:spPr>
          <a:xfrm>
            <a:off x="2904810" y="4328885"/>
            <a:ext cx="7622557" cy="862074"/>
          </a:xfrm>
          <a:prstGeom prst="roundRect">
            <a:avLst/>
          </a:prstGeom>
          <a:solidFill>
            <a:srgbClr val="3B0764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E5E7EB"/>
                </a:solidFill>
              </a:rPr>
              <a:t/>
            </a:r>
          </a:p>
        </p:txBody>
      </p:sp>
      <p:sp>
        <p:nvSpPr>
          <p:cNvPr id="11" name="Label Operation Strategy"/>
          <p:cNvSpPr/>
          <p:nvPr/>
        </p:nvSpPr>
        <p:spPr>
          <a:xfrm>
            <a:off x="1543639" y="4328885"/>
            <a:ext cx="1104060" cy="862074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Operation Strategy</a:t>
            </a:r>
          </a:p>
        </p:txBody>
      </p:sp>
      <p:sp>
        <p:nvSpPr>
          <p:cNvPr id="12" name="Stage Validation Output"/>
          <p:cNvSpPr/>
          <p:nvPr/>
        </p:nvSpPr>
        <p:spPr>
          <a:xfrm>
            <a:off x="2904810" y="5327077"/>
            <a:ext cx="7622557" cy="862074"/>
          </a:xfrm>
          <a:prstGeom prst="roundRect">
            <a:avLst/>
          </a:prstGeom>
          <a:solidFill>
            <a:srgbClr val="451A03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E5E7EB"/>
                </a:solidFill>
              </a:rPr>
              <a:t/>
            </a:r>
          </a:p>
        </p:txBody>
      </p:sp>
      <p:sp>
        <p:nvSpPr>
          <p:cNvPr id="13" name="Label Validation Output"/>
          <p:cNvSpPr/>
          <p:nvPr/>
        </p:nvSpPr>
        <p:spPr>
          <a:xfrm>
            <a:off x="1543639" y="5327077"/>
            <a:ext cx="1104060" cy="862074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Validation Output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4908756" y="1765346"/>
            <a:ext cx="3614665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H="1">
            <a:off x="4306312" y="1765346"/>
            <a:ext cx="4217109" cy="998192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4306312" y="2763538"/>
            <a:ext cx="2409776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716088" y="2763538"/>
            <a:ext cx="2409776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4306312" y="2763538"/>
            <a:ext cx="4819553" cy="998192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4306312" y="3761730"/>
            <a:ext cx="2409776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6716088" y="3761730"/>
            <a:ext cx="2409776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4908756" y="3761730"/>
            <a:ext cx="4217109" cy="998192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4908756" y="4759922"/>
            <a:ext cx="3614665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 flipH="1">
            <a:off x="4306312" y="4759922"/>
            <a:ext cx="4217109" cy="998192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>
            <a:off x="4306312" y="5758114"/>
            <a:ext cx="2409776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6716088" y="5758114"/>
            <a:ext cx="2409776" cy="1"/>
          </a:xfrm>
          <a:prstGeom prst="line">
            <a:avLst/>
          </a:prstGeom>
          <a:ln w="19050">
            <a:solidFill>
              <a:srgbClr val="38BDF8"/>
            </a:solidFill>
            <a:headEnd type="triangle"/>
          </a:ln>
        </p:spPr>
      </p:cxnSp>
      <p:sp>
        <p:nvSpPr>
          <p:cNvPr id="26" name="Node boundary_scope"/>
          <p:cNvSpPr/>
          <p:nvPr/>
        </p:nvSpPr>
        <p:spPr>
          <a:xfrm>
            <a:off x="3169482" y="1546046"/>
            <a:ext cx="3478548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Define campus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boundary</a:t>
            </a:r>
          </a:p>
        </p:txBody>
      </p:sp>
      <p:sp>
        <p:nvSpPr>
          <p:cNvPr id="27" name="Node boundary_targets"/>
          <p:cNvSpPr/>
          <p:nvPr/>
        </p:nvSpPr>
        <p:spPr>
          <a:xfrm>
            <a:off x="6784147" y="1546046"/>
            <a:ext cx="3478548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Set planning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targets</a:t>
            </a:r>
          </a:p>
        </p:txBody>
      </p:sp>
      <p:sp>
        <p:nvSpPr>
          <p:cNvPr id="28" name="Node data_load"/>
          <p:cNvSpPr/>
          <p:nvPr/>
        </p:nvSpPr>
        <p:spPr>
          <a:xfrm>
            <a:off x="3169482" y="2544238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Profile electric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thermal load</a:t>
            </a:r>
          </a:p>
        </p:txBody>
      </p:sp>
      <p:sp>
        <p:nvSpPr>
          <p:cNvPr id="29" name="Node data_resource"/>
          <p:cNvSpPr/>
          <p:nvPr/>
        </p:nvSpPr>
        <p:spPr>
          <a:xfrm>
            <a:off x="5579259" y="2544238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Assess renewable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resources</a:t>
            </a:r>
          </a:p>
        </p:txBody>
      </p:sp>
      <p:sp>
        <p:nvSpPr>
          <p:cNvPr id="30" name="Node data_tariff"/>
          <p:cNvSpPr/>
          <p:nvPr/>
        </p:nvSpPr>
        <p:spPr>
          <a:xfrm>
            <a:off x="7989035" y="2544238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Collect tariff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constraints</a:t>
            </a:r>
          </a:p>
        </p:txBody>
      </p:sp>
      <p:sp>
        <p:nvSpPr>
          <p:cNvPr id="31" name="Node model_assets"/>
          <p:cNvSpPr/>
          <p:nvPr/>
        </p:nvSpPr>
        <p:spPr>
          <a:xfrm>
            <a:off x="3169482" y="3542430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Model candidate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assets</a:t>
            </a:r>
          </a:p>
        </p:txBody>
      </p:sp>
      <p:sp>
        <p:nvSpPr>
          <p:cNvPr id="32" name="Node model_objective"/>
          <p:cNvSpPr/>
          <p:nvPr/>
        </p:nvSpPr>
        <p:spPr>
          <a:xfrm>
            <a:off x="5579259" y="3542430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Optimize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multi-objective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sizing</a:t>
            </a:r>
          </a:p>
        </p:txBody>
      </p:sp>
      <p:sp>
        <p:nvSpPr>
          <p:cNvPr id="33" name="Node model_scenarios"/>
          <p:cNvSpPr/>
          <p:nvPr/>
        </p:nvSpPr>
        <p:spPr>
          <a:xfrm>
            <a:off x="7989035" y="3542430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Compare planning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scenarios</a:t>
            </a:r>
          </a:p>
        </p:txBody>
      </p:sp>
      <p:sp>
        <p:nvSpPr>
          <p:cNvPr id="34" name="Node operation_dispatch"/>
          <p:cNvSpPr/>
          <p:nvPr/>
        </p:nvSpPr>
        <p:spPr>
          <a:xfrm>
            <a:off x="3169482" y="4540622"/>
            <a:ext cx="3478548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Build dispatch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strategy</a:t>
            </a:r>
          </a:p>
        </p:txBody>
      </p:sp>
      <p:sp>
        <p:nvSpPr>
          <p:cNvPr id="35" name="Node operation_control"/>
          <p:cNvSpPr/>
          <p:nvPr/>
        </p:nvSpPr>
        <p:spPr>
          <a:xfrm>
            <a:off x="6784147" y="4540622"/>
            <a:ext cx="3478548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Define control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hierarchy</a:t>
            </a:r>
          </a:p>
        </p:txBody>
      </p:sp>
      <p:sp>
        <p:nvSpPr>
          <p:cNvPr id="36" name="Node validation_kpi"/>
          <p:cNvSpPr/>
          <p:nvPr/>
        </p:nvSpPr>
        <p:spPr>
          <a:xfrm>
            <a:off x="3169482" y="5538814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Evaluate system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KPIs</a:t>
            </a:r>
          </a:p>
        </p:txBody>
      </p:sp>
      <p:sp>
        <p:nvSpPr>
          <p:cNvPr id="37" name="Node validation_sensitivity"/>
          <p:cNvSpPr/>
          <p:nvPr/>
        </p:nvSpPr>
        <p:spPr>
          <a:xfrm>
            <a:off x="5579259" y="5538814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Run sensitivity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checks</a:t>
            </a:r>
          </a:p>
        </p:txBody>
      </p:sp>
      <p:sp>
        <p:nvSpPr>
          <p:cNvPr id="38" name="Node validation_deliver"/>
          <p:cNvSpPr/>
          <p:nvPr/>
        </p:nvSpPr>
        <p:spPr>
          <a:xfrm>
            <a:off x="7989035" y="5538814"/>
            <a:ext cx="2273659" cy="438599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E5E7EB"/>
                </a:solidFill>
              </a:rPr>
              <a:t>Deliver</a:t>
            </a:r>
          </a:p>
          <a:p>
            <a:pPr algn="ctr"/>
            <a:r>
              <a:rPr lang="en-US" sz="1050">
                <a:solidFill>
                  <a:srgbClr val="E5E7EB"/>
                </a:solidFill>
              </a:rPr>
              <a:t>configuration 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