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882222" y="330000"/>
            <a:ext cx="10427555" cy="5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2900" b="1">
                <a:solidFill>
                  <a:srgbClr val="0F172A"/>
                </a:solidFill>
              </a:rPr>
              <a:t>校园综合能源系统源网荷储配置技术路线</a:t>
            </a:r>
          </a:p>
        </p:txBody>
      </p:sp>
      <p:sp>
        <p:nvSpPr>
          <p:cNvPr id="3" name="Subtitle"/>
          <p:cNvSpPr/>
          <p:nvPr/>
        </p:nvSpPr>
        <p:spPr>
          <a:xfrm>
            <a:off x="882222" y="820000"/>
            <a:ext cx="10427555" cy="21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1050">
                <a:solidFill>
                  <a:srgbClr val="64748B"/>
                </a:solidFill>
              </a:rPr>
              <a:t>基于资源评估、容量测算、系统建模、仿真优化与结果评价的研究流程</a:t>
            </a:r>
          </a:p>
        </p:txBody>
      </p:sp>
      <p:sp>
        <p:nvSpPr>
          <p:cNvPr id="4" name="Stage 基础数据分析"/>
          <p:cNvSpPr/>
          <p:nvPr/>
        </p:nvSpPr>
        <p:spPr>
          <a:xfrm>
            <a:off x="873018" y="1198962"/>
            <a:ext cx="1985906" cy="3521111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Main 基础数据分析"/>
          <p:cNvSpPr/>
          <p:nvPr/>
        </p:nvSpPr>
        <p:spPr>
          <a:xfrm>
            <a:off x="955177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基础数据分析</a:t>
            </a:r>
          </a:p>
        </p:txBody>
      </p:sp>
      <p:sp>
        <p:nvSpPr>
          <p:cNvPr id="6" name="Stage 容量配置计算"/>
          <p:cNvSpPr/>
          <p:nvPr/>
        </p:nvSpPr>
        <p:spPr>
          <a:xfrm>
            <a:off x="2988032" y="1198962"/>
            <a:ext cx="1985906" cy="3521111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7" name="Main 容量配置计算"/>
          <p:cNvSpPr/>
          <p:nvPr/>
        </p:nvSpPr>
        <p:spPr>
          <a:xfrm>
            <a:off x="3070191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容量配置计算</a:t>
            </a:r>
          </a:p>
        </p:txBody>
      </p:sp>
      <p:sp>
        <p:nvSpPr>
          <p:cNvPr id="8" name="Stage 系统结构建模"/>
          <p:cNvSpPr/>
          <p:nvPr/>
        </p:nvSpPr>
        <p:spPr>
          <a:xfrm>
            <a:off x="5103046" y="1198962"/>
            <a:ext cx="1985906" cy="3521111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9" name="Main 系统结构建模"/>
          <p:cNvSpPr/>
          <p:nvPr/>
        </p:nvSpPr>
        <p:spPr>
          <a:xfrm>
            <a:off x="5185205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系统结构建模</a:t>
            </a:r>
          </a:p>
        </p:txBody>
      </p:sp>
      <p:sp>
        <p:nvSpPr>
          <p:cNvPr id="10" name="Stage 运行仿真优化"/>
          <p:cNvSpPr/>
          <p:nvPr/>
        </p:nvSpPr>
        <p:spPr>
          <a:xfrm>
            <a:off x="7218060" y="1198962"/>
            <a:ext cx="1985906" cy="3521111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1" name="Main 运行仿真优化"/>
          <p:cNvSpPr/>
          <p:nvPr/>
        </p:nvSpPr>
        <p:spPr>
          <a:xfrm>
            <a:off x="7300219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运行仿真优化</a:t>
            </a:r>
          </a:p>
        </p:txBody>
      </p:sp>
      <p:sp>
        <p:nvSpPr>
          <p:cNvPr id="12" name="Stage 结果评价应用"/>
          <p:cNvSpPr/>
          <p:nvPr/>
        </p:nvSpPr>
        <p:spPr>
          <a:xfrm>
            <a:off x="9333074" y="1198962"/>
            <a:ext cx="1985906" cy="3521111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3" name="Main 结果评价应用"/>
          <p:cNvSpPr/>
          <p:nvPr/>
        </p:nvSpPr>
        <p:spPr>
          <a:xfrm>
            <a:off x="9415234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结果评价应用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2776765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4891779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7006794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9121808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sp>
        <p:nvSpPr>
          <p:cNvPr id="18" name="Node boundary_scope"/>
          <p:cNvSpPr/>
          <p:nvPr/>
        </p:nvSpPr>
        <p:spPr>
          <a:xfrm>
            <a:off x="1002125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校园负荷特性</a:t>
            </a:r>
          </a:p>
        </p:txBody>
      </p:sp>
      <p:sp>
        <p:nvSpPr>
          <p:cNvPr id="19" name="Node boundary_targets"/>
          <p:cNvSpPr/>
          <p:nvPr/>
        </p:nvSpPr>
        <p:spPr>
          <a:xfrm>
            <a:off x="1002125" y="2783462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光伏资源条件</a:t>
            </a:r>
          </a:p>
        </p:txBody>
      </p:sp>
      <p:sp>
        <p:nvSpPr>
          <p:cNvPr id="20" name="Node boundary_area"/>
          <p:cNvSpPr/>
          <p:nvPr/>
        </p:nvSpPr>
        <p:spPr>
          <a:xfrm>
            <a:off x="1002125" y="3405525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可利用面积统计</a:t>
            </a:r>
          </a:p>
        </p:txBody>
      </p:sp>
      <p:sp>
        <p:nvSpPr>
          <p:cNvPr id="21" name="Node data_load"/>
          <p:cNvSpPr/>
          <p:nvPr/>
        </p:nvSpPr>
        <p:spPr>
          <a:xfrm>
            <a:off x="3117139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装机容量估算</a:t>
            </a:r>
          </a:p>
        </p:txBody>
      </p:sp>
      <p:sp>
        <p:nvSpPr>
          <p:cNvPr id="22" name="Node data_resource"/>
          <p:cNvSpPr/>
          <p:nvPr/>
        </p:nvSpPr>
        <p:spPr>
          <a:xfrm>
            <a:off x="3117139" y="2783462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组件数量核算</a:t>
            </a:r>
          </a:p>
        </p:txBody>
      </p:sp>
      <p:sp>
        <p:nvSpPr>
          <p:cNvPr id="23" name="Node data_tariff"/>
          <p:cNvSpPr/>
          <p:nvPr/>
        </p:nvSpPr>
        <p:spPr>
          <a:xfrm>
            <a:off x="3117139" y="3405525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理论发电量计算</a:t>
            </a:r>
          </a:p>
        </p:txBody>
      </p:sp>
      <p:sp>
        <p:nvSpPr>
          <p:cNvPr id="24" name="Node model_assets"/>
          <p:cNvSpPr/>
          <p:nvPr/>
        </p:nvSpPr>
        <p:spPr>
          <a:xfrm>
            <a:off x="5232154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源网荷储拓扑</a:t>
            </a:r>
          </a:p>
        </p:txBody>
      </p:sp>
      <p:sp>
        <p:nvSpPr>
          <p:cNvPr id="25" name="Node model_objective"/>
          <p:cNvSpPr/>
          <p:nvPr/>
        </p:nvSpPr>
        <p:spPr>
          <a:xfrm>
            <a:off x="5232154" y="2783462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并网接入方式</a:t>
            </a:r>
          </a:p>
        </p:txBody>
      </p:sp>
      <p:sp>
        <p:nvSpPr>
          <p:cNvPr id="26" name="Node model_scenarios"/>
          <p:cNvSpPr/>
          <p:nvPr/>
        </p:nvSpPr>
        <p:spPr>
          <a:xfrm>
            <a:off x="5232154" y="3405525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EMS 控制结构</a:t>
            </a:r>
          </a:p>
        </p:txBody>
      </p:sp>
      <p:sp>
        <p:nvSpPr>
          <p:cNvPr id="27" name="Node operation_dispatch"/>
          <p:cNvSpPr/>
          <p:nvPr/>
        </p:nvSpPr>
        <p:spPr>
          <a:xfrm>
            <a:off x="7347168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典型日出力</a:t>
            </a:r>
          </a:p>
        </p:txBody>
      </p:sp>
      <p:sp>
        <p:nvSpPr>
          <p:cNvPr id="28" name="Node operation_control"/>
          <p:cNvSpPr/>
          <p:nvPr/>
        </p:nvSpPr>
        <p:spPr>
          <a:xfrm>
            <a:off x="7347168" y="2783462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源荷匹配分析</a:t>
            </a:r>
          </a:p>
        </p:txBody>
      </p:sp>
      <p:sp>
        <p:nvSpPr>
          <p:cNvPr id="29" name="Node operation_storage"/>
          <p:cNvSpPr/>
          <p:nvPr/>
        </p:nvSpPr>
        <p:spPr>
          <a:xfrm>
            <a:off x="7347168" y="3405525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储能充放电策略</a:t>
            </a:r>
          </a:p>
        </p:txBody>
      </p:sp>
      <p:sp>
        <p:nvSpPr>
          <p:cNvPr id="30" name="Node validation_kpi"/>
          <p:cNvSpPr/>
          <p:nvPr/>
        </p:nvSpPr>
        <p:spPr>
          <a:xfrm>
            <a:off x="9462182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运行效果评价</a:t>
            </a:r>
          </a:p>
        </p:txBody>
      </p:sp>
      <p:sp>
        <p:nvSpPr>
          <p:cNvPr id="31" name="Node validation_sensitivity"/>
          <p:cNvSpPr/>
          <p:nvPr/>
        </p:nvSpPr>
        <p:spPr>
          <a:xfrm>
            <a:off x="9462182" y="2783462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配置方案优化</a:t>
            </a:r>
          </a:p>
        </p:txBody>
      </p:sp>
      <p:sp>
        <p:nvSpPr>
          <p:cNvPr id="32" name="Node validation_deliver"/>
          <p:cNvSpPr/>
          <p:nvPr/>
        </p:nvSpPr>
        <p:spPr>
          <a:xfrm>
            <a:off x="9462182" y="3405525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工程应用建议</a:t>
            </a:r>
          </a:p>
        </p:txBody>
      </p:sp>
      <p:sp>
        <p:nvSpPr>
          <p:cNvPr id="33" name="Output"/>
          <p:cNvSpPr/>
          <p:nvPr/>
        </p:nvSpPr>
        <p:spPr>
          <a:xfrm>
            <a:off x="873018" y="4984157"/>
            <a:ext cx="10445962" cy="6338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00" b="1">
                <a:solidFill>
                  <a:srgbClr val="0F172A"/>
                </a:solidFill>
              </a:rPr>
              <a:t>成果输出：形成校园综合能源系统源网荷储配置方案与运行优化分析结果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