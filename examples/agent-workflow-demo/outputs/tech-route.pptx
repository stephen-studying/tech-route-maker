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custom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670000" y="857474"/>
            <a:ext cx="10852000" cy="5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2100" b="1">
                <a:solidFill>
                  <a:srgbClr val="242424"/>
                </a:solidFill>
              </a:rPr>
              <a:t>Agent Workflow For Editable Route</a:t>
            </a:r>
          </a:p>
          <a:p>
            <a:pPr algn="ctr"/>
            <a:r>
              <a:rPr lang="zh-CN" sz="2100" b="1">
                <a:solidFill>
                  <a:srgbClr val="242424"/>
                </a:solidFill>
              </a:rPr>
              <a:t>Diagrams</a:t>
            </a:r>
          </a:p>
        </p:txBody>
      </p:sp>
      <p:sp>
        <p:nvSpPr>
          <p:cNvPr id="3" name="Subtitle"/>
          <p:cNvSpPr/>
          <p:nvPr/>
        </p:nvSpPr>
        <p:spPr>
          <a:xfrm>
            <a:off x="670000" y="1347474"/>
            <a:ext cx="10852000" cy="2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zh-CN" sz="850">
                <a:solidFill>
                  <a:srgbClr val="6B7280"/>
                </a:solidFill>
              </a:rPr>
              <a:t>Workflow pipeline demo generated by</a:t>
            </a:r>
          </a:p>
          <a:p>
            <a:pPr algn="ctr"/>
            <a:r>
              <a:rPr lang="zh-CN" sz="850">
                <a:solidFill>
                  <a:srgbClr val="6B7280"/>
                </a:solidFill>
              </a:rPr>
              <a:t>tech-route-maker</a:t>
            </a:r>
          </a:p>
        </p:txBody>
      </p:sp>
      <p:sp>
        <p:nvSpPr>
          <p:cNvPr id="4" name="Stage Source Intake"/>
          <p:cNvSpPr/>
          <p:nvPr/>
        </p:nvSpPr>
        <p:spPr>
          <a:xfrm>
            <a:off x="804287" y="2225157"/>
            <a:ext cx="1853398" cy="261554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242424"/>
                </a:solidFill>
              </a:rPr>
              <a:t/>
            </a:r>
          </a:p>
        </p:txBody>
      </p:sp>
      <p:sp>
        <p:nvSpPr>
          <p:cNvPr id="5" name="Header Source Intake"/>
          <p:cNvSpPr/>
          <p:nvPr/>
        </p:nvSpPr>
        <p:spPr>
          <a:xfrm>
            <a:off x="1024287" y="2225157"/>
            <a:ext cx="630155" cy="329108"/>
          </a:xfrm>
          <a:prstGeom prst="round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Source Intake</a:t>
            </a:r>
          </a:p>
        </p:txBody>
      </p:sp>
      <p:sp>
        <p:nvSpPr>
          <p:cNvPr id="6" name="Stage Evidence Extraction"/>
          <p:cNvSpPr/>
          <p:nvPr/>
        </p:nvSpPr>
        <p:spPr>
          <a:xfrm>
            <a:off x="2986794" y="2225157"/>
            <a:ext cx="1853398" cy="2615543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242424"/>
                </a:solidFill>
              </a:rPr>
              <a:t/>
            </a:r>
          </a:p>
        </p:txBody>
      </p:sp>
      <p:sp>
        <p:nvSpPr>
          <p:cNvPr id="7" name="Header Evidence Extraction"/>
          <p:cNvSpPr/>
          <p:nvPr/>
        </p:nvSpPr>
        <p:spPr>
          <a:xfrm>
            <a:off x="3206794" y="2225157"/>
            <a:ext cx="630155" cy="329108"/>
          </a:xfrm>
          <a:prstGeom prst="round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Evidence</a:t>
            </a:r>
          </a:p>
          <a:p>
            <a:pPr algn="ctr"/>
            <a:r>
              <a:rPr lang="zh-CN" sz="1100" b="1">
                <a:solidFill>
                  <a:srgbClr val="FFFFFF"/>
                </a:solidFill>
              </a:rPr>
              <a:t>Extraction</a:t>
            </a:r>
          </a:p>
        </p:txBody>
      </p:sp>
      <p:sp>
        <p:nvSpPr>
          <p:cNvPr id="8" name="Stage Route JSON"/>
          <p:cNvSpPr/>
          <p:nvPr/>
        </p:nvSpPr>
        <p:spPr>
          <a:xfrm>
            <a:off x="5169300" y="2225157"/>
            <a:ext cx="1853398" cy="2615543"/>
          </a:xfrm>
          <a:prstGeom prst="roundRect">
            <a:avLst/>
          </a:prstGeom>
          <a:solidFill>
            <a:srgbClr val="E2E8F0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242424"/>
                </a:solidFill>
              </a:rPr>
              <a:t/>
            </a:r>
          </a:p>
        </p:txBody>
      </p:sp>
      <p:sp>
        <p:nvSpPr>
          <p:cNvPr id="9" name="Header Route JSON"/>
          <p:cNvSpPr/>
          <p:nvPr/>
        </p:nvSpPr>
        <p:spPr>
          <a:xfrm>
            <a:off x="5389300" y="2225157"/>
            <a:ext cx="630155" cy="329108"/>
          </a:xfrm>
          <a:prstGeom prst="round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Route JSON</a:t>
            </a:r>
          </a:p>
        </p:txBody>
      </p:sp>
      <p:sp>
        <p:nvSpPr>
          <p:cNvPr id="10" name="Stage Editable Rendering"/>
          <p:cNvSpPr/>
          <p:nvPr/>
        </p:nvSpPr>
        <p:spPr>
          <a:xfrm>
            <a:off x="7351807" y="2225157"/>
            <a:ext cx="1853398" cy="261554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242424"/>
                </a:solidFill>
              </a:rPr>
              <a:t/>
            </a:r>
          </a:p>
        </p:txBody>
      </p:sp>
      <p:sp>
        <p:nvSpPr>
          <p:cNvPr id="11" name="Header Editable Rendering"/>
          <p:cNvSpPr/>
          <p:nvPr/>
        </p:nvSpPr>
        <p:spPr>
          <a:xfrm>
            <a:off x="7571807" y="2225157"/>
            <a:ext cx="630155" cy="329108"/>
          </a:xfrm>
          <a:prstGeom prst="round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Editable Rendering</a:t>
            </a:r>
          </a:p>
        </p:txBody>
      </p:sp>
      <p:sp>
        <p:nvSpPr>
          <p:cNvPr id="12" name="Stage Quality Review"/>
          <p:cNvSpPr/>
          <p:nvPr/>
        </p:nvSpPr>
        <p:spPr>
          <a:xfrm>
            <a:off x="9534314" y="2225157"/>
            <a:ext cx="1853398" cy="2615543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242424"/>
                </a:solidFill>
              </a:rPr>
              <a:t/>
            </a:r>
          </a:p>
        </p:txBody>
      </p:sp>
      <p:sp>
        <p:nvSpPr>
          <p:cNvPr id="13" name="Header Quality Review"/>
          <p:cNvSpPr/>
          <p:nvPr/>
        </p:nvSpPr>
        <p:spPr>
          <a:xfrm>
            <a:off x="9754314" y="2225157"/>
            <a:ext cx="630155" cy="329108"/>
          </a:xfrm>
          <a:prstGeom prst="roundRect">
            <a:avLst/>
          </a:prstGeom>
          <a:solidFill>
            <a:srgbClr val="334155"/>
          </a:solidFill>
          <a:ln w="12700">
            <a:solidFill>
              <a:srgbClr val="334155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Quality Review</a:t>
            </a:r>
          </a:p>
        </p:txBody>
      </p:sp>
      <p:cxnSp>
        <p:nvCxnSpPr>
          <p:cNvPr id="14" name="Connector 14"/>
          <p:cNvCxnSpPr/>
          <p:nvPr/>
        </p:nvCxnSpPr>
        <p:spPr>
          <a:xfrm>
            <a:off x="2657685" y="3532928"/>
            <a:ext cx="329108" cy="1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15" name="Connector 15"/>
          <p:cNvCxnSpPr/>
          <p:nvPr/>
        </p:nvCxnSpPr>
        <p:spPr>
          <a:xfrm>
            <a:off x="4840192" y="3532928"/>
            <a:ext cx="329108" cy="1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>
            <a:off x="7022699" y="3532928"/>
            <a:ext cx="329108" cy="1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>
            <a:off x="9205205" y="3532928"/>
            <a:ext cx="329108" cy="1"/>
          </a:xfrm>
          <a:prstGeom prst="line">
            <a:avLst/>
          </a:prstGeom>
          <a:ln w="19050">
            <a:solidFill>
              <a:srgbClr val="475569"/>
            </a:solidFill>
            <a:headEnd type="triangle"/>
          </a:ln>
        </p:spPr>
      </p:cxnSp>
      <p:sp>
        <p:nvSpPr>
          <p:cNvPr id="18" name="Node intake_scope"/>
          <p:cNvSpPr/>
          <p:nvPr/>
        </p:nvSpPr>
        <p:spPr>
          <a:xfrm>
            <a:off x="986162" y="2744801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242424"/>
                </a:solidFill>
              </a:rPr>
              <a:t>Confirm</a:t>
            </a:r>
          </a:p>
          <a:p>
            <a:pPr algn="ctr"/>
            <a:r>
              <a:rPr lang="zh-CN" sz="930">
                <a:solidFill>
                  <a:srgbClr val="242424"/>
                </a:solidFill>
              </a:rPr>
              <a:t>source scope</a:t>
            </a:r>
          </a:p>
        </p:txBody>
      </p:sp>
      <p:sp>
        <p:nvSpPr>
          <p:cNvPr id="19" name="Node intake_safety"/>
          <p:cNvSpPr/>
          <p:nvPr/>
        </p:nvSpPr>
        <p:spPr>
          <a:xfrm>
            <a:off x="986162" y="3420339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242424"/>
                </a:solidFill>
              </a:rPr>
              <a:t>Avoid unsafe</a:t>
            </a:r>
          </a:p>
          <a:p>
            <a:pPr algn="ctr"/>
            <a:r>
              <a:rPr lang="zh-CN" sz="930">
                <a:solidFill>
                  <a:srgbClr val="242424"/>
                </a:solidFill>
              </a:rPr>
              <a:t>execution</a:t>
            </a:r>
          </a:p>
        </p:txBody>
      </p:sp>
      <p:sp>
        <p:nvSpPr>
          <p:cNvPr id="20" name="Node extract_objective"/>
          <p:cNvSpPr/>
          <p:nvPr/>
        </p:nvSpPr>
        <p:spPr>
          <a:xfrm>
            <a:off x="3168669" y="2744801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242424"/>
                </a:solidFill>
              </a:rPr>
              <a:t>Find</a:t>
            </a:r>
          </a:p>
          <a:p>
            <a:pPr algn="ctr"/>
            <a:r>
              <a:rPr lang="zh-CN" sz="930">
                <a:solidFill>
                  <a:srgbClr val="242424"/>
                </a:solidFill>
              </a:rPr>
              <a:t>objectives</a:t>
            </a:r>
          </a:p>
          <a:p>
            <a:pPr algn="ctr"/>
            <a:r>
              <a:rPr lang="zh-CN" sz="930">
                <a:solidFill>
                  <a:srgbClr val="242424"/>
                </a:solidFill>
              </a:rPr>
              <a:t>and gaps</a:t>
            </a:r>
          </a:p>
        </p:txBody>
      </p:sp>
      <p:sp>
        <p:nvSpPr>
          <p:cNvPr id="21" name="Node extract_steps"/>
          <p:cNvSpPr/>
          <p:nvPr/>
        </p:nvSpPr>
        <p:spPr>
          <a:xfrm>
            <a:off x="3168669" y="3420339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242424"/>
                </a:solidFill>
              </a:rPr>
              <a:t>Extract</a:t>
            </a:r>
          </a:p>
          <a:p>
            <a:pPr algn="ctr"/>
            <a:r>
              <a:rPr lang="zh-CN" sz="930">
                <a:solidFill>
                  <a:srgbClr val="242424"/>
                </a:solidFill>
              </a:rPr>
              <a:t>method steps</a:t>
            </a:r>
          </a:p>
        </p:txBody>
      </p:sp>
      <p:sp>
        <p:nvSpPr>
          <p:cNvPr id="22" name="Node extract_evidence"/>
          <p:cNvSpPr/>
          <p:nvPr/>
        </p:nvSpPr>
        <p:spPr>
          <a:xfrm>
            <a:off x="3168669" y="4095877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242424"/>
                </a:solidFill>
              </a:rPr>
              <a:t>Attach</a:t>
            </a:r>
          </a:p>
          <a:p>
            <a:pPr algn="ctr"/>
            <a:r>
              <a:rPr lang="zh-CN" sz="930">
                <a:solidFill>
                  <a:srgbClr val="242424"/>
                </a:solidFill>
              </a:rPr>
              <a:t>evidence</a:t>
            </a:r>
          </a:p>
          <a:p>
            <a:pPr algn="ctr"/>
            <a:r>
              <a:rPr lang="zh-CN" sz="930">
                <a:solidFill>
                  <a:srgbClr val="242424"/>
                </a:solidFill>
              </a:rPr>
              <a:t>notes</a:t>
            </a:r>
          </a:p>
        </p:txBody>
      </p:sp>
      <p:sp>
        <p:nvSpPr>
          <p:cNvPr id="23" name="Node model_schema"/>
          <p:cNvSpPr/>
          <p:nvPr/>
        </p:nvSpPr>
        <p:spPr>
          <a:xfrm>
            <a:off x="5351176" y="2744801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242424"/>
                </a:solidFill>
              </a:rPr>
              <a:t>Build route</a:t>
            </a:r>
          </a:p>
          <a:p>
            <a:pPr algn="ctr"/>
            <a:r>
              <a:rPr lang="zh-CN" sz="930">
                <a:solidFill>
                  <a:srgbClr val="242424"/>
                </a:solidFill>
              </a:rPr>
              <a:t>schema</a:t>
            </a:r>
          </a:p>
        </p:txBody>
      </p:sp>
      <p:sp>
        <p:nvSpPr>
          <p:cNvPr id="24" name="Node model_validate"/>
          <p:cNvSpPr/>
          <p:nvPr/>
        </p:nvSpPr>
        <p:spPr>
          <a:xfrm>
            <a:off x="5351176" y="3420339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242424"/>
                </a:solidFill>
              </a:rPr>
              <a:t>Validate</a:t>
            </a:r>
          </a:p>
          <a:p>
            <a:pPr algn="ctr"/>
            <a:r>
              <a:rPr lang="zh-CN" sz="930">
                <a:solidFill>
                  <a:srgbClr val="242424"/>
                </a:solidFill>
              </a:rPr>
              <a:t>route model</a:t>
            </a:r>
          </a:p>
        </p:txBody>
      </p:sp>
      <p:sp>
        <p:nvSpPr>
          <p:cNvPr id="25" name="Node render_pptx"/>
          <p:cNvSpPr/>
          <p:nvPr/>
        </p:nvSpPr>
        <p:spPr>
          <a:xfrm>
            <a:off x="7533682" y="2744801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242424"/>
                </a:solidFill>
              </a:rPr>
              <a:t>Render PPTX</a:t>
            </a:r>
          </a:p>
          <a:p>
            <a:pPr algn="ctr"/>
            <a:r>
              <a:rPr lang="zh-CN" sz="930">
                <a:solidFill>
                  <a:srgbClr val="242424"/>
                </a:solidFill>
              </a:rPr>
              <a:t>shapes</a:t>
            </a:r>
          </a:p>
        </p:txBody>
      </p:sp>
      <p:sp>
        <p:nvSpPr>
          <p:cNvPr id="26" name="Node render_svg"/>
          <p:cNvSpPr/>
          <p:nvPr/>
        </p:nvSpPr>
        <p:spPr>
          <a:xfrm>
            <a:off x="7533682" y="3420339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242424"/>
                </a:solidFill>
              </a:rPr>
              <a:t>Render SVG</a:t>
            </a:r>
          </a:p>
          <a:p>
            <a:pPr algn="ctr"/>
            <a:r>
              <a:rPr lang="zh-CN" sz="930">
                <a:solidFill>
                  <a:srgbClr val="242424"/>
                </a:solidFill>
              </a:rPr>
              <a:t>vector</a:t>
            </a:r>
          </a:p>
        </p:txBody>
      </p:sp>
      <p:sp>
        <p:nvSpPr>
          <p:cNvPr id="27" name="Node render_drawio"/>
          <p:cNvSpPr/>
          <p:nvPr/>
        </p:nvSpPr>
        <p:spPr>
          <a:xfrm>
            <a:off x="7533682" y="4095877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242424"/>
                </a:solidFill>
              </a:rPr>
              <a:t>Render</a:t>
            </a:r>
          </a:p>
          <a:p>
            <a:pPr algn="ctr"/>
            <a:r>
              <a:rPr lang="zh-CN" sz="930">
                <a:solidFill>
                  <a:srgbClr val="242424"/>
                </a:solidFill>
              </a:rPr>
              <a:t>Draw.io</a:t>
            </a:r>
          </a:p>
          <a:p>
            <a:pPr algn="ctr"/>
            <a:r>
              <a:rPr lang="zh-CN" sz="930">
                <a:solidFill>
                  <a:srgbClr val="242424"/>
                </a:solidFill>
              </a:rPr>
              <a:t>cells</a:t>
            </a:r>
          </a:p>
        </p:txBody>
      </p:sp>
      <p:sp>
        <p:nvSpPr>
          <p:cNvPr id="28" name="Node review_report"/>
          <p:cNvSpPr/>
          <p:nvPr/>
        </p:nvSpPr>
        <p:spPr>
          <a:xfrm>
            <a:off x="9716189" y="2744801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242424"/>
                </a:solidFill>
              </a:rPr>
              <a:t>Generate</a:t>
            </a:r>
          </a:p>
          <a:p>
            <a:pPr algn="ctr"/>
            <a:r>
              <a:rPr lang="zh-CN" sz="930">
                <a:solidFill>
                  <a:srgbClr val="242424"/>
                </a:solidFill>
              </a:rPr>
              <a:t>quality</a:t>
            </a:r>
          </a:p>
          <a:p>
            <a:pPr algn="ctr"/>
            <a:r>
              <a:rPr lang="zh-CN" sz="930">
                <a:solidFill>
                  <a:srgbClr val="242424"/>
                </a:solidFill>
              </a:rPr>
              <a:t>report</a:t>
            </a:r>
          </a:p>
        </p:txBody>
      </p:sp>
      <p:sp>
        <p:nvSpPr>
          <p:cNvPr id="29" name="Node review_iterate"/>
          <p:cNvSpPr/>
          <p:nvPr/>
        </p:nvSpPr>
        <p:spPr>
          <a:xfrm>
            <a:off x="9716189" y="3420339"/>
            <a:ext cx="1489647" cy="5369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242424"/>
                </a:solidFill>
              </a:rPr>
              <a:t>Revise</a:t>
            </a:r>
          </a:p>
          <a:p>
            <a:pPr algn="ctr"/>
            <a:r>
              <a:rPr lang="zh-CN" sz="930">
                <a:solidFill>
                  <a:srgbClr val="242424"/>
                </a:solidFill>
              </a:rPr>
              <a:t>editable</a:t>
            </a:r>
          </a:p>
          <a:p>
            <a:pPr algn="ctr"/>
            <a:r>
              <a:rPr lang="zh-CN" sz="930">
                <a:solidFill>
                  <a:srgbClr val="242424"/>
                </a:solidFill>
              </a:rPr>
              <a:t>files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