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70000" y="857474"/>
            <a:ext cx="10852000" cy="43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242424"/>
                </a:solidFill>
              </a:rPr>
              <a:t>Agent Workflow For</a:t>
            </a:r>
          </a:p>
          <a:p>
            <a:pPr algn="ctr"/>
            <a:r>
              <a:rPr lang="zh-CN" sz="2100" b="1">
                <a:solidFill>
                  <a:srgbClr val="242424"/>
                </a:solidFill>
              </a:rPr>
              <a:t>Editable Route</a:t>
            </a:r>
          </a:p>
          <a:p>
            <a:pPr algn="ctr"/>
            <a:r>
              <a:rPr lang="zh-CN" sz="2100" b="1">
                <a:solidFill>
                  <a:srgbClr val="242424"/>
                </a:solidFill>
              </a:rPr>
              <a:t>Diagrams</a:t>
            </a:r>
          </a:p>
        </p:txBody>
      </p:sp>
      <p:sp>
        <p:nvSpPr>
          <p:cNvPr id="3" name="Subtitle"/>
          <p:cNvSpPr/>
          <p:nvPr/>
        </p:nvSpPr>
        <p:spPr>
          <a:xfrm>
            <a:off x="670000" y="1302474"/>
            <a:ext cx="10852000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6B7280"/>
                </a:solidFill>
              </a:rPr>
              <a:t>Workflow pipeline</a:t>
            </a:r>
          </a:p>
          <a:p>
            <a:pPr algn="ctr"/>
            <a:r>
              <a:rPr lang="zh-CN" sz="850">
                <a:solidFill>
                  <a:srgbClr val="6B7280"/>
                </a:solidFill>
              </a:rPr>
              <a:t>demo generated by</a:t>
            </a:r>
          </a:p>
          <a:p>
            <a:pPr algn="ctr"/>
            <a:r>
              <a:rPr lang="zh-CN" sz="850">
                <a:solidFill>
                  <a:srgbClr val="6B7280"/>
                </a:solidFill>
              </a:rPr>
              <a:t>tech-route-maker</a:t>
            </a:r>
          </a:p>
        </p:txBody>
      </p:sp>
      <p:sp>
        <p:nvSpPr>
          <p:cNvPr id="4" name="Stage Source Intake"/>
          <p:cNvSpPr/>
          <p:nvPr/>
        </p:nvSpPr>
        <p:spPr>
          <a:xfrm>
            <a:off x="804287" y="2225157"/>
            <a:ext cx="1853398" cy="336036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5" name="Header Source Intake"/>
          <p:cNvSpPr/>
          <p:nvPr/>
        </p:nvSpPr>
        <p:spPr>
          <a:xfrm>
            <a:off x="1024287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Source Intake</a:t>
            </a:r>
          </a:p>
        </p:txBody>
      </p:sp>
      <p:sp>
        <p:nvSpPr>
          <p:cNvPr id="6" name="Stage Evidence Extraction"/>
          <p:cNvSpPr/>
          <p:nvPr/>
        </p:nvSpPr>
        <p:spPr>
          <a:xfrm>
            <a:off x="2986794" y="2225157"/>
            <a:ext cx="1853398" cy="3360367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7" name="Header Evidence Extraction"/>
          <p:cNvSpPr/>
          <p:nvPr/>
        </p:nvSpPr>
        <p:spPr>
          <a:xfrm>
            <a:off x="3206794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Evidence</a:t>
            </a:r>
          </a:p>
          <a:p>
            <a:pPr algn="ctr"/>
            <a:r>
              <a:rPr lang="zh-CN" sz="1100" b="1">
                <a:solidFill>
                  <a:srgbClr val="FFFFFF"/>
                </a:solidFill>
              </a:rPr>
              <a:t>Extraction</a:t>
            </a:r>
          </a:p>
        </p:txBody>
      </p:sp>
      <p:sp>
        <p:nvSpPr>
          <p:cNvPr id="8" name="Stage Route JSON"/>
          <p:cNvSpPr/>
          <p:nvPr/>
        </p:nvSpPr>
        <p:spPr>
          <a:xfrm>
            <a:off x="5169300" y="2225157"/>
            <a:ext cx="1853398" cy="3360367"/>
          </a:xfrm>
          <a:prstGeom prst="roundRect">
            <a:avLst/>
          </a:prstGeom>
          <a:solidFill>
            <a:srgbClr val="E2E8F0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9" name="Header Route JSON"/>
          <p:cNvSpPr/>
          <p:nvPr/>
        </p:nvSpPr>
        <p:spPr>
          <a:xfrm>
            <a:off x="5389300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Route JSON</a:t>
            </a:r>
          </a:p>
        </p:txBody>
      </p:sp>
      <p:sp>
        <p:nvSpPr>
          <p:cNvPr id="10" name="Stage Editable Rendering"/>
          <p:cNvSpPr/>
          <p:nvPr/>
        </p:nvSpPr>
        <p:spPr>
          <a:xfrm>
            <a:off x="7351807" y="2225157"/>
            <a:ext cx="1853398" cy="336036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11" name="Header Editable Rendering"/>
          <p:cNvSpPr/>
          <p:nvPr/>
        </p:nvSpPr>
        <p:spPr>
          <a:xfrm>
            <a:off x="7571807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Editable Rendering</a:t>
            </a:r>
          </a:p>
        </p:txBody>
      </p:sp>
      <p:sp>
        <p:nvSpPr>
          <p:cNvPr id="12" name="Stage Quality Review"/>
          <p:cNvSpPr/>
          <p:nvPr/>
        </p:nvSpPr>
        <p:spPr>
          <a:xfrm>
            <a:off x="9534314" y="2225157"/>
            <a:ext cx="1853398" cy="3360367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13" name="Header Quality Review"/>
          <p:cNvSpPr/>
          <p:nvPr/>
        </p:nvSpPr>
        <p:spPr>
          <a:xfrm>
            <a:off x="9754314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Quality Review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1730986" y="3013284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V="1">
            <a:off x="1730986" y="3013284"/>
            <a:ext cx="2182506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3913493" y="3013284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3913493" y="3688822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V="1">
            <a:off x="3913493" y="3013284"/>
            <a:ext cx="2182506" cy="1351075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6096000" y="3013284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 flipV="1">
            <a:off x="6096000" y="3013284"/>
            <a:ext cx="2182506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>
            <a:off x="6096000" y="3688822"/>
            <a:ext cx="2182506" cy="1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6096000" y="3688822"/>
            <a:ext cx="2182506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8278506" y="3013284"/>
            <a:ext cx="2182506" cy="1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>
            <a:off x="10461013" y="3013284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 flipH="1" flipV="1">
            <a:off x="6096000" y="3013284"/>
            <a:ext cx="4365013" cy="675537"/>
          </a:xfrm>
          <a:prstGeom prst="line">
            <a:avLst/>
          </a:prstGeom>
          <a:ln w="19050">
            <a:solidFill>
              <a:srgbClr val="475569"/>
            </a:solidFill>
            <a:prstDash val="dash"/>
            <a:headEnd type="triangle"/>
          </a:ln>
        </p:spPr>
      </p:cxnSp>
      <p:sp>
        <p:nvSpPr>
          <p:cNvPr id="26" name="Node intake_scope"/>
          <p:cNvSpPr/>
          <p:nvPr/>
        </p:nvSpPr>
        <p:spPr>
          <a:xfrm>
            <a:off x="986162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Confirm source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scope</a:t>
            </a:r>
          </a:p>
        </p:txBody>
      </p:sp>
      <p:sp>
        <p:nvSpPr>
          <p:cNvPr id="27" name="Node intake_safety"/>
          <p:cNvSpPr/>
          <p:nvPr/>
        </p:nvSpPr>
        <p:spPr>
          <a:xfrm>
            <a:off x="986162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Avoid unsafe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execution</a:t>
            </a:r>
          </a:p>
        </p:txBody>
      </p:sp>
      <p:sp>
        <p:nvSpPr>
          <p:cNvPr id="28" name="Node extract_objective"/>
          <p:cNvSpPr/>
          <p:nvPr/>
        </p:nvSpPr>
        <p:spPr>
          <a:xfrm>
            <a:off x="3168669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Find objectives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and gaps</a:t>
            </a:r>
          </a:p>
        </p:txBody>
      </p:sp>
      <p:sp>
        <p:nvSpPr>
          <p:cNvPr id="29" name="Node extract_steps"/>
          <p:cNvSpPr/>
          <p:nvPr/>
        </p:nvSpPr>
        <p:spPr>
          <a:xfrm>
            <a:off x="3168669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Extract method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steps</a:t>
            </a:r>
          </a:p>
        </p:txBody>
      </p:sp>
      <p:sp>
        <p:nvSpPr>
          <p:cNvPr id="30" name="Node extract_evidence"/>
          <p:cNvSpPr/>
          <p:nvPr/>
        </p:nvSpPr>
        <p:spPr>
          <a:xfrm>
            <a:off x="3168669" y="4095877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Attach evidence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notes</a:t>
            </a:r>
          </a:p>
        </p:txBody>
      </p:sp>
      <p:sp>
        <p:nvSpPr>
          <p:cNvPr id="31" name="Node model_schema"/>
          <p:cNvSpPr/>
          <p:nvPr/>
        </p:nvSpPr>
        <p:spPr>
          <a:xfrm>
            <a:off x="5351176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Build route schema</a:t>
            </a:r>
          </a:p>
        </p:txBody>
      </p:sp>
      <p:sp>
        <p:nvSpPr>
          <p:cNvPr id="32" name="Node model_validate"/>
          <p:cNvSpPr/>
          <p:nvPr/>
        </p:nvSpPr>
        <p:spPr>
          <a:xfrm>
            <a:off x="5351176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Validate route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model</a:t>
            </a:r>
          </a:p>
        </p:txBody>
      </p:sp>
      <p:sp>
        <p:nvSpPr>
          <p:cNvPr id="33" name="Node render_pptx"/>
          <p:cNvSpPr/>
          <p:nvPr/>
        </p:nvSpPr>
        <p:spPr>
          <a:xfrm>
            <a:off x="7533682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Render PPTX shapes</a:t>
            </a:r>
          </a:p>
        </p:txBody>
      </p:sp>
      <p:sp>
        <p:nvSpPr>
          <p:cNvPr id="34" name="Node render_svg"/>
          <p:cNvSpPr/>
          <p:nvPr/>
        </p:nvSpPr>
        <p:spPr>
          <a:xfrm>
            <a:off x="7533682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Render SVG vector</a:t>
            </a:r>
          </a:p>
        </p:txBody>
      </p:sp>
      <p:sp>
        <p:nvSpPr>
          <p:cNvPr id="35" name="Node render_drawio"/>
          <p:cNvSpPr/>
          <p:nvPr/>
        </p:nvSpPr>
        <p:spPr>
          <a:xfrm>
            <a:off x="7533682" y="4095877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Render Draw.io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cells</a:t>
            </a:r>
          </a:p>
        </p:txBody>
      </p:sp>
      <p:sp>
        <p:nvSpPr>
          <p:cNvPr id="36" name="Node review_report"/>
          <p:cNvSpPr/>
          <p:nvPr/>
        </p:nvSpPr>
        <p:spPr>
          <a:xfrm>
            <a:off x="9716189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Generate quality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report</a:t>
            </a:r>
          </a:p>
        </p:txBody>
      </p:sp>
      <p:sp>
        <p:nvSpPr>
          <p:cNvPr id="37" name="Node review_iterate"/>
          <p:cNvSpPr/>
          <p:nvPr/>
        </p:nvSpPr>
        <p:spPr>
          <a:xfrm>
            <a:off x="9716189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242424"/>
                </a:solidFill>
              </a:rPr>
              <a:t>Revise editable</a:t>
            </a:r>
          </a:p>
          <a:p>
            <a:pPr algn="ctr"/>
            <a:r>
              <a:rPr lang="zh-CN" sz="980">
                <a:solidFill>
                  <a:srgbClr val="242424"/>
                </a:solidFill>
              </a:rPr>
              <a:t>files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